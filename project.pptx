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67" r:id="rId4"/>
    <p:sldId id="259" r:id="rId5"/>
    <p:sldId id="260" r:id="rId6"/>
    <p:sldId id="261" r:id="rId7"/>
    <p:sldId id="268" r:id="rId8"/>
    <p:sldId id="263" r:id="rId9"/>
    <p:sldId id="264" r:id="rId10"/>
    <p:sldId id="265" r:id="rId11"/>
    <p:sldId id="266" r:id="rId12"/>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943" autoAdjust="0"/>
  </p:normalViewPr>
  <p:slideViewPr>
    <p:cSldViewPr>
      <p:cViewPr varScale="1">
        <p:scale>
          <a:sx n="81" d="100"/>
          <a:sy n="81" d="100"/>
        </p:scale>
        <p:origin x="754" y="5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17203DB1-22C9-4328-8E0B-13A98EA180CE}" type="datetimeFigureOut">
              <a:rPr lang="en-IN" smtClean="0"/>
              <a:t>17-12-2025</a:t>
            </a:fld>
            <a:endParaRPr lang="en-IN"/>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F43C257F-7C75-44DD-AC1C-7150640DC7DB}" type="slidenum">
              <a:rPr lang="en-IN" smtClean="0"/>
              <a:t>‹#›</a:t>
            </a:fld>
            <a:endParaRPr lang="en-IN"/>
          </a:p>
        </p:txBody>
      </p:sp>
    </p:spTree>
    <p:extLst>
      <p:ext uri="{BB962C8B-B14F-4D97-AF65-F5344CB8AC3E}">
        <p14:creationId xmlns:p14="http://schemas.microsoft.com/office/powerpoint/2010/main" val="13799661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F43C257F-7C75-44DD-AC1C-7150640DC7DB}" type="slidenum">
              <a:rPr lang="en-IN" smtClean="0"/>
              <a:t>1</a:t>
            </a:fld>
            <a:endParaRPr lang="en-IN"/>
          </a:p>
        </p:txBody>
      </p:sp>
    </p:spTree>
    <p:extLst>
      <p:ext uri="{BB962C8B-B14F-4D97-AF65-F5344CB8AC3E}">
        <p14:creationId xmlns:p14="http://schemas.microsoft.com/office/powerpoint/2010/main" val="29964263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F43C257F-7C75-44DD-AC1C-7150640DC7DB}" type="slidenum">
              <a:rPr lang="en-IN" smtClean="0"/>
              <a:t>4</a:t>
            </a:fld>
            <a:endParaRPr lang="en-IN"/>
          </a:p>
        </p:txBody>
      </p:sp>
    </p:spTree>
    <p:extLst>
      <p:ext uri="{BB962C8B-B14F-4D97-AF65-F5344CB8AC3E}">
        <p14:creationId xmlns:p14="http://schemas.microsoft.com/office/powerpoint/2010/main" val="22961845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65B66991-F725-422B-A7F0-F43E86186675}" type="slidenum">
              <a:rPr lang="en-IN" smtClean="0"/>
              <a:t>7</a:t>
            </a:fld>
            <a:endParaRPr lang="en-IN"/>
          </a:p>
        </p:txBody>
      </p:sp>
    </p:spTree>
    <p:extLst>
      <p:ext uri="{BB962C8B-B14F-4D97-AF65-F5344CB8AC3E}">
        <p14:creationId xmlns:p14="http://schemas.microsoft.com/office/powerpoint/2010/main" val="7541768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F43C257F-7C75-44DD-AC1C-7150640DC7DB}" type="slidenum">
              <a:rPr lang="en-IN" smtClean="0"/>
              <a:t>10</a:t>
            </a:fld>
            <a:endParaRPr lang="en-IN"/>
          </a:p>
        </p:txBody>
      </p:sp>
    </p:spTree>
    <p:extLst>
      <p:ext uri="{BB962C8B-B14F-4D97-AF65-F5344CB8AC3E}">
        <p14:creationId xmlns:p14="http://schemas.microsoft.com/office/powerpoint/2010/main" val="13750067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5" name="Holder 5"/>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6" name="Holder 6"/>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a:endParaRPr/>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a:endParaRPr/>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a:endParaRPr/>
          </a:p>
        </p:txBody>
      </p:sp>
      <p:sp>
        <p:nvSpPr>
          <p:cNvPr id="21" name="bg object 21"/>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2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5" name="Holder 5"/>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6" name="Holder 6"/>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bg1"/>
                </a:solidFill>
                <a:latin typeface="Times New Roman"/>
                <a:cs typeface="Times New Roman"/>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6" name="Holder 6"/>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7" name="Holder 7"/>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4" name="Holder 4"/>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5" name="Holder 5"/>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a:endParaRPr/>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a:endParaRPr/>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a:endParaRPr/>
          </a:p>
        </p:txBody>
      </p:sp>
      <p:sp>
        <p:nvSpPr>
          <p:cNvPr id="21" name="bg object 21"/>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2" name="Holder 2"/>
          <p:cNvSpPr>
            <a:spLocks noGrp="1"/>
          </p:cNvSpPr>
          <p:nvPr>
            <p:ph type="ftr" sz="quarter" idx="5"/>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3" name="Holder 3"/>
          <p:cNvSpPr>
            <a:spLocks noGrp="1"/>
          </p:cNvSpPr>
          <p:nvPr>
            <p:ph type="dt" sz="half" idx="6"/>
          </p:nvPr>
        </p:nvSpPr>
        <p:spPr/>
        <p:txBody>
          <a:bodyPr lIns="0" tIns="0" rIns="0" bIns="0"/>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4" name="Holder 4"/>
          <p:cNvSpPr>
            <a:spLocks noGrp="1"/>
          </p:cNvSpPr>
          <p:nvPr>
            <p:ph type="sldNum" sz="quarter" idx="7"/>
          </p:nvPr>
        </p:nvSpPr>
        <p:spPr/>
        <p:txBody>
          <a:bodyPr lIns="0" tIns="0" rIns="0" bIns="0"/>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932814" y="6642719"/>
            <a:ext cx="5498465" cy="215265"/>
          </a:xfrm>
          <a:custGeom>
            <a:avLst/>
            <a:gdLst/>
            <a:ahLst/>
            <a:cxnLst/>
            <a:rect l="l" t="t" r="r" b="b"/>
            <a:pathLst>
              <a:path w="5498465" h="215265">
                <a:moveTo>
                  <a:pt x="0" y="214919"/>
                </a:moveTo>
                <a:lnTo>
                  <a:pt x="5498224" y="214919"/>
                </a:lnTo>
                <a:lnTo>
                  <a:pt x="5498224" y="0"/>
                </a:lnTo>
                <a:lnTo>
                  <a:pt x="0" y="0"/>
                </a:lnTo>
                <a:lnTo>
                  <a:pt x="0" y="214919"/>
                </a:lnTo>
                <a:close/>
              </a:path>
            </a:pathLst>
          </a:custGeom>
          <a:solidFill>
            <a:srgbClr val="002060"/>
          </a:solidFill>
        </p:spPr>
        <p:txBody>
          <a:bodyPr wrap="square" lIns="0" tIns="0" rIns="0" bIns="0" rtlCol="0"/>
          <a:lstStyle/>
          <a:p>
            <a:endParaRPr/>
          </a:p>
        </p:txBody>
      </p:sp>
      <p:sp>
        <p:nvSpPr>
          <p:cNvPr id="17" name="bg object 17"/>
          <p:cNvSpPr/>
          <p:nvPr/>
        </p:nvSpPr>
        <p:spPr>
          <a:xfrm>
            <a:off x="6431400" y="6641999"/>
            <a:ext cx="5191760" cy="215900"/>
          </a:xfrm>
          <a:custGeom>
            <a:avLst/>
            <a:gdLst/>
            <a:ahLst/>
            <a:cxnLst/>
            <a:rect l="l" t="t" r="r" b="b"/>
            <a:pathLst>
              <a:path w="5191759" h="215900">
                <a:moveTo>
                  <a:pt x="0" y="215639"/>
                </a:moveTo>
                <a:lnTo>
                  <a:pt x="5191639" y="215639"/>
                </a:lnTo>
                <a:lnTo>
                  <a:pt x="5191639" y="0"/>
                </a:lnTo>
                <a:lnTo>
                  <a:pt x="0" y="0"/>
                </a:lnTo>
                <a:lnTo>
                  <a:pt x="0" y="215639"/>
                </a:lnTo>
                <a:close/>
              </a:path>
            </a:pathLst>
          </a:custGeom>
          <a:solidFill>
            <a:srgbClr val="008080"/>
          </a:solidFill>
        </p:spPr>
        <p:txBody>
          <a:bodyPr wrap="square" lIns="0" tIns="0" rIns="0" bIns="0" rtlCol="0"/>
          <a:lstStyle/>
          <a:p>
            <a:endParaRPr/>
          </a:p>
        </p:txBody>
      </p:sp>
      <p:sp>
        <p:nvSpPr>
          <p:cNvPr id="18" name="bg object 18"/>
          <p:cNvSpPr/>
          <p:nvPr/>
        </p:nvSpPr>
        <p:spPr>
          <a:xfrm>
            <a:off x="11623040" y="6642099"/>
            <a:ext cx="568960" cy="215900"/>
          </a:xfrm>
          <a:custGeom>
            <a:avLst/>
            <a:gdLst/>
            <a:ahLst/>
            <a:cxnLst/>
            <a:rect l="l" t="t" r="r" b="b"/>
            <a:pathLst>
              <a:path w="568959" h="215900">
                <a:moveTo>
                  <a:pt x="568959" y="215899"/>
                </a:moveTo>
                <a:lnTo>
                  <a:pt x="0" y="215899"/>
                </a:lnTo>
                <a:lnTo>
                  <a:pt x="0" y="0"/>
                </a:lnTo>
                <a:lnTo>
                  <a:pt x="568959" y="0"/>
                </a:lnTo>
                <a:lnTo>
                  <a:pt x="568959" y="215899"/>
                </a:lnTo>
                <a:close/>
              </a:path>
            </a:pathLst>
          </a:custGeom>
          <a:solidFill>
            <a:srgbClr val="FFC000"/>
          </a:solidFill>
        </p:spPr>
        <p:txBody>
          <a:bodyPr wrap="square" lIns="0" tIns="0" rIns="0" bIns="0" rtlCol="0"/>
          <a:lstStyle/>
          <a:p>
            <a:endParaRPr/>
          </a:p>
        </p:txBody>
      </p:sp>
      <p:pic>
        <p:nvPicPr>
          <p:cNvPr id="19" name="bg object 19"/>
          <p:cNvPicPr/>
          <p:nvPr/>
        </p:nvPicPr>
        <p:blipFill>
          <a:blip r:embed="rId7" cstate="print"/>
          <a:stretch>
            <a:fillRect/>
          </a:stretch>
        </p:blipFill>
        <p:spPr>
          <a:xfrm>
            <a:off x="11506320" y="5956200"/>
            <a:ext cx="685439" cy="681285"/>
          </a:xfrm>
          <a:prstGeom prst="rect">
            <a:avLst/>
          </a:prstGeom>
        </p:spPr>
      </p:pic>
      <p:sp>
        <p:nvSpPr>
          <p:cNvPr id="20" name="bg object 20"/>
          <p:cNvSpPr/>
          <p:nvPr/>
        </p:nvSpPr>
        <p:spPr>
          <a:xfrm>
            <a:off x="0" y="6642734"/>
            <a:ext cx="932815" cy="214629"/>
          </a:xfrm>
          <a:custGeom>
            <a:avLst/>
            <a:gdLst/>
            <a:ahLst/>
            <a:cxnLst/>
            <a:rect l="l" t="t" r="r" b="b"/>
            <a:pathLst>
              <a:path w="932815" h="214629">
                <a:moveTo>
                  <a:pt x="932814" y="214629"/>
                </a:moveTo>
                <a:lnTo>
                  <a:pt x="0" y="214629"/>
                </a:lnTo>
                <a:lnTo>
                  <a:pt x="0" y="0"/>
                </a:lnTo>
                <a:lnTo>
                  <a:pt x="932814" y="0"/>
                </a:lnTo>
                <a:lnTo>
                  <a:pt x="932814" y="214629"/>
                </a:lnTo>
                <a:close/>
              </a:path>
            </a:pathLst>
          </a:custGeom>
          <a:solidFill>
            <a:srgbClr val="C55A11"/>
          </a:solidFill>
        </p:spPr>
        <p:txBody>
          <a:bodyPr wrap="square" lIns="0" tIns="0" rIns="0" bIns="0" rtlCol="0"/>
          <a:lstStyle/>
          <a:p>
            <a:endParaRPr/>
          </a:p>
        </p:txBody>
      </p:sp>
      <p:sp>
        <p:nvSpPr>
          <p:cNvPr id="2" name="Holder 2"/>
          <p:cNvSpPr>
            <a:spLocks noGrp="1"/>
          </p:cNvSpPr>
          <p:nvPr>
            <p:ph type="title"/>
          </p:nvPr>
        </p:nvSpPr>
        <p:spPr>
          <a:xfrm>
            <a:off x="73025" y="182323"/>
            <a:ext cx="4739005" cy="695960"/>
          </a:xfrm>
          <a:prstGeom prst="rect">
            <a:avLst/>
          </a:prstGeom>
        </p:spPr>
        <p:txBody>
          <a:bodyPr wrap="square" lIns="0" tIns="0" rIns="0" bIns="0">
            <a:spAutoFit/>
          </a:bodyPr>
          <a:lstStyle>
            <a:lvl1pPr>
              <a:defRPr sz="4400" b="0" i="0">
                <a:solidFill>
                  <a:schemeClr val="bg1"/>
                </a:solidFill>
                <a:latin typeface="Times New Roman"/>
                <a:cs typeface="Times New Roman"/>
              </a:defRPr>
            </a:lvl1pPr>
          </a:lstStyle>
          <a:p>
            <a:endParaRPr/>
          </a:p>
        </p:txBody>
      </p:sp>
      <p:sp>
        <p:nvSpPr>
          <p:cNvPr id="3" name="Holder 3"/>
          <p:cNvSpPr>
            <a:spLocks noGrp="1"/>
          </p:cNvSpPr>
          <p:nvPr>
            <p:ph type="body" idx="1"/>
          </p:nvPr>
        </p:nvSpPr>
        <p:spPr>
          <a:xfrm>
            <a:off x="236899" y="1074318"/>
            <a:ext cx="11346815" cy="3137535"/>
          </a:xfrm>
          <a:prstGeom prst="rect">
            <a:avLst/>
          </a:prstGeom>
        </p:spPr>
        <p:txBody>
          <a:bodyPr wrap="square" lIns="0" tIns="0" rIns="0" bIns="0">
            <a:spAutoFit/>
          </a:bodyPr>
          <a:lstStyle>
            <a:lvl1pPr>
              <a:defRPr sz="28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149031" y="6629427"/>
            <a:ext cx="635000" cy="250825"/>
          </a:xfrm>
          <a:prstGeom prst="rect">
            <a:avLst/>
          </a:prstGeom>
        </p:spPr>
        <p:txBody>
          <a:bodyPr wrap="square" lIns="0" tIns="0" rIns="0" bIns="0">
            <a:spAutoFit/>
          </a:bodyPr>
          <a:lstStyle>
            <a:lvl1pPr>
              <a:defRPr sz="1600" b="0" i="0">
                <a:solidFill>
                  <a:schemeClr val="bg1"/>
                </a:solidFill>
                <a:latin typeface="Times New Roman"/>
                <a:cs typeface="Times New Roman"/>
              </a:defRPr>
            </a:lvl1pPr>
          </a:lstStyle>
          <a:p>
            <a:pPr marL="12700">
              <a:lnSpc>
                <a:spcPts val="1845"/>
              </a:lnSpc>
            </a:pPr>
            <a:r>
              <a:rPr dirty="0"/>
              <a:t>A</a:t>
            </a:r>
            <a:r>
              <a:rPr spc="-10" dirty="0"/>
              <a:t> </a:t>
            </a:r>
            <a:r>
              <a:rPr dirty="0"/>
              <a:t>-</a:t>
            </a:r>
            <a:r>
              <a:rPr spc="-5" dirty="0"/>
              <a:t> </a:t>
            </a:r>
            <a:r>
              <a:rPr spc="-25" dirty="0"/>
              <a:t>XX</a:t>
            </a:r>
          </a:p>
        </p:txBody>
      </p:sp>
      <p:sp>
        <p:nvSpPr>
          <p:cNvPr id="5" name="Holder 5"/>
          <p:cNvSpPr>
            <a:spLocks noGrp="1"/>
          </p:cNvSpPr>
          <p:nvPr>
            <p:ph type="dt" sz="half" idx="6"/>
          </p:nvPr>
        </p:nvSpPr>
        <p:spPr>
          <a:xfrm>
            <a:off x="1773949" y="6629558"/>
            <a:ext cx="3661410" cy="250825"/>
          </a:xfrm>
          <a:prstGeom prst="rect">
            <a:avLst/>
          </a:prstGeom>
        </p:spPr>
        <p:txBody>
          <a:bodyPr wrap="square" lIns="0" tIns="0" rIns="0" bIns="0">
            <a:spAutoFit/>
          </a:bodyPr>
          <a:lstStyle>
            <a:lvl1pPr>
              <a:defRPr sz="1600" b="0" i="0">
                <a:solidFill>
                  <a:schemeClr val="bg1"/>
                </a:solidFill>
                <a:latin typeface="Times New Roman"/>
                <a:cs typeface="Times New Roman"/>
              </a:defRPr>
            </a:lvl1p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6" name="Holder 6"/>
          <p:cNvSpPr>
            <a:spLocks noGrp="1"/>
          </p:cNvSpPr>
          <p:nvPr>
            <p:ph type="sldNum" sz="quarter" idx="7"/>
          </p:nvPr>
        </p:nvSpPr>
        <p:spPr>
          <a:xfrm>
            <a:off x="11793245" y="6629427"/>
            <a:ext cx="228600" cy="250825"/>
          </a:xfrm>
          <a:prstGeom prst="rect">
            <a:avLst/>
          </a:prstGeom>
        </p:spPr>
        <p:txBody>
          <a:bodyPr wrap="square" lIns="0" tIns="0" rIns="0" bIns="0">
            <a:spAutoFit/>
          </a:bodyPr>
          <a:lstStyle>
            <a:lvl1pPr>
              <a:defRPr sz="1600" b="1" i="0">
                <a:solidFill>
                  <a:srgbClr val="002060"/>
                </a:solidFill>
                <a:latin typeface="Times New Roman"/>
                <a:cs typeface="Times New Roman"/>
              </a:defRPr>
            </a:lvl1pPr>
          </a:lstStyle>
          <a:p>
            <a:pPr marL="12700">
              <a:lnSpc>
                <a:spcPts val="1845"/>
              </a:lnSpc>
            </a:pPr>
            <a:fld id="{81D60167-4931-47E6-BA6A-407CBD079E47}" type="slidenum">
              <a:rPr spc="-25" dirty="0"/>
              <a:t>‹#›</a:t>
            </a:fld>
            <a:endParaRPr spc="-25"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777240" y="6634440"/>
            <a:ext cx="11414760" cy="223520"/>
            <a:chOff x="777240" y="6634440"/>
            <a:chExt cx="11414760" cy="223520"/>
          </a:xfrm>
        </p:grpSpPr>
        <p:sp>
          <p:nvSpPr>
            <p:cNvPr id="3" name="object 3"/>
            <p:cNvSpPr/>
            <p:nvPr/>
          </p:nvSpPr>
          <p:spPr>
            <a:xfrm>
              <a:off x="777240" y="6634440"/>
              <a:ext cx="5781675" cy="220979"/>
            </a:xfrm>
            <a:custGeom>
              <a:avLst/>
              <a:gdLst/>
              <a:ahLst/>
              <a:cxnLst/>
              <a:rect l="l" t="t" r="r" b="b"/>
              <a:pathLst>
                <a:path w="5781675" h="220979">
                  <a:moveTo>
                    <a:pt x="5781599" y="220679"/>
                  </a:moveTo>
                  <a:lnTo>
                    <a:pt x="0" y="220679"/>
                  </a:lnTo>
                  <a:lnTo>
                    <a:pt x="0" y="0"/>
                  </a:lnTo>
                  <a:lnTo>
                    <a:pt x="5781599" y="0"/>
                  </a:lnTo>
                  <a:lnTo>
                    <a:pt x="5781599" y="220679"/>
                  </a:lnTo>
                  <a:close/>
                </a:path>
              </a:pathLst>
            </a:custGeom>
            <a:solidFill>
              <a:srgbClr val="002060"/>
            </a:solidFill>
          </p:spPr>
          <p:txBody>
            <a:bodyPr wrap="square" lIns="0" tIns="0" rIns="0" bIns="0" rtlCol="0"/>
            <a:lstStyle/>
            <a:p>
              <a:endParaRPr/>
            </a:p>
          </p:txBody>
        </p:sp>
        <p:sp>
          <p:nvSpPr>
            <p:cNvPr id="4" name="object 4"/>
            <p:cNvSpPr/>
            <p:nvPr/>
          </p:nvSpPr>
          <p:spPr>
            <a:xfrm>
              <a:off x="6559199" y="6634440"/>
              <a:ext cx="5194935" cy="220979"/>
            </a:xfrm>
            <a:custGeom>
              <a:avLst/>
              <a:gdLst/>
              <a:ahLst/>
              <a:cxnLst/>
              <a:rect l="l" t="t" r="r" b="b"/>
              <a:pathLst>
                <a:path w="5194934" h="220979">
                  <a:moveTo>
                    <a:pt x="5194799" y="220679"/>
                  </a:moveTo>
                  <a:lnTo>
                    <a:pt x="0" y="220679"/>
                  </a:lnTo>
                  <a:lnTo>
                    <a:pt x="0" y="0"/>
                  </a:lnTo>
                  <a:lnTo>
                    <a:pt x="5194799" y="0"/>
                  </a:lnTo>
                  <a:lnTo>
                    <a:pt x="5194799" y="220679"/>
                  </a:lnTo>
                  <a:close/>
                </a:path>
              </a:pathLst>
            </a:custGeom>
            <a:solidFill>
              <a:srgbClr val="008080"/>
            </a:solidFill>
          </p:spPr>
          <p:txBody>
            <a:bodyPr wrap="square" lIns="0" tIns="0" rIns="0" bIns="0" rtlCol="0"/>
            <a:lstStyle/>
            <a:p>
              <a:endParaRPr/>
            </a:p>
          </p:txBody>
        </p:sp>
        <p:sp>
          <p:nvSpPr>
            <p:cNvPr id="5" name="object 5"/>
            <p:cNvSpPr/>
            <p:nvPr/>
          </p:nvSpPr>
          <p:spPr>
            <a:xfrm>
              <a:off x="11754359" y="6636960"/>
              <a:ext cx="437515" cy="220979"/>
            </a:xfrm>
            <a:custGeom>
              <a:avLst/>
              <a:gdLst/>
              <a:ahLst/>
              <a:cxnLst/>
              <a:rect l="l" t="t" r="r" b="b"/>
              <a:pathLst>
                <a:path w="437515" h="220979">
                  <a:moveTo>
                    <a:pt x="437399" y="220679"/>
                  </a:moveTo>
                  <a:lnTo>
                    <a:pt x="0" y="220679"/>
                  </a:lnTo>
                  <a:lnTo>
                    <a:pt x="0" y="0"/>
                  </a:lnTo>
                  <a:lnTo>
                    <a:pt x="437399" y="0"/>
                  </a:lnTo>
                  <a:lnTo>
                    <a:pt x="437399" y="220679"/>
                  </a:lnTo>
                  <a:close/>
                </a:path>
              </a:pathLst>
            </a:custGeom>
            <a:solidFill>
              <a:srgbClr val="FFC000"/>
            </a:solidFill>
          </p:spPr>
          <p:txBody>
            <a:bodyPr wrap="square" lIns="0" tIns="0" rIns="0" bIns="0" rtlCol="0"/>
            <a:lstStyle/>
            <a:p>
              <a:endParaRPr/>
            </a:p>
          </p:txBody>
        </p:sp>
      </p:grpSp>
      <p:sp>
        <p:nvSpPr>
          <p:cNvPr id="6" name="object 6"/>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7" name="object 7"/>
          <p:cNvSpPr/>
          <p:nvPr/>
        </p:nvSpPr>
        <p:spPr>
          <a:xfrm>
            <a:off x="0" y="6634440"/>
            <a:ext cx="777240" cy="221615"/>
          </a:xfrm>
          <a:custGeom>
            <a:avLst/>
            <a:gdLst/>
            <a:ahLst/>
            <a:cxnLst/>
            <a:rect l="l" t="t" r="r" b="b"/>
            <a:pathLst>
              <a:path w="777240" h="221615">
                <a:moveTo>
                  <a:pt x="776879" y="221039"/>
                </a:moveTo>
                <a:lnTo>
                  <a:pt x="0" y="221039"/>
                </a:lnTo>
                <a:lnTo>
                  <a:pt x="0" y="0"/>
                </a:lnTo>
                <a:lnTo>
                  <a:pt x="776879" y="0"/>
                </a:lnTo>
                <a:lnTo>
                  <a:pt x="776879" y="221039"/>
                </a:lnTo>
                <a:close/>
              </a:path>
            </a:pathLst>
          </a:custGeom>
          <a:solidFill>
            <a:srgbClr val="C55A11"/>
          </a:solidFill>
        </p:spPr>
        <p:txBody>
          <a:bodyPr wrap="square" lIns="0" tIns="0" rIns="0" bIns="0" rtlCol="0"/>
          <a:lstStyle/>
          <a:p>
            <a:endParaRPr/>
          </a:p>
        </p:txBody>
      </p:sp>
      <p:sp>
        <p:nvSpPr>
          <p:cNvPr id="8" name="object 8"/>
          <p:cNvSpPr txBox="1"/>
          <p:nvPr/>
        </p:nvSpPr>
        <p:spPr>
          <a:xfrm>
            <a:off x="4146600" y="1701167"/>
            <a:ext cx="3452892" cy="524631"/>
          </a:xfrm>
          <a:prstGeom prst="rect">
            <a:avLst/>
          </a:prstGeom>
        </p:spPr>
        <p:txBody>
          <a:bodyPr vert="horz" wrap="square" lIns="0" tIns="13335" rIns="0" bIns="0" rtlCol="0">
            <a:spAutoFit/>
          </a:bodyPr>
          <a:lstStyle/>
          <a:p>
            <a:pPr algn="ctr">
              <a:lnSpc>
                <a:spcPts val="2080"/>
              </a:lnSpc>
              <a:spcBef>
                <a:spcPts val="105"/>
              </a:spcBef>
            </a:pPr>
            <a:r>
              <a:rPr lang="en-IN" sz="1750" spc="-10" dirty="0">
                <a:latin typeface="Times New Roman"/>
                <a:cs typeface="Times New Roman"/>
              </a:rPr>
              <a:t>C.V.RAJASEKHAR REDDY</a:t>
            </a:r>
          </a:p>
          <a:p>
            <a:pPr algn="ctr">
              <a:lnSpc>
                <a:spcPts val="2080"/>
              </a:lnSpc>
              <a:spcBef>
                <a:spcPts val="105"/>
              </a:spcBef>
            </a:pPr>
            <a:r>
              <a:rPr sz="900" dirty="0">
                <a:latin typeface="Times New Roman"/>
                <a:cs typeface="Times New Roman"/>
              </a:rPr>
              <a:t>Roll</a:t>
            </a:r>
            <a:r>
              <a:rPr sz="900" spc="5" dirty="0">
                <a:latin typeface="Times New Roman"/>
                <a:cs typeface="Times New Roman"/>
              </a:rPr>
              <a:t> </a:t>
            </a:r>
            <a:r>
              <a:rPr sz="900" dirty="0">
                <a:latin typeface="Times New Roman"/>
                <a:cs typeface="Times New Roman"/>
              </a:rPr>
              <a:t>No.</a:t>
            </a:r>
            <a:r>
              <a:rPr sz="900" spc="5" dirty="0">
                <a:latin typeface="Times New Roman"/>
                <a:cs typeface="Times New Roman"/>
              </a:rPr>
              <a:t> </a:t>
            </a:r>
            <a:r>
              <a:rPr lang="en-IN" sz="900" spc="-10" dirty="0">
                <a:latin typeface="Times New Roman"/>
                <a:cs typeface="Times New Roman"/>
              </a:rPr>
              <a:t>224G1A05C2</a:t>
            </a:r>
          </a:p>
        </p:txBody>
      </p:sp>
      <p:sp>
        <p:nvSpPr>
          <p:cNvPr id="9" name="object 9"/>
          <p:cNvSpPr txBox="1"/>
          <p:nvPr/>
        </p:nvSpPr>
        <p:spPr>
          <a:xfrm>
            <a:off x="3510846" y="2468136"/>
            <a:ext cx="4724400" cy="1320874"/>
          </a:xfrm>
          <a:prstGeom prst="rect">
            <a:avLst/>
          </a:prstGeom>
        </p:spPr>
        <p:txBody>
          <a:bodyPr vert="horz" wrap="square" lIns="0" tIns="12700" rIns="0" bIns="0" rtlCol="0">
            <a:spAutoFit/>
          </a:bodyPr>
          <a:lstStyle/>
          <a:p>
            <a:pPr marL="635" algn="ctr">
              <a:lnSpc>
                <a:spcPts val="1630"/>
              </a:lnSpc>
              <a:spcBef>
                <a:spcPts val="100"/>
              </a:spcBef>
            </a:pPr>
            <a:r>
              <a:rPr lang="en-IN" sz="1400" i="1" dirty="0">
                <a:latin typeface="Times New Roman"/>
                <a:cs typeface="Times New Roman"/>
              </a:rPr>
              <a:t>U</a:t>
            </a:r>
            <a:r>
              <a:rPr sz="1400" i="1" dirty="0" err="1">
                <a:latin typeface="Times New Roman"/>
                <a:cs typeface="Times New Roman"/>
              </a:rPr>
              <a:t>nder</a:t>
            </a:r>
            <a:r>
              <a:rPr sz="1400" i="1" spc="-35" dirty="0">
                <a:latin typeface="Times New Roman"/>
                <a:cs typeface="Times New Roman"/>
              </a:rPr>
              <a:t> </a:t>
            </a:r>
            <a:r>
              <a:rPr sz="1400" i="1" dirty="0">
                <a:latin typeface="Times New Roman"/>
                <a:cs typeface="Times New Roman"/>
              </a:rPr>
              <a:t>the</a:t>
            </a:r>
            <a:r>
              <a:rPr sz="1400" i="1" spc="-35" dirty="0">
                <a:latin typeface="Times New Roman"/>
                <a:cs typeface="Times New Roman"/>
              </a:rPr>
              <a:t> </a:t>
            </a:r>
            <a:r>
              <a:rPr sz="1400" i="1" spc="-10" dirty="0">
                <a:latin typeface="Times New Roman"/>
                <a:cs typeface="Times New Roman"/>
              </a:rPr>
              <a:t>guidance</a:t>
            </a:r>
            <a:r>
              <a:rPr sz="1400" i="1" spc="-35" dirty="0">
                <a:latin typeface="Times New Roman"/>
                <a:cs typeface="Times New Roman"/>
              </a:rPr>
              <a:t> </a:t>
            </a:r>
            <a:r>
              <a:rPr sz="1400" i="1" spc="-25" dirty="0">
                <a:latin typeface="Times New Roman"/>
                <a:cs typeface="Times New Roman"/>
              </a:rPr>
              <a:t>of</a:t>
            </a:r>
            <a:endParaRPr sz="1400" dirty="0">
              <a:latin typeface="Times New Roman"/>
              <a:cs typeface="Times New Roman"/>
            </a:endParaRPr>
          </a:p>
          <a:p>
            <a:pPr marL="12065" marR="5080" algn="ctr">
              <a:lnSpc>
                <a:spcPts val="2790"/>
              </a:lnSpc>
              <a:spcBef>
                <a:spcPts val="114"/>
              </a:spcBef>
            </a:pPr>
            <a:r>
              <a:rPr lang="en-IN" sz="2400" spc="-10" dirty="0">
                <a:latin typeface="Times New Roman"/>
                <a:cs typeface="Times New Roman"/>
              </a:rPr>
              <a:t>Dr. M.RANJIT REDDY</a:t>
            </a:r>
            <a:r>
              <a:rPr sz="2400" spc="-10" dirty="0">
                <a:latin typeface="Times New Roman"/>
                <a:cs typeface="Times New Roman"/>
              </a:rPr>
              <a:t>,</a:t>
            </a:r>
            <a:r>
              <a:rPr lang="en-IN" sz="2400" spc="-10" dirty="0">
                <a:latin typeface="Times New Roman"/>
                <a:cs typeface="Times New Roman"/>
              </a:rPr>
              <a:t> </a:t>
            </a:r>
            <a:r>
              <a:rPr lang="en-IN" sz="1400" spc="-10" dirty="0" err="1">
                <a:latin typeface="Times New Roman"/>
                <a:cs typeface="Times New Roman"/>
              </a:rPr>
              <a:t>M.Tech</a:t>
            </a:r>
            <a:r>
              <a:rPr lang="en-IN" sz="1400" spc="-10" dirty="0">
                <a:latin typeface="Times New Roman"/>
                <a:cs typeface="Times New Roman"/>
              </a:rPr>
              <a:t>., </a:t>
            </a:r>
            <a:r>
              <a:rPr lang="en-IN" sz="1400" spc="-10" dirty="0" err="1">
                <a:latin typeface="Times New Roman"/>
                <a:cs typeface="Times New Roman"/>
              </a:rPr>
              <a:t>ph.D.</a:t>
            </a:r>
            <a:r>
              <a:rPr sz="1400" spc="-10" dirty="0">
                <a:latin typeface="Times New Roman"/>
                <a:cs typeface="Times New Roman"/>
              </a:rPr>
              <a:t> </a:t>
            </a:r>
            <a:endParaRPr lang="en-IN" sz="1400" spc="-10" dirty="0">
              <a:latin typeface="Times New Roman"/>
              <a:cs typeface="Times New Roman"/>
            </a:endParaRPr>
          </a:p>
          <a:p>
            <a:pPr marL="12065" marR="5080" algn="ctr">
              <a:lnSpc>
                <a:spcPts val="2790"/>
              </a:lnSpc>
              <a:spcBef>
                <a:spcPts val="114"/>
              </a:spcBef>
            </a:pPr>
            <a:r>
              <a:rPr lang="en-IN" sz="1400" spc="-10" dirty="0">
                <a:latin typeface="Times New Roman"/>
                <a:cs typeface="Times New Roman"/>
              </a:rPr>
              <a:t>Professor</a:t>
            </a:r>
            <a:endParaRPr lang="en-IN" sz="1400" dirty="0">
              <a:latin typeface="Times New Roman"/>
              <a:cs typeface="Times New Roman"/>
            </a:endParaRPr>
          </a:p>
          <a:p>
            <a:pPr marL="12065" marR="5080" algn="ctr">
              <a:lnSpc>
                <a:spcPts val="2790"/>
              </a:lnSpc>
              <a:spcBef>
                <a:spcPts val="114"/>
              </a:spcBef>
            </a:pPr>
            <a:endParaRPr sz="2400" dirty="0">
              <a:latin typeface="Times New Roman"/>
              <a:cs typeface="Times New Roman"/>
            </a:endParaRPr>
          </a:p>
        </p:txBody>
      </p:sp>
      <p:sp>
        <p:nvSpPr>
          <p:cNvPr id="10" name="object 10"/>
          <p:cNvSpPr txBox="1"/>
          <p:nvPr/>
        </p:nvSpPr>
        <p:spPr>
          <a:xfrm>
            <a:off x="2147578" y="5096081"/>
            <a:ext cx="7890509" cy="1448435"/>
          </a:xfrm>
          <a:prstGeom prst="rect">
            <a:avLst/>
          </a:prstGeom>
        </p:spPr>
        <p:txBody>
          <a:bodyPr vert="horz" wrap="square" lIns="0" tIns="13335" rIns="0" bIns="0" rtlCol="0">
            <a:spAutoFit/>
          </a:bodyPr>
          <a:lstStyle/>
          <a:p>
            <a:pPr marL="4445" algn="ctr">
              <a:lnSpc>
                <a:spcPts val="2300"/>
              </a:lnSpc>
              <a:spcBef>
                <a:spcPts val="105"/>
              </a:spcBef>
            </a:pPr>
            <a:r>
              <a:rPr sz="2200" dirty="0">
                <a:latin typeface="Times New Roman"/>
                <a:cs typeface="Times New Roman"/>
              </a:rPr>
              <a:t>Department</a:t>
            </a:r>
            <a:r>
              <a:rPr sz="2200" spc="-25" dirty="0">
                <a:latin typeface="Times New Roman"/>
                <a:cs typeface="Times New Roman"/>
              </a:rPr>
              <a:t> </a:t>
            </a:r>
            <a:r>
              <a:rPr sz="2200" dirty="0">
                <a:latin typeface="Times New Roman"/>
                <a:cs typeface="Times New Roman"/>
              </a:rPr>
              <a:t>of</a:t>
            </a:r>
            <a:r>
              <a:rPr sz="2200" spc="-15" dirty="0">
                <a:latin typeface="Times New Roman"/>
                <a:cs typeface="Times New Roman"/>
              </a:rPr>
              <a:t> </a:t>
            </a:r>
            <a:r>
              <a:rPr sz="2200" dirty="0">
                <a:latin typeface="Times New Roman"/>
                <a:cs typeface="Times New Roman"/>
              </a:rPr>
              <a:t>Computer</a:t>
            </a:r>
            <a:r>
              <a:rPr sz="2200" spc="-15" dirty="0">
                <a:latin typeface="Times New Roman"/>
                <a:cs typeface="Times New Roman"/>
              </a:rPr>
              <a:t> </a:t>
            </a:r>
            <a:r>
              <a:rPr sz="2200" dirty="0">
                <a:latin typeface="Times New Roman"/>
                <a:cs typeface="Times New Roman"/>
              </a:rPr>
              <a:t>Science</a:t>
            </a:r>
            <a:r>
              <a:rPr sz="2200" spc="-20" dirty="0">
                <a:latin typeface="Times New Roman"/>
                <a:cs typeface="Times New Roman"/>
              </a:rPr>
              <a:t> </a:t>
            </a:r>
            <a:r>
              <a:rPr sz="2200" dirty="0">
                <a:latin typeface="Times New Roman"/>
                <a:cs typeface="Times New Roman"/>
              </a:rPr>
              <a:t>and</a:t>
            </a:r>
            <a:r>
              <a:rPr sz="2200" spc="-15" dirty="0">
                <a:latin typeface="Times New Roman"/>
                <a:cs typeface="Times New Roman"/>
              </a:rPr>
              <a:t> </a:t>
            </a:r>
            <a:r>
              <a:rPr sz="2200" dirty="0">
                <a:latin typeface="Times New Roman"/>
                <a:cs typeface="Times New Roman"/>
              </a:rPr>
              <a:t>Engineering</a:t>
            </a:r>
            <a:r>
              <a:rPr sz="2200" spc="-15" dirty="0">
                <a:latin typeface="Times New Roman"/>
                <a:cs typeface="Times New Roman"/>
              </a:rPr>
              <a:t> </a:t>
            </a:r>
            <a:endParaRPr sz="2200" dirty="0">
              <a:latin typeface="Times New Roman"/>
              <a:cs typeface="Times New Roman"/>
            </a:endParaRPr>
          </a:p>
          <a:p>
            <a:pPr algn="ctr">
              <a:lnSpc>
                <a:spcPts val="3565"/>
              </a:lnSpc>
            </a:pPr>
            <a:r>
              <a:rPr sz="3400" dirty="0">
                <a:solidFill>
                  <a:srgbClr val="FF0000"/>
                </a:solidFill>
                <a:latin typeface="Times New Roman"/>
                <a:cs typeface="Times New Roman"/>
              </a:rPr>
              <a:t>Srinivasa</a:t>
            </a:r>
            <a:r>
              <a:rPr sz="3400" spc="-20" dirty="0">
                <a:solidFill>
                  <a:srgbClr val="FF0000"/>
                </a:solidFill>
                <a:latin typeface="Times New Roman"/>
                <a:cs typeface="Times New Roman"/>
              </a:rPr>
              <a:t> </a:t>
            </a:r>
            <a:r>
              <a:rPr sz="3400" dirty="0">
                <a:solidFill>
                  <a:srgbClr val="FF0000"/>
                </a:solidFill>
                <a:latin typeface="Times New Roman"/>
                <a:cs typeface="Times New Roman"/>
              </a:rPr>
              <a:t>Ramanujan</a:t>
            </a:r>
            <a:r>
              <a:rPr sz="3400" spc="-20" dirty="0">
                <a:solidFill>
                  <a:srgbClr val="FF0000"/>
                </a:solidFill>
                <a:latin typeface="Times New Roman"/>
                <a:cs typeface="Times New Roman"/>
              </a:rPr>
              <a:t> </a:t>
            </a:r>
            <a:r>
              <a:rPr sz="3400" dirty="0">
                <a:solidFill>
                  <a:srgbClr val="FF0000"/>
                </a:solidFill>
                <a:latin typeface="Times New Roman"/>
                <a:cs typeface="Times New Roman"/>
              </a:rPr>
              <a:t>Institute</a:t>
            </a:r>
            <a:r>
              <a:rPr sz="3400" spc="-20" dirty="0">
                <a:solidFill>
                  <a:srgbClr val="FF0000"/>
                </a:solidFill>
                <a:latin typeface="Times New Roman"/>
                <a:cs typeface="Times New Roman"/>
              </a:rPr>
              <a:t> </a:t>
            </a:r>
            <a:r>
              <a:rPr sz="3400" dirty="0">
                <a:solidFill>
                  <a:srgbClr val="FF0000"/>
                </a:solidFill>
                <a:latin typeface="Times New Roman"/>
                <a:cs typeface="Times New Roman"/>
              </a:rPr>
              <a:t>of</a:t>
            </a:r>
            <a:r>
              <a:rPr sz="3400" spc="-20" dirty="0">
                <a:solidFill>
                  <a:srgbClr val="FF0000"/>
                </a:solidFill>
                <a:latin typeface="Times New Roman"/>
                <a:cs typeface="Times New Roman"/>
              </a:rPr>
              <a:t> </a:t>
            </a:r>
            <a:r>
              <a:rPr sz="3400" spc="-10" dirty="0">
                <a:solidFill>
                  <a:srgbClr val="FF0000"/>
                </a:solidFill>
                <a:latin typeface="Times New Roman"/>
                <a:cs typeface="Times New Roman"/>
              </a:rPr>
              <a:t>Technology</a:t>
            </a:r>
            <a:endParaRPr sz="3400" dirty="0">
              <a:latin typeface="Times New Roman"/>
              <a:cs typeface="Times New Roman"/>
            </a:endParaRPr>
          </a:p>
          <a:p>
            <a:pPr marL="6350" algn="ctr">
              <a:lnSpc>
                <a:spcPts val="1850"/>
              </a:lnSpc>
            </a:pPr>
            <a:r>
              <a:rPr sz="1750" b="1" spc="-10" dirty="0">
                <a:latin typeface="Times New Roman"/>
                <a:cs typeface="Times New Roman"/>
              </a:rPr>
              <a:t>Autonomous</a:t>
            </a:r>
            <a:endParaRPr sz="1750" dirty="0">
              <a:latin typeface="Times New Roman"/>
              <a:cs typeface="Times New Roman"/>
            </a:endParaRPr>
          </a:p>
          <a:p>
            <a:pPr marL="7620" algn="ctr">
              <a:lnSpc>
                <a:spcPts val="1370"/>
              </a:lnSpc>
            </a:pPr>
            <a:r>
              <a:rPr sz="1200" b="1" dirty="0">
                <a:latin typeface="Times New Roman"/>
                <a:cs typeface="Times New Roman"/>
              </a:rPr>
              <a:t>Rotarypuram</a:t>
            </a:r>
            <a:r>
              <a:rPr sz="1200" b="1" spc="-10" dirty="0">
                <a:latin typeface="Times New Roman"/>
                <a:cs typeface="Times New Roman"/>
              </a:rPr>
              <a:t> </a:t>
            </a:r>
            <a:r>
              <a:rPr sz="1200" b="1" dirty="0">
                <a:latin typeface="Times New Roman"/>
                <a:cs typeface="Times New Roman"/>
              </a:rPr>
              <a:t>Village,</a:t>
            </a:r>
            <a:r>
              <a:rPr sz="1200" b="1" spc="-5" dirty="0">
                <a:latin typeface="Times New Roman"/>
                <a:cs typeface="Times New Roman"/>
              </a:rPr>
              <a:t> </a:t>
            </a:r>
            <a:r>
              <a:rPr sz="1200" b="1" dirty="0">
                <a:latin typeface="Times New Roman"/>
                <a:cs typeface="Times New Roman"/>
              </a:rPr>
              <a:t>B</a:t>
            </a:r>
            <a:r>
              <a:rPr sz="1200" b="1" spc="-10" dirty="0">
                <a:latin typeface="Times New Roman"/>
                <a:cs typeface="Times New Roman"/>
              </a:rPr>
              <a:t> </a:t>
            </a:r>
            <a:r>
              <a:rPr sz="1200" b="1" dirty="0">
                <a:latin typeface="Times New Roman"/>
                <a:cs typeface="Times New Roman"/>
              </a:rPr>
              <a:t>K</a:t>
            </a:r>
            <a:r>
              <a:rPr sz="1200" b="1" spc="-5" dirty="0">
                <a:latin typeface="Times New Roman"/>
                <a:cs typeface="Times New Roman"/>
              </a:rPr>
              <a:t> </a:t>
            </a:r>
            <a:r>
              <a:rPr sz="1200" b="1" dirty="0">
                <a:latin typeface="Times New Roman"/>
                <a:cs typeface="Times New Roman"/>
              </a:rPr>
              <a:t>Samudram</a:t>
            </a:r>
            <a:r>
              <a:rPr sz="1200" b="1" spc="-10" dirty="0">
                <a:latin typeface="Times New Roman"/>
                <a:cs typeface="Times New Roman"/>
              </a:rPr>
              <a:t> </a:t>
            </a:r>
            <a:r>
              <a:rPr sz="1200" b="1" dirty="0">
                <a:latin typeface="Times New Roman"/>
                <a:cs typeface="Times New Roman"/>
              </a:rPr>
              <a:t>Mandal,</a:t>
            </a:r>
            <a:r>
              <a:rPr sz="1200" b="1" spc="-5" dirty="0">
                <a:latin typeface="Times New Roman"/>
                <a:cs typeface="Times New Roman"/>
              </a:rPr>
              <a:t> </a:t>
            </a:r>
            <a:r>
              <a:rPr sz="1200" b="1" dirty="0">
                <a:latin typeface="Times New Roman"/>
                <a:cs typeface="Times New Roman"/>
              </a:rPr>
              <a:t>Ananthapuramu</a:t>
            </a:r>
            <a:r>
              <a:rPr sz="1200" b="1" spc="-10" dirty="0">
                <a:latin typeface="Times New Roman"/>
                <a:cs typeface="Times New Roman"/>
              </a:rPr>
              <a:t> </a:t>
            </a:r>
            <a:r>
              <a:rPr sz="1200" b="1" dirty="0">
                <a:latin typeface="Times New Roman"/>
                <a:cs typeface="Times New Roman"/>
              </a:rPr>
              <a:t>–</a:t>
            </a:r>
            <a:r>
              <a:rPr sz="1200" b="1" spc="-5" dirty="0">
                <a:latin typeface="Times New Roman"/>
                <a:cs typeface="Times New Roman"/>
              </a:rPr>
              <a:t> </a:t>
            </a:r>
            <a:r>
              <a:rPr sz="1200" b="1" spc="-10" dirty="0">
                <a:latin typeface="Times New Roman"/>
                <a:cs typeface="Times New Roman"/>
              </a:rPr>
              <a:t>515701.</a:t>
            </a:r>
            <a:endParaRPr sz="1200" dirty="0">
              <a:latin typeface="Times New Roman"/>
              <a:cs typeface="Times New Roman"/>
            </a:endParaRPr>
          </a:p>
          <a:p>
            <a:pPr marL="6985" algn="ctr">
              <a:lnSpc>
                <a:spcPct val="100000"/>
              </a:lnSpc>
              <a:spcBef>
                <a:spcPts val="545"/>
              </a:spcBef>
            </a:pPr>
            <a:r>
              <a:rPr sz="1300" b="1" dirty="0">
                <a:solidFill>
                  <a:srgbClr val="1E4E78"/>
                </a:solidFill>
                <a:latin typeface="Times New Roman"/>
                <a:cs typeface="Times New Roman"/>
              </a:rPr>
              <a:t>202</a:t>
            </a:r>
            <a:r>
              <a:rPr lang="en-IN" sz="1300" b="1" dirty="0">
                <a:solidFill>
                  <a:srgbClr val="1E4E78"/>
                </a:solidFill>
                <a:latin typeface="Times New Roman"/>
                <a:cs typeface="Times New Roman"/>
              </a:rPr>
              <a:t>5-</a:t>
            </a:r>
            <a:r>
              <a:rPr sz="1300" b="1" spc="-20" dirty="0">
                <a:solidFill>
                  <a:srgbClr val="1E4E78"/>
                </a:solidFill>
                <a:latin typeface="Times New Roman"/>
                <a:cs typeface="Times New Roman"/>
              </a:rPr>
              <a:t>202</a:t>
            </a:r>
            <a:r>
              <a:rPr lang="en-IN" sz="1300" b="1" spc="-20" dirty="0">
                <a:solidFill>
                  <a:srgbClr val="1E4E78"/>
                </a:solidFill>
                <a:latin typeface="Times New Roman"/>
                <a:cs typeface="Times New Roman"/>
              </a:rPr>
              <a:t>6</a:t>
            </a:r>
            <a:endParaRPr sz="1300" dirty="0">
              <a:latin typeface="Times New Roman"/>
              <a:cs typeface="Times New Roman"/>
            </a:endParaRPr>
          </a:p>
        </p:txBody>
      </p:sp>
      <p:sp>
        <p:nvSpPr>
          <p:cNvPr id="11" name="object 11"/>
          <p:cNvSpPr txBox="1"/>
          <p:nvPr/>
        </p:nvSpPr>
        <p:spPr>
          <a:xfrm>
            <a:off x="1379132" y="1735791"/>
            <a:ext cx="2624412" cy="593239"/>
          </a:xfrm>
          <a:prstGeom prst="rect">
            <a:avLst/>
          </a:prstGeom>
        </p:spPr>
        <p:txBody>
          <a:bodyPr vert="horz" wrap="square" lIns="0" tIns="14605" rIns="0" bIns="0" rtlCol="0">
            <a:spAutoFit/>
          </a:bodyPr>
          <a:lstStyle/>
          <a:p>
            <a:pPr algn="ctr">
              <a:lnSpc>
                <a:spcPts val="2380"/>
              </a:lnSpc>
              <a:spcBef>
                <a:spcPts val="115"/>
              </a:spcBef>
            </a:pPr>
            <a:r>
              <a:rPr lang="en-IN" sz="2000" dirty="0">
                <a:latin typeface="Times New Roman"/>
                <a:cs typeface="Times New Roman"/>
              </a:rPr>
              <a:t>R.SUPRAJA </a:t>
            </a:r>
          </a:p>
          <a:p>
            <a:pPr algn="ctr">
              <a:lnSpc>
                <a:spcPts val="2380"/>
              </a:lnSpc>
              <a:spcBef>
                <a:spcPts val="115"/>
              </a:spcBef>
            </a:pPr>
            <a:r>
              <a:rPr sz="900" dirty="0">
                <a:latin typeface="Times New Roman"/>
                <a:cs typeface="Times New Roman"/>
              </a:rPr>
              <a:t>Roll</a:t>
            </a:r>
            <a:r>
              <a:rPr sz="900" spc="40" dirty="0">
                <a:latin typeface="Times New Roman"/>
                <a:cs typeface="Times New Roman"/>
              </a:rPr>
              <a:t> </a:t>
            </a:r>
            <a:r>
              <a:rPr sz="900" dirty="0">
                <a:latin typeface="Times New Roman"/>
                <a:cs typeface="Times New Roman"/>
              </a:rPr>
              <a:t>No.</a:t>
            </a:r>
            <a:r>
              <a:rPr sz="900" spc="40" dirty="0">
                <a:latin typeface="Times New Roman"/>
                <a:cs typeface="Times New Roman"/>
              </a:rPr>
              <a:t> </a:t>
            </a:r>
            <a:r>
              <a:rPr lang="en-IN" sz="900" spc="-10" dirty="0">
                <a:latin typeface="Times New Roman"/>
                <a:cs typeface="Times New Roman"/>
              </a:rPr>
              <a:t>224G1A05B1</a:t>
            </a:r>
            <a:endParaRPr sz="900" dirty="0">
              <a:latin typeface="Times New Roman"/>
              <a:cs typeface="Times New Roman"/>
            </a:endParaRPr>
          </a:p>
        </p:txBody>
      </p:sp>
      <p:sp>
        <p:nvSpPr>
          <p:cNvPr id="12" name="object 12"/>
          <p:cNvSpPr txBox="1"/>
          <p:nvPr/>
        </p:nvSpPr>
        <p:spPr>
          <a:xfrm>
            <a:off x="7748833" y="1735791"/>
            <a:ext cx="3371116" cy="480260"/>
          </a:xfrm>
          <a:prstGeom prst="rect">
            <a:avLst/>
          </a:prstGeom>
        </p:spPr>
        <p:txBody>
          <a:bodyPr vert="horz" wrap="square" lIns="0" tIns="13335" rIns="0" bIns="0" rtlCol="0">
            <a:spAutoFit/>
          </a:bodyPr>
          <a:lstStyle/>
          <a:p>
            <a:pPr marL="42545">
              <a:lnSpc>
                <a:spcPct val="100000"/>
              </a:lnSpc>
              <a:spcBef>
                <a:spcPts val="409"/>
              </a:spcBef>
            </a:pPr>
            <a:r>
              <a:rPr lang="en-IN" sz="1800" spc="-10" dirty="0">
                <a:latin typeface="Times New Roman"/>
                <a:cs typeface="Times New Roman"/>
              </a:rPr>
              <a:t>         </a:t>
            </a:r>
            <a:r>
              <a:rPr lang="en-IN" spc="-10" dirty="0">
                <a:latin typeface="Times New Roman"/>
                <a:cs typeface="Times New Roman"/>
              </a:rPr>
              <a:t>C.NARASIMHULU </a:t>
            </a:r>
          </a:p>
          <a:p>
            <a:pPr marL="42545">
              <a:lnSpc>
                <a:spcPct val="100000"/>
              </a:lnSpc>
              <a:spcBef>
                <a:spcPts val="409"/>
              </a:spcBef>
            </a:pPr>
            <a:r>
              <a:rPr lang="en-IN" sz="900" spc="-10" dirty="0">
                <a:latin typeface="Times New Roman"/>
                <a:cs typeface="Times New Roman"/>
              </a:rPr>
              <a:t>                                   </a:t>
            </a:r>
            <a:r>
              <a:rPr sz="900" dirty="0">
                <a:latin typeface="Times New Roman"/>
                <a:cs typeface="Times New Roman"/>
              </a:rPr>
              <a:t>Roll</a:t>
            </a:r>
            <a:r>
              <a:rPr sz="900" spc="5" dirty="0">
                <a:latin typeface="Times New Roman"/>
                <a:cs typeface="Times New Roman"/>
              </a:rPr>
              <a:t> </a:t>
            </a:r>
            <a:r>
              <a:rPr sz="900" dirty="0">
                <a:latin typeface="Times New Roman"/>
                <a:cs typeface="Times New Roman"/>
              </a:rPr>
              <a:t>No.</a:t>
            </a:r>
            <a:r>
              <a:rPr sz="900" spc="5" dirty="0">
                <a:latin typeface="Times New Roman"/>
                <a:cs typeface="Times New Roman"/>
              </a:rPr>
              <a:t> </a:t>
            </a:r>
            <a:r>
              <a:rPr lang="en-IN" sz="900" spc="-10" dirty="0">
                <a:latin typeface="Times New Roman"/>
                <a:cs typeface="Times New Roman"/>
              </a:rPr>
              <a:t>224G1A0558</a:t>
            </a:r>
            <a:endParaRPr sz="900" dirty="0">
              <a:latin typeface="Times New Roman"/>
              <a:cs typeface="Times New Roman"/>
            </a:endParaRPr>
          </a:p>
        </p:txBody>
      </p:sp>
      <p:grpSp>
        <p:nvGrpSpPr>
          <p:cNvPr id="14" name="object 14"/>
          <p:cNvGrpSpPr/>
          <p:nvPr/>
        </p:nvGrpSpPr>
        <p:grpSpPr>
          <a:xfrm>
            <a:off x="304800" y="318271"/>
            <a:ext cx="11582400" cy="937894"/>
            <a:chOff x="715009" y="318271"/>
            <a:chExt cx="10608310" cy="937894"/>
          </a:xfrm>
        </p:grpSpPr>
        <p:pic>
          <p:nvPicPr>
            <p:cNvPr id="15" name="object 15"/>
            <p:cNvPicPr/>
            <p:nvPr/>
          </p:nvPicPr>
          <p:blipFill>
            <a:blip r:embed="rId3" cstate="print"/>
            <a:stretch>
              <a:fillRect/>
            </a:stretch>
          </p:blipFill>
          <p:spPr>
            <a:xfrm>
              <a:off x="715009" y="318271"/>
              <a:ext cx="10608182" cy="937864"/>
            </a:xfrm>
            <a:prstGeom prst="rect">
              <a:avLst/>
            </a:prstGeom>
          </p:spPr>
        </p:pic>
        <p:sp>
          <p:nvSpPr>
            <p:cNvPr id="16" name="object 16"/>
            <p:cNvSpPr/>
            <p:nvPr/>
          </p:nvSpPr>
          <p:spPr>
            <a:xfrm>
              <a:off x="755008" y="335270"/>
              <a:ext cx="10528300" cy="857885"/>
            </a:xfrm>
            <a:custGeom>
              <a:avLst/>
              <a:gdLst/>
              <a:ahLst/>
              <a:cxnLst/>
              <a:rect l="l" t="t" r="r" b="b"/>
              <a:pathLst>
                <a:path w="10528300" h="857885">
                  <a:moveTo>
                    <a:pt x="10385202" y="857863"/>
                  </a:moveTo>
                  <a:lnTo>
                    <a:pt x="142980" y="857863"/>
                  </a:lnTo>
                  <a:lnTo>
                    <a:pt x="97787" y="850574"/>
                  </a:lnTo>
                  <a:lnTo>
                    <a:pt x="58537" y="830277"/>
                  </a:lnTo>
                  <a:lnTo>
                    <a:pt x="27586" y="799326"/>
                  </a:lnTo>
                  <a:lnTo>
                    <a:pt x="7289" y="760076"/>
                  </a:lnTo>
                  <a:lnTo>
                    <a:pt x="0" y="714883"/>
                  </a:lnTo>
                  <a:lnTo>
                    <a:pt x="0" y="142980"/>
                  </a:lnTo>
                  <a:lnTo>
                    <a:pt x="7289" y="97787"/>
                  </a:lnTo>
                  <a:lnTo>
                    <a:pt x="27586" y="58537"/>
                  </a:lnTo>
                  <a:lnTo>
                    <a:pt x="58537" y="27586"/>
                  </a:lnTo>
                  <a:lnTo>
                    <a:pt x="97787" y="7289"/>
                  </a:lnTo>
                  <a:lnTo>
                    <a:pt x="142980" y="0"/>
                  </a:lnTo>
                  <a:lnTo>
                    <a:pt x="10385202" y="0"/>
                  </a:lnTo>
                  <a:lnTo>
                    <a:pt x="10439918" y="10883"/>
                  </a:lnTo>
                  <a:lnTo>
                    <a:pt x="10486304" y="41877"/>
                  </a:lnTo>
                  <a:lnTo>
                    <a:pt x="10517299" y="88264"/>
                  </a:lnTo>
                  <a:lnTo>
                    <a:pt x="10528183" y="142980"/>
                  </a:lnTo>
                  <a:lnTo>
                    <a:pt x="10528183" y="714883"/>
                  </a:lnTo>
                  <a:lnTo>
                    <a:pt x="10520894" y="760076"/>
                  </a:lnTo>
                  <a:lnTo>
                    <a:pt x="10500596" y="799326"/>
                  </a:lnTo>
                  <a:lnTo>
                    <a:pt x="10469645" y="830277"/>
                  </a:lnTo>
                  <a:lnTo>
                    <a:pt x="10430395" y="850574"/>
                  </a:lnTo>
                  <a:lnTo>
                    <a:pt x="10385202" y="857863"/>
                  </a:lnTo>
                  <a:close/>
                </a:path>
              </a:pathLst>
            </a:custGeom>
            <a:solidFill>
              <a:srgbClr val="FF6600"/>
            </a:solidFill>
          </p:spPr>
          <p:txBody>
            <a:bodyPr wrap="square" lIns="0" tIns="0" rIns="0" bIns="0" rtlCol="0"/>
            <a:lstStyle/>
            <a:p>
              <a:endParaRPr dirty="0"/>
            </a:p>
          </p:txBody>
        </p:sp>
      </p:grpSp>
      <p:sp>
        <p:nvSpPr>
          <p:cNvPr id="17" name="object 17"/>
          <p:cNvSpPr txBox="1">
            <a:spLocks noGrp="1"/>
          </p:cNvSpPr>
          <p:nvPr>
            <p:ph type="title"/>
          </p:nvPr>
        </p:nvSpPr>
        <p:spPr>
          <a:xfrm>
            <a:off x="685800" y="485427"/>
            <a:ext cx="10972800" cy="505267"/>
          </a:xfrm>
          <a:prstGeom prst="rect">
            <a:avLst/>
          </a:prstGeom>
        </p:spPr>
        <p:txBody>
          <a:bodyPr vert="horz" wrap="square" lIns="0" tIns="12700" rIns="0" bIns="0" rtlCol="0">
            <a:spAutoFit/>
          </a:bodyPr>
          <a:lstStyle/>
          <a:p>
            <a:pPr marL="12700">
              <a:lnSpc>
                <a:spcPct val="100000"/>
              </a:lnSpc>
              <a:spcBef>
                <a:spcPts val="100"/>
              </a:spcBef>
            </a:pPr>
            <a:r>
              <a:rPr lang="en-IN" sz="3200" dirty="0"/>
              <a:t>C</a:t>
            </a:r>
            <a:r>
              <a:rPr lang="en-US" sz="3200" dirty="0"/>
              <a:t>OLLEGE ALUMNI CONNECT &amp; MANAGEMENT SYSTEM </a:t>
            </a:r>
            <a:endParaRPr sz="3200" dirty="0"/>
          </a:p>
        </p:txBody>
      </p:sp>
      <p:sp>
        <p:nvSpPr>
          <p:cNvPr id="18" name="object 18"/>
          <p:cNvSpPr txBox="1"/>
          <p:nvPr/>
        </p:nvSpPr>
        <p:spPr>
          <a:xfrm>
            <a:off x="5764461" y="1277653"/>
            <a:ext cx="217170" cy="269240"/>
          </a:xfrm>
          <a:prstGeom prst="rect">
            <a:avLst/>
          </a:prstGeom>
        </p:spPr>
        <p:txBody>
          <a:bodyPr vert="horz" wrap="square" lIns="0" tIns="12700" rIns="0" bIns="0" rtlCol="0">
            <a:spAutoFit/>
          </a:bodyPr>
          <a:lstStyle/>
          <a:p>
            <a:pPr marL="12700">
              <a:lnSpc>
                <a:spcPct val="100000"/>
              </a:lnSpc>
              <a:spcBef>
                <a:spcPts val="100"/>
              </a:spcBef>
            </a:pPr>
            <a:r>
              <a:rPr sz="1600" i="1" spc="-25" dirty="0">
                <a:latin typeface="Times New Roman"/>
                <a:cs typeface="Times New Roman"/>
              </a:rPr>
              <a:t>by</a:t>
            </a:r>
            <a:endParaRPr sz="1600" dirty="0">
              <a:latin typeface="Times New Roman"/>
              <a:cs typeface="Times New Roman"/>
            </a:endParaRPr>
          </a:p>
        </p:txBody>
      </p:sp>
      <p:pic>
        <p:nvPicPr>
          <p:cNvPr id="19" name="object 19"/>
          <p:cNvPicPr/>
          <p:nvPr/>
        </p:nvPicPr>
        <p:blipFill>
          <a:blip r:embed="rId4" cstate="print"/>
          <a:stretch>
            <a:fillRect/>
          </a:stretch>
        </p:blipFill>
        <p:spPr>
          <a:xfrm>
            <a:off x="5109357" y="3429000"/>
            <a:ext cx="1527378" cy="16854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121955" y="-35739"/>
            <a:ext cx="5105400"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       College Alumni Connect &amp; Management System</a:t>
            </a:r>
            <a:endParaRPr sz="1500" dirty="0">
              <a:latin typeface="Times New Roman"/>
              <a:cs typeface="Times New Roman"/>
            </a:endParaRPr>
          </a:p>
        </p:txBody>
      </p:sp>
      <p:grpSp>
        <p:nvGrpSpPr>
          <p:cNvPr id="3" name="object 3"/>
          <p:cNvGrpSpPr/>
          <p:nvPr/>
        </p:nvGrpSpPr>
        <p:grpSpPr>
          <a:xfrm>
            <a:off x="0" y="212399"/>
            <a:ext cx="12192000" cy="803275"/>
            <a:chOff x="0" y="212399"/>
            <a:chExt cx="12192000" cy="803275"/>
          </a:xfrm>
        </p:grpSpPr>
        <p:pic>
          <p:nvPicPr>
            <p:cNvPr id="4" name="object 4"/>
            <p:cNvPicPr/>
            <p:nvPr/>
          </p:nvPicPr>
          <p:blipFill>
            <a:blip r:embed="rId2" cstate="print"/>
            <a:stretch>
              <a:fillRect/>
            </a:stretch>
          </p:blipFill>
          <p:spPr>
            <a:xfrm>
              <a:off x="0" y="212399"/>
              <a:ext cx="12192000" cy="803160"/>
            </a:xfrm>
            <a:prstGeom prst="rect">
              <a:avLst/>
            </a:prstGeom>
          </p:spPr>
        </p:pic>
        <p:sp>
          <p:nvSpPr>
            <p:cNvPr id="5" name="object 5"/>
            <p:cNvSpPr/>
            <p:nvPr/>
          </p:nvSpPr>
          <p:spPr>
            <a:xfrm>
              <a:off x="239" y="228599"/>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dirty="0"/>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spc="-10" dirty="0"/>
              <a:t>Contents</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US" spc="-10" dirty="0"/>
              <a:t>B</a:t>
            </a:r>
            <a:r>
              <a:rPr spc="-10" dirty="0"/>
              <a:t> </a:t>
            </a:r>
            <a:r>
              <a:rPr dirty="0"/>
              <a:t>-</a:t>
            </a:r>
            <a:r>
              <a:rPr spc="-5" dirty="0"/>
              <a:t> </a:t>
            </a:r>
            <a:r>
              <a:rPr lang="en-IN" spc="-25" dirty="0"/>
              <a:t>09</a:t>
            </a:r>
            <a:endParaRPr spc="-25" dirty="0"/>
          </a:p>
        </p:txBody>
      </p:sp>
      <p:sp>
        <p:nvSpPr>
          <p:cNvPr id="9" name="object 9"/>
          <p:cNvSpPr txBox="1">
            <a:spLocks noGrp="1"/>
          </p:cNvSpPr>
          <p:nvPr>
            <p:ph type="dt" sz="half" idx="6"/>
          </p:nvPr>
        </p:nvSpPr>
        <p:spPr>
          <a:xfrm>
            <a:off x="2013245" y="6629197"/>
            <a:ext cx="3661410"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lang="en-IN" cap="small" spc="-130" dirty="0"/>
              <a:t> Engineering</a:t>
            </a:r>
            <a:r>
              <a:rPr cap="small" spc="55" dirty="0"/>
              <a:t> </a:t>
            </a:r>
            <a:endParaRPr cap="small" spc="-130" dirty="0"/>
          </a:p>
        </p:txBody>
      </p:sp>
      <p:sp>
        <p:nvSpPr>
          <p:cNvPr id="10" name="object 10"/>
          <p:cNvSpPr txBox="1"/>
          <p:nvPr/>
        </p:nvSpPr>
        <p:spPr>
          <a:xfrm>
            <a:off x="6858001" y="6629197"/>
            <a:ext cx="4180820"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lang="en-IN" sz="1600" cap="small" spc="-100" dirty="0">
                <a:solidFill>
                  <a:srgbClr val="FFFFFF"/>
                </a:solidFill>
                <a:latin typeface="Times New Roman"/>
                <a:cs typeface="Times New Roman"/>
              </a:rPr>
              <a:t> Technology</a:t>
            </a:r>
            <a:endParaRPr sz="1600" dirty="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2</a:t>
            </a:fld>
            <a:endParaRPr spc="-25" dirty="0"/>
          </a:p>
        </p:txBody>
      </p:sp>
      <p:sp>
        <p:nvSpPr>
          <p:cNvPr id="7" name="object 7"/>
          <p:cNvSpPr txBox="1"/>
          <p:nvPr/>
        </p:nvSpPr>
        <p:spPr>
          <a:xfrm>
            <a:off x="325787" y="989990"/>
            <a:ext cx="9460230" cy="4625340"/>
          </a:xfrm>
          <a:prstGeom prst="rect">
            <a:avLst/>
          </a:prstGeom>
        </p:spPr>
        <p:txBody>
          <a:bodyPr vert="horz" wrap="square" lIns="0" tIns="96520" rIns="0" bIns="0" rtlCol="0">
            <a:spAutoFit/>
          </a:bodyPr>
          <a:lstStyle/>
          <a:p>
            <a:pPr marL="421005" indent="-408305">
              <a:lnSpc>
                <a:spcPct val="100000"/>
              </a:lnSpc>
              <a:spcBef>
                <a:spcPts val="760"/>
              </a:spcBef>
              <a:buChar char="•"/>
              <a:tabLst>
                <a:tab pos="421005" algn="l"/>
              </a:tabLst>
            </a:pPr>
            <a:r>
              <a:rPr sz="2800" dirty="0">
                <a:latin typeface="Times New Roman"/>
                <a:cs typeface="Times New Roman"/>
              </a:rPr>
              <a:t>Title</a:t>
            </a:r>
            <a:r>
              <a:rPr sz="2800" spc="-25" dirty="0">
                <a:latin typeface="Times New Roman"/>
                <a:cs typeface="Times New Roman"/>
              </a:rPr>
              <a:t> </a:t>
            </a:r>
            <a:r>
              <a:rPr sz="2800" spc="-10" dirty="0">
                <a:latin typeface="Times New Roman"/>
                <a:cs typeface="Times New Roman"/>
              </a:rPr>
              <a:t>Justification</a:t>
            </a:r>
            <a:endParaRPr sz="2800" dirty="0">
              <a:latin typeface="Times New Roman"/>
              <a:cs typeface="Times New Roman"/>
            </a:endParaRPr>
          </a:p>
          <a:p>
            <a:pPr marL="421005" indent="-408305">
              <a:lnSpc>
                <a:spcPct val="100000"/>
              </a:lnSpc>
              <a:spcBef>
                <a:spcPts val="665"/>
              </a:spcBef>
              <a:buChar char="•"/>
              <a:tabLst>
                <a:tab pos="421005" algn="l"/>
              </a:tabLst>
            </a:pPr>
            <a:r>
              <a:rPr sz="2800" spc="-10" dirty="0">
                <a:latin typeface="Times New Roman"/>
                <a:cs typeface="Times New Roman"/>
              </a:rPr>
              <a:t>Abstract</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Problem</a:t>
            </a:r>
            <a:r>
              <a:rPr sz="2800" spc="-35" dirty="0">
                <a:latin typeface="Times New Roman"/>
                <a:cs typeface="Times New Roman"/>
              </a:rPr>
              <a:t> </a:t>
            </a:r>
            <a:r>
              <a:rPr sz="2800" spc="-10" dirty="0">
                <a:latin typeface="Times New Roman"/>
                <a:cs typeface="Times New Roman"/>
              </a:rPr>
              <a:t>statement</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Objectives</a:t>
            </a:r>
            <a:r>
              <a:rPr sz="2800" spc="-40" dirty="0">
                <a:latin typeface="Times New Roman"/>
                <a:cs typeface="Times New Roman"/>
              </a:rPr>
              <a:t> </a:t>
            </a:r>
            <a:r>
              <a:rPr sz="2800" dirty="0">
                <a:latin typeface="Times New Roman"/>
                <a:cs typeface="Times New Roman"/>
              </a:rPr>
              <a:t>of</a:t>
            </a:r>
            <a:r>
              <a:rPr sz="2800" spc="-35" dirty="0">
                <a:latin typeface="Times New Roman"/>
                <a:cs typeface="Times New Roman"/>
              </a:rPr>
              <a:t> </a:t>
            </a:r>
            <a:r>
              <a:rPr sz="2800" spc="-10" dirty="0">
                <a:latin typeface="Times New Roman"/>
                <a:cs typeface="Times New Roman"/>
              </a:rPr>
              <a:t>Project</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Literature</a:t>
            </a:r>
            <a:r>
              <a:rPr sz="2800" spc="-35" dirty="0">
                <a:latin typeface="Times New Roman"/>
                <a:cs typeface="Times New Roman"/>
              </a:rPr>
              <a:t> </a:t>
            </a:r>
            <a:r>
              <a:rPr sz="2800" dirty="0">
                <a:latin typeface="Times New Roman"/>
                <a:cs typeface="Times New Roman"/>
              </a:rPr>
              <a:t>survey</a:t>
            </a:r>
            <a:r>
              <a:rPr sz="2800" spc="-25" dirty="0">
                <a:latin typeface="Times New Roman"/>
                <a:cs typeface="Times New Roman"/>
              </a:rPr>
              <a:t> </a:t>
            </a:r>
            <a:r>
              <a:rPr sz="2800" dirty="0">
                <a:latin typeface="Times New Roman"/>
                <a:cs typeface="Times New Roman"/>
              </a:rPr>
              <a:t>for</a:t>
            </a:r>
            <a:r>
              <a:rPr sz="2800" spc="-25" dirty="0">
                <a:latin typeface="Times New Roman"/>
                <a:cs typeface="Times New Roman"/>
              </a:rPr>
              <a:t> </a:t>
            </a:r>
            <a:r>
              <a:rPr sz="2800" spc="-10" dirty="0">
                <a:latin typeface="Times New Roman"/>
                <a:cs typeface="Times New Roman"/>
              </a:rPr>
              <a:t>objectives</a:t>
            </a:r>
            <a:endParaRPr sz="2800" dirty="0">
              <a:latin typeface="Times New Roman"/>
              <a:cs typeface="Times New Roman"/>
            </a:endParaRPr>
          </a:p>
          <a:p>
            <a:pPr marL="421005" indent="-408305">
              <a:lnSpc>
                <a:spcPct val="100000"/>
              </a:lnSpc>
              <a:spcBef>
                <a:spcPts val="660"/>
              </a:spcBef>
              <a:buChar char="•"/>
              <a:tabLst>
                <a:tab pos="421005" algn="l"/>
              </a:tabLst>
            </a:pPr>
            <a:r>
              <a:rPr sz="2800" dirty="0">
                <a:latin typeface="Times New Roman"/>
                <a:cs typeface="Times New Roman"/>
              </a:rPr>
              <a:t>Proposed</a:t>
            </a:r>
            <a:r>
              <a:rPr sz="2800" spc="-25" dirty="0">
                <a:latin typeface="Times New Roman"/>
                <a:cs typeface="Times New Roman"/>
              </a:rPr>
              <a:t> </a:t>
            </a:r>
            <a:r>
              <a:rPr sz="2800" dirty="0">
                <a:latin typeface="Times New Roman"/>
                <a:cs typeface="Times New Roman"/>
              </a:rPr>
              <a:t>Work</a:t>
            </a:r>
            <a:r>
              <a:rPr sz="2800" spc="-20" dirty="0">
                <a:latin typeface="Times New Roman"/>
                <a:cs typeface="Times New Roman"/>
              </a:rPr>
              <a:t> </a:t>
            </a:r>
            <a:r>
              <a:rPr sz="2800" spc="-10" dirty="0">
                <a:latin typeface="Times New Roman"/>
                <a:cs typeface="Times New Roman"/>
              </a:rPr>
              <a:t>-</a:t>
            </a:r>
            <a:r>
              <a:rPr sz="2800" dirty="0">
                <a:latin typeface="Times New Roman"/>
                <a:cs typeface="Times New Roman"/>
              </a:rPr>
              <a:t>(Methods</a:t>
            </a:r>
            <a:r>
              <a:rPr sz="2800" spc="-25" dirty="0">
                <a:latin typeface="Times New Roman"/>
                <a:cs typeface="Times New Roman"/>
              </a:rPr>
              <a:t> </a:t>
            </a:r>
            <a:r>
              <a:rPr sz="2800" dirty="0">
                <a:latin typeface="Times New Roman"/>
                <a:cs typeface="Times New Roman"/>
              </a:rPr>
              <a:t>to</a:t>
            </a:r>
            <a:r>
              <a:rPr sz="2800" spc="-25" dirty="0">
                <a:latin typeface="Times New Roman"/>
                <a:cs typeface="Times New Roman"/>
              </a:rPr>
              <a:t> </a:t>
            </a:r>
            <a:r>
              <a:rPr sz="2800" dirty="0">
                <a:latin typeface="Times New Roman"/>
                <a:cs typeface="Times New Roman"/>
              </a:rPr>
              <a:t>be</a:t>
            </a:r>
            <a:r>
              <a:rPr sz="2800" spc="-25" dirty="0">
                <a:latin typeface="Times New Roman"/>
                <a:cs typeface="Times New Roman"/>
              </a:rPr>
              <a:t> </a:t>
            </a:r>
            <a:r>
              <a:rPr sz="2800" dirty="0">
                <a:latin typeface="Times New Roman"/>
                <a:cs typeface="Times New Roman"/>
              </a:rPr>
              <a:t>followed</a:t>
            </a:r>
            <a:r>
              <a:rPr sz="2800" spc="-20" dirty="0">
                <a:latin typeface="Times New Roman"/>
                <a:cs typeface="Times New Roman"/>
              </a:rPr>
              <a:t> </a:t>
            </a:r>
            <a:r>
              <a:rPr sz="2800" dirty="0">
                <a:latin typeface="Times New Roman"/>
                <a:cs typeface="Times New Roman"/>
              </a:rPr>
              <a:t>for</a:t>
            </a:r>
            <a:r>
              <a:rPr sz="2800" spc="-25" dirty="0">
                <a:latin typeface="Times New Roman"/>
                <a:cs typeface="Times New Roman"/>
              </a:rPr>
              <a:t> </a:t>
            </a:r>
            <a:r>
              <a:rPr sz="2800" dirty="0">
                <a:latin typeface="Times New Roman"/>
                <a:cs typeface="Times New Roman"/>
              </a:rPr>
              <a:t>proposed</a:t>
            </a:r>
            <a:r>
              <a:rPr sz="2800" spc="-20" dirty="0">
                <a:latin typeface="Times New Roman"/>
                <a:cs typeface="Times New Roman"/>
              </a:rPr>
              <a:t> </a:t>
            </a:r>
            <a:r>
              <a:rPr sz="2800" spc="-10" dirty="0">
                <a:latin typeface="Times New Roman"/>
                <a:cs typeface="Times New Roman"/>
              </a:rPr>
              <a:t>system)</a:t>
            </a:r>
            <a:endParaRPr sz="2800" dirty="0">
              <a:latin typeface="Times New Roman"/>
              <a:cs typeface="Times New Roman"/>
            </a:endParaRPr>
          </a:p>
          <a:p>
            <a:pPr marL="421005" indent="-408305">
              <a:lnSpc>
                <a:spcPct val="100000"/>
              </a:lnSpc>
              <a:spcBef>
                <a:spcPts val="665"/>
              </a:spcBef>
              <a:buChar char="•"/>
              <a:tabLst>
                <a:tab pos="421005" algn="l"/>
              </a:tabLst>
            </a:pPr>
            <a:r>
              <a:rPr sz="2800" spc="-10" dirty="0">
                <a:latin typeface="Times New Roman"/>
                <a:cs typeface="Times New Roman"/>
              </a:rPr>
              <a:t>References</a:t>
            </a:r>
            <a:endParaRPr sz="2800" dirty="0">
              <a:latin typeface="Times New Roman"/>
              <a:cs typeface="Times New Roman"/>
            </a:endParaRPr>
          </a:p>
          <a:p>
            <a:pPr marL="421005" indent="-408305">
              <a:lnSpc>
                <a:spcPct val="100000"/>
              </a:lnSpc>
              <a:spcBef>
                <a:spcPts val="665"/>
              </a:spcBef>
              <a:buChar char="•"/>
              <a:tabLst>
                <a:tab pos="421005" algn="l"/>
              </a:tabLst>
            </a:pPr>
            <a:r>
              <a:rPr sz="2800" dirty="0">
                <a:latin typeface="Times New Roman"/>
                <a:cs typeface="Times New Roman"/>
              </a:rPr>
              <a:t>GitHub </a:t>
            </a:r>
            <a:r>
              <a:rPr sz="2800" spc="-20" dirty="0">
                <a:latin typeface="Times New Roman"/>
                <a:cs typeface="Times New Roman"/>
              </a:rPr>
              <a:t>Link</a:t>
            </a:r>
            <a:endParaRPr sz="2800" dirty="0">
              <a:latin typeface="Times New Roman"/>
              <a:cs typeface="Times New Roman"/>
            </a:endParaRPr>
          </a:p>
          <a:p>
            <a:pPr marL="421005" indent="-408305">
              <a:lnSpc>
                <a:spcPct val="100000"/>
              </a:lnSpc>
              <a:spcBef>
                <a:spcPts val="665"/>
              </a:spcBef>
              <a:buChar char="•"/>
              <a:tabLst>
                <a:tab pos="421005" algn="l"/>
              </a:tabLst>
            </a:pPr>
            <a:r>
              <a:rPr sz="2800" spc="-10" dirty="0">
                <a:latin typeface="Times New Roman"/>
                <a:cs typeface="Times New Roman"/>
              </a:rPr>
              <a:t>Queries</a:t>
            </a:r>
            <a:endParaRPr sz="2800" dirty="0">
              <a:latin typeface="Times New Roman"/>
              <a:cs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9CF65-8104-2EC4-946A-ADD934F86CF3}"/>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835A89D4-52AC-1D8D-E2E4-9A84CD4CD896}"/>
              </a:ext>
            </a:extLst>
          </p:cNvPr>
          <p:cNvSpPr txBox="1"/>
          <p:nvPr/>
        </p:nvSpPr>
        <p:spPr>
          <a:xfrm>
            <a:off x="3924300" y="-30095"/>
            <a:ext cx="4343400"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  College Alumni Connect &amp; Management System</a:t>
            </a:r>
            <a:endParaRPr sz="1500" dirty="0">
              <a:latin typeface="Times New Roman"/>
              <a:cs typeface="Times New Roman"/>
            </a:endParaRPr>
          </a:p>
        </p:txBody>
      </p:sp>
      <p:grpSp>
        <p:nvGrpSpPr>
          <p:cNvPr id="3" name="object 3">
            <a:extLst>
              <a:ext uri="{FF2B5EF4-FFF2-40B4-BE49-F238E27FC236}">
                <a16:creationId xmlns:a16="http://schemas.microsoft.com/office/drawing/2014/main" id="{7884F3D6-9C18-D97C-621E-0AC6E9C7CCFE}"/>
              </a:ext>
            </a:extLst>
          </p:cNvPr>
          <p:cNvGrpSpPr/>
          <p:nvPr/>
        </p:nvGrpSpPr>
        <p:grpSpPr>
          <a:xfrm>
            <a:off x="0" y="212399"/>
            <a:ext cx="12192000" cy="803275"/>
            <a:chOff x="0" y="212399"/>
            <a:chExt cx="12192000" cy="803275"/>
          </a:xfrm>
        </p:grpSpPr>
        <p:pic>
          <p:nvPicPr>
            <p:cNvPr id="4" name="object 4">
              <a:extLst>
                <a:ext uri="{FF2B5EF4-FFF2-40B4-BE49-F238E27FC236}">
                  <a16:creationId xmlns:a16="http://schemas.microsoft.com/office/drawing/2014/main" id="{BC294CF2-BB5A-8C4B-077C-8C2B04D31618}"/>
                </a:ext>
              </a:extLst>
            </p:cNvPr>
            <p:cNvPicPr/>
            <p:nvPr/>
          </p:nvPicPr>
          <p:blipFill>
            <a:blip r:embed="rId2" cstate="print"/>
            <a:stretch>
              <a:fillRect/>
            </a:stretch>
          </p:blipFill>
          <p:spPr>
            <a:xfrm>
              <a:off x="0" y="212399"/>
              <a:ext cx="12192000" cy="803160"/>
            </a:xfrm>
            <a:prstGeom prst="rect">
              <a:avLst/>
            </a:prstGeom>
          </p:spPr>
        </p:pic>
        <p:sp>
          <p:nvSpPr>
            <p:cNvPr id="5" name="object 5">
              <a:extLst>
                <a:ext uri="{FF2B5EF4-FFF2-40B4-BE49-F238E27FC236}">
                  <a16:creationId xmlns:a16="http://schemas.microsoft.com/office/drawing/2014/main" id="{A8FB50D9-09DF-4A9C-DD93-DEAAC370112A}"/>
                </a:ext>
              </a:extLst>
            </p:cNvPr>
            <p:cNvSpPr/>
            <p:nvPr/>
          </p:nvSpPr>
          <p:spPr>
            <a:xfrm>
              <a:off x="239" y="228599"/>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a:extLst>
              <a:ext uri="{FF2B5EF4-FFF2-40B4-BE49-F238E27FC236}">
                <a16:creationId xmlns:a16="http://schemas.microsoft.com/office/drawing/2014/main" id="{D0A72AA6-7D3D-A8DD-3595-6DEAF17E8977}"/>
              </a:ext>
            </a:extLst>
          </p:cNvPr>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lang="en-IN" dirty="0"/>
              <a:t>Title</a:t>
            </a:r>
            <a:r>
              <a:rPr lang="en-IN" spc="-110" dirty="0"/>
              <a:t> </a:t>
            </a:r>
            <a:r>
              <a:rPr lang="en-IN" spc="-10" dirty="0"/>
              <a:t>Justification</a:t>
            </a:r>
            <a:endParaRPr spc="-10" dirty="0"/>
          </a:p>
        </p:txBody>
      </p:sp>
      <p:sp>
        <p:nvSpPr>
          <p:cNvPr id="8" name="object 8">
            <a:extLst>
              <a:ext uri="{FF2B5EF4-FFF2-40B4-BE49-F238E27FC236}">
                <a16:creationId xmlns:a16="http://schemas.microsoft.com/office/drawing/2014/main" id="{56137B2E-7C8B-3EB4-8089-ECC7E3119089}"/>
              </a:ext>
            </a:extLst>
          </p:cNvPr>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US" spc="-10" dirty="0"/>
              <a:t>B</a:t>
            </a:r>
            <a:r>
              <a:rPr spc="-10" dirty="0"/>
              <a:t> </a:t>
            </a:r>
            <a:r>
              <a:rPr dirty="0"/>
              <a:t>-</a:t>
            </a:r>
            <a:r>
              <a:rPr spc="-5" dirty="0"/>
              <a:t> </a:t>
            </a:r>
            <a:r>
              <a:rPr lang="en-IN" spc="-25" dirty="0"/>
              <a:t>09</a:t>
            </a:r>
            <a:endParaRPr spc="-25" dirty="0"/>
          </a:p>
        </p:txBody>
      </p:sp>
      <p:sp>
        <p:nvSpPr>
          <p:cNvPr id="9" name="object 9">
            <a:extLst>
              <a:ext uri="{FF2B5EF4-FFF2-40B4-BE49-F238E27FC236}">
                <a16:creationId xmlns:a16="http://schemas.microsoft.com/office/drawing/2014/main" id="{6BA1E2F7-A53E-88DE-1605-D6FF9E9C6857}"/>
              </a:ext>
            </a:extLst>
          </p:cNvPr>
          <p:cNvSpPr txBox="1">
            <a:spLocks noGrp="1"/>
          </p:cNvSpPr>
          <p:nvPr>
            <p:ph type="dt" sz="half" idx="6"/>
          </p:nvPr>
        </p:nvSpPr>
        <p:spPr>
          <a:xfrm>
            <a:off x="2013245" y="6629197"/>
            <a:ext cx="3661410"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lang="en-IN" cap="small" spc="-130" dirty="0"/>
              <a:t> Engineering</a:t>
            </a:r>
            <a:r>
              <a:rPr cap="small" spc="55" dirty="0"/>
              <a:t> </a:t>
            </a:r>
            <a:endParaRPr cap="small" spc="-130" dirty="0"/>
          </a:p>
        </p:txBody>
      </p:sp>
      <p:sp>
        <p:nvSpPr>
          <p:cNvPr id="10" name="object 10">
            <a:extLst>
              <a:ext uri="{FF2B5EF4-FFF2-40B4-BE49-F238E27FC236}">
                <a16:creationId xmlns:a16="http://schemas.microsoft.com/office/drawing/2014/main" id="{799D763F-4E25-4B32-CA49-8BF68AD47EC1}"/>
              </a:ext>
            </a:extLst>
          </p:cNvPr>
          <p:cNvSpPr txBox="1"/>
          <p:nvPr/>
        </p:nvSpPr>
        <p:spPr>
          <a:xfrm>
            <a:off x="6858001" y="6629197"/>
            <a:ext cx="4180820"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lang="en-IN" sz="1600" cap="small" spc="-100" dirty="0">
                <a:solidFill>
                  <a:srgbClr val="FFFFFF"/>
                </a:solidFill>
                <a:latin typeface="Times New Roman"/>
                <a:cs typeface="Times New Roman"/>
              </a:rPr>
              <a:t> Technology</a:t>
            </a:r>
            <a:endParaRPr sz="1600" dirty="0">
              <a:latin typeface="Times New Roman"/>
              <a:cs typeface="Times New Roman"/>
            </a:endParaRPr>
          </a:p>
        </p:txBody>
      </p:sp>
      <p:sp>
        <p:nvSpPr>
          <p:cNvPr id="11" name="object 11">
            <a:extLst>
              <a:ext uri="{FF2B5EF4-FFF2-40B4-BE49-F238E27FC236}">
                <a16:creationId xmlns:a16="http://schemas.microsoft.com/office/drawing/2014/main" id="{B8FD2B94-5F8B-DCE9-780E-CE375CB034A0}"/>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3</a:t>
            </a:fld>
            <a:endParaRPr spc="-25" dirty="0"/>
          </a:p>
        </p:txBody>
      </p:sp>
      <p:sp>
        <p:nvSpPr>
          <p:cNvPr id="7" name="object 7">
            <a:extLst>
              <a:ext uri="{FF2B5EF4-FFF2-40B4-BE49-F238E27FC236}">
                <a16:creationId xmlns:a16="http://schemas.microsoft.com/office/drawing/2014/main" id="{E5134579-8FEB-42B0-95A3-CC6AD188EAD1}"/>
              </a:ext>
            </a:extLst>
          </p:cNvPr>
          <p:cNvSpPr txBox="1"/>
          <p:nvPr/>
        </p:nvSpPr>
        <p:spPr>
          <a:xfrm>
            <a:off x="304800" y="959809"/>
            <a:ext cx="11256613" cy="7171515"/>
          </a:xfrm>
          <a:prstGeom prst="rect">
            <a:avLst/>
          </a:prstGeom>
        </p:spPr>
        <p:txBody>
          <a:bodyPr vert="horz" wrap="square" lIns="0" tIns="96520" rIns="0" bIns="0" rtlCol="0">
            <a:spAutoFit/>
          </a:bodyPr>
          <a:lstStyle/>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The title </a:t>
            </a:r>
            <a:r>
              <a:rPr lang="en-US" sz="2400" b="1" dirty="0">
                <a:latin typeface="Times New Roman" panose="02020603050405020304" pitchFamily="18" charset="0"/>
                <a:cs typeface="Times New Roman" panose="02020603050405020304" pitchFamily="18" charset="0"/>
              </a:rPr>
              <a:t>“College Alumni Connect &amp; Management System”</a:t>
            </a:r>
            <a:r>
              <a:rPr lang="en-US" sz="2400" dirty="0">
                <a:latin typeface="Times New Roman" panose="02020603050405020304" pitchFamily="18" charset="0"/>
                <a:cs typeface="Times New Roman" panose="02020603050405020304" pitchFamily="18" charset="0"/>
              </a:rPr>
              <a:t> reflects a platform designed to bridge the gap between alumni and the institution.</a:t>
            </a:r>
          </a:p>
          <a:p>
            <a:pPr marL="342900" indent="-342900">
              <a:buFont typeface="Arial" panose="020B0604020202020204" pitchFamily="34" charset="0"/>
              <a:buChar char="•"/>
            </a:pPr>
            <a:endParaRPr lang="en-US" sz="24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It emphasizes </a:t>
            </a:r>
            <a:r>
              <a:rPr lang="en-US" sz="2400" b="1" dirty="0">
                <a:latin typeface="Times New Roman" panose="02020603050405020304" pitchFamily="18" charset="0"/>
                <a:cs typeface="Times New Roman" panose="02020603050405020304" pitchFamily="18" charset="0"/>
              </a:rPr>
              <a:t>connection</a:t>
            </a:r>
            <a:r>
              <a:rPr lang="en-US" sz="2400" dirty="0">
                <a:latin typeface="Times New Roman" panose="02020603050405020304" pitchFamily="18" charset="0"/>
                <a:cs typeface="Times New Roman" panose="02020603050405020304" pitchFamily="18" charset="0"/>
              </a:rPr>
              <a:t>, enabling past and present students to stay engaged through structured communication channels.</a:t>
            </a:r>
          </a:p>
          <a:p>
            <a:pPr marL="342900" indent="-342900">
              <a:buFont typeface="Arial" panose="020B0604020202020204" pitchFamily="34" charset="0"/>
              <a:buChar char="•"/>
            </a:pPr>
            <a:endParaRPr lang="en-US" sz="24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The term </a:t>
            </a:r>
            <a:r>
              <a:rPr lang="en-US" sz="2400" b="1" dirty="0">
                <a:latin typeface="Times New Roman" panose="02020603050405020304" pitchFamily="18" charset="0"/>
                <a:cs typeface="Times New Roman" panose="02020603050405020304" pitchFamily="18" charset="0"/>
              </a:rPr>
              <a:t>“Management System”</a:t>
            </a:r>
            <a:r>
              <a:rPr lang="en-US" sz="2400" dirty="0">
                <a:latin typeface="Times New Roman" panose="02020603050405020304" pitchFamily="18" charset="0"/>
                <a:cs typeface="Times New Roman" panose="02020603050405020304" pitchFamily="18" charset="0"/>
              </a:rPr>
              <a:t> signifies an organized platform that efficiently handles alumni data, event coordination, communication, contributions, and networking.</a:t>
            </a:r>
          </a:p>
          <a:p>
            <a:pPr marL="342900" indent="-342900">
              <a:buFont typeface="Arial" panose="020B0604020202020204" pitchFamily="34" charset="0"/>
              <a:buChar char="•"/>
            </a:pPr>
            <a:endParaRPr lang="en-US" sz="24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This system supports the college in maintaining long-term relationships, collecting feedback, organizing reunions, and enhancing career support for current students.</a:t>
            </a:r>
          </a:p>
          <a:p>
            <a:pPr marL="342900" indent="-342900">
              <a:buFont typeface="Arial" panose="020B0604020202020204" pitchFamily="34" charset="0"/>
              <a:buChar char="•"/>
            </a:pPr>
            <a:endParaRPr lang="en-US" sz="24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Overall, the title clearly conveys the purpose: </a:t>
            </a:r>
            <a:r>
              <a:rPr lang="en-US" sz="2400" b="1" dirty="0">
                <a:latin typeface="Times New Roman" panose="02020603050405020304" pitchFamily="18" charset="0"/>
                <a:cs typeface="Times New Roman" panose="02020603050405020304" pitchFamily="18" charset="0"/>
              </a:rPr>
              <a:t>a centralized platform for managing, connecting, and empowering the alumni community.</a:t>
            </a:r>
            <a:endParaRPr lang="en-US" sz="2400" dirty="0">
              <a:latin typeface="Times New Roman" panose="02020603050405020304" pitchFamily="18" charset="0"/>
              <a:cs typeface="Times New Roman" panose="02020603050405020304" pitchFamily="18" charset="0"/>
            </a:endParaRPr>
          </a:p>
          <a:p>
            <a:pPr marL="12700">
              <a:lnSpc>
                <a:spcPct val="150000"/>
              </a:lnSpc>
              <a:spcBef>
                <a:spcPts val="760"/>
              </a:spcBef>
              <a:tabLst>
                <a:tab pos="421005" algn="l"/>
              </a:tabLst>
            </a:pPr>
            <a:r>
              <a:rPr lang="en-US" sz="2400" dirty="0"/>
              <a:t>.</a:t>
            </a:r>
          </a:p>
          <a:p>
            <a:pPr marL="12700">
              <a:lnSpc>
                <a:spcPct val="150000"/>
              </a:lnSpc>
              <a:spcBef>
                <a:spcPts val="760"/>
              </a:spcBef>
              <a:tabLst>
                <a:tab pos="421005" algn="l"/>
              </a:tabLst>
            </a:pPr>
            <a:endParaRPr lang="en-US" sz="2400" dirty="0">
              <a:latin typeface="Times New Roman" panose="02020603050405020304" pitchFamily="18" charset="0"/>
              <a:cs typeface="Times New Roman" panose="02020603050405020304" pitchFamily="18" charset="0"/>
            </a:endParaRPr>
          </a:p>
          <a:p>
            <a:pPr marL="12700">
              <a:lnSpc>
                <a:spcPct val="150000"/>
              </a:lnSpc>
              <a:spcBef>
                <a:spcPts val="760"/>
              </a:spcBef>
              <a:tabLst>
                <a:tab pos="421005" algn="l"/>
              </a:tabLst>
            </a:pPr>
            <a:endParaRPr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680458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191000" y="-42477"/>
            <a:ext cx="5943600"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 College Alumni Connect &amp; Management System</a:t>
            </a:r>
            <a:endParaRPr sz="1500" dirty="0">
              <a:latin typeface="Times New Roman"/>
              <a:cs typeface="Times New Roman"/>
            </a:endParaRPr>
          </a:p>
        </p:txBody>
      </p:sp>
      <p:grpSp>
        <p:nvGrpSpPr>
          <p:cNvPr id="3" name="object 3"/>
          <p:cNvGrpSpPr/>
          <p:nvPr/>
        </p:nvGrpSpPr>
        <p:grpSpPr>
          <a:xfrm>
            <a:off x="0" y="201179"/>
            <a:ext cx="12192000" cy="803275"/>
            <a:chOff x="0" y="216720"/>
            <a:chExt cx="12192000" cy="803275"/>
          </a:xfrm>
        </p:grpSpPr>
        <p:pic>
          <p:nvPicPr>
            <p:cNvPr id="4" name="object 4"/>
            <p:cNvPicPr/>
            <p:nvPr/>
          </p:nvPicPr>
          <p:blipFill>
            <a:blip r:embed="rId3"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xfrm>
            <a:off x="100099" y="201179"/>
            <a:ext cx="2032490" cy="689932"/>
          </a:xfrm>
          <a:prstGeom prst="rect">
            <a:avLst/>
          </a:prstGeom>
        </p:spPr>
        <p:txBody>
          <a:bodyPr vert="horz" wrap="square" lIns="0" tIns="12700" rIns="0" bIns="0" rtlCol="0">
            <a:spAutoFit/>
          </a:bodyPr>
          <a:lstStyle/>
          <a:p>
            <a:pPr marL="12700">
              <a:lnSpc>
                <a:spcPct val="100000"/>
              </a:lnSpc>
              <a:spcBef>
                <a:spcPts val="100"/>
              </a:spcBef>
            </a:pPr>
            <a:r>
              <a:rPr lang="en-IN" spc="-10" dirty="0"/>
              <a:t>Abstract</a:t>
            </a:r>
            <a:endParaRPr dirty="0"/>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US" spc="-10" dirty="0"/>
              <a:t>B</a:t>
            </a:r>
            <a:r>
              <a:rPr spc="-10" dirty="0"/>
              <a:t> </a:t>
            </a:r>
            <a:r>
              <a:rPr dirty="0"/>
              <a:t>-</a:t>
            </a:r>
            <a:r>
              <a:rPr spc="-5" dirty="0"/>
              <a:t> </a:t>
            </a:r>
            <a:r>
              <a:rPr lang="en-IN" spc="-25" dirty="0"/>
              <a:t>09</a:t>
            </a:r>
            <a:endParaRPr spc="-25" dirty="0"/>
          </a:p>
        </p:txBody>
      </p:sp>
      <p:sp>
        <p:nvSpPr>
          <p:cNvPr id="9" name="object 9"/>
          <p:cNvSpPr txBox="1">
            <a:spLocks noGrp="1"/>
          </p:cNvSpPr>
          <p:nvPr>
            <p:ph type="dt" sz="half" idx="6"/>
          </p:nvPr>
        </p:nvSpPr>
        <p:spPr>
          <a:xfrm>
            <a:off x="1247734" y="6641281"/>
            <a:ext cx="3891278"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6709022" y="6605614"/>
            <a:ext cx="4235244" cy="230833"/>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4</a:t>
            </a:fld>
            <a:endParaRPr spc="-25" dirty="0"/>
          </a:p>
        </p:txBody>
      </p:sp>
      <p:sp>
        <p:nvSpPr>
          <p:cNvPr id="20" name="Rectangle 9">
            <a:extLst>
              <a:ext uri="{FF2B5EF4-FFF2-40B4-BE49-F238E27FC236}">
                <a16:creationId xmlns:a16="http://schemas.microsoft.com/office/drawing/2014/main" id="{97EC2A09-97B9-7C06-4919-FA993238B682}"/>
              </a:ext>
            </a:extLst>
          </p:cNvPr>
          <p:cNvSpPr>
            <a:spLocks noChangeArrowheads="1"/>
          </p:cNvSpPr>
          <p:nvPr/>
        </p:nvSpPr>
        <p:spPr bwMode="auto">
          <a:xfrm>
            <a:off x="149031" y="1135454"/>
            <a:ext cx="11793245" cy="52629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40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College Alumni Connect and Management System strengthens communication     between Students, Faculty, Staff, Alumni, and Administrators through a unified Student Portal   and Alumni Portal for efficient information sharing.</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Alumni</a:t>
            </a: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can share feedback, update career details, mentor students, and participate in institutional activities, while </a:t>
            </a:r>
            <a:r>
              <a:rPr kumimoji="0" lang="en-US" altLang="en-US"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students and faculty</a:t>
            </a: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can submit feedback, track alumni achievements, and seek academic or career guidance</a:t>
            </a:r>
          </a:p>
          <a:p>
            <a:pPr marL="0" marR="0" lvl="0" indent="0" algn="l" defTabSz="914400" rtl="0" eaLnBrk="0" fontAlgn="base" latinLnBrk="0" hangingPunct="0">
              <a:lnSpc>
                <a:spcPct val="100000"/>
              </a:lnSpc>
              <a:spcBef>
                <a:spcPct val="0"/>
              </a:spcBef>
              <a:spcAft>
                <a:spcPct val="0"/>
              </a:spcAft>
              <a:buClrTx/>
              <a:buSzTx/>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Administrators</a:t>
            </a: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securely manage user data, feedback, and portal configurations through the Admin Panel, ensuring smooth system operation.</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342900" marR="0" lvl="0" indent="-34290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system includes an </a:t>
            </a:r>
            <a:r>
              <a:rPr kumimoji="0" lang="en-US" altLang="en-US"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AI-based Skill Matching Module</a:t>
            </a:r>
            <a:r>
              <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that analyzes student skills and goals, identifies the most relevant alumni, and automatically sends notifications to help students connect with suitable mentors.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62400" y="-29319"/>
            <a:ext cx="4038600" cy="474489"/>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 College Alumni Connect &amp; Management System System</a:t>
            </a:r>
            <a:endParaRPr sz="1500" dirty="0">
              <a:latin typeface="Times New Roman"/>
              <a:cs typeface="Times New Roman"/>
            </a:endParaRPr>
          </a:p>
        </p:txBody>
      </p:sp>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Problem</a:t>
            </a:r>
            <a:r>
              <a:rPr spc="-185" dirty="0"/>
              <a:t> </a:t>
            </a:r>
            <a:r>
              <a:rPr spc="-10" dirty="0"/>
              <a:t>Statement</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US" spc="-10" dirty="0"/>
              <a:t>B</a:t>
            </a:r>
            <a:r>
              <a:rPr spc="-10" dirty="0"/>
              <a:t> </a:t>
            </a:r>
            <a:r>
              <a:rPr dirty="0"/>
              <a:t>-</a:t>
            </a:r>
            <a:r>
              <a:rPr spc="-5" dirty="0"/>
              <a:t> </a:t>
            </a:r>
            <a:r>
              <a:rPr lang="en-IN" spc="-25" dirty="0"/>
              <a:t>09</a:t>
            </a:r>
            <a:endParaRPr spc="-25" dirty="0"/>
          </a:p>
        </p:txBody>
      </p:sp>
      <p:sp>
        <p:nvSpPr>
          <p:cNvPr id="9" name="object 9"/>
          <p:cNvSpPr txBox="1">
            <a:spLocks noGrp="1"/>
          </p:cNvSpPr>
          <p:nvPr>
            <p:ph type="dt" sz="half" idx="6"/>
          </p:nvPr>
        </p:nvSpPr>
        <p:spPr>
          <a:xfrm>
            <a:off x="1262974" y="6629197"/>
            <a:ext cx="4071026" cy="228803"/>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6705600" y="6607175"/>
            <a:ext cx="4223426" cy="228803"/>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5</a:t>
            </a:fld>
            <a:endParaRPr spc="-25" dirty="0"/>
          </a:p>
        </p:txBody>
      </p:sp>
      <p:sp>
        <p:nvSpPr>
          <p:cNvPr id="7" name="object 7"/>
          <p:cNvSpPr txBox="1">
            <a:spLocks noGrp="1"/>
          </p:cNvSpPr>
          <p:nvPr>
            <p:ph type="body" idx="1"/>
          </p:nvPr>
        </p:nvSpPr>
        <p:spPr>
          <a:xfrm>
            <a:off x="149031" y="1166328"/>
            <a:ext cx="11346815" cy="3524042"/>
          </a:xfrm>
          <a:prstGeom prst="rect">
            <a:avLst/>
          </a:prstGeom>
        </p:spPr>
        <p:txBody>
          <a:bodyPr vert="horz" wrap="square" lIns="0" tIns="60960" rIns="0" bIns="0" rtlCol="0">
            <a:spAutoFit/>
          </a:bodyPr>
          <a:lstStyle/>
          <a:p>
            <a:pPr marL="12700" marR="5080">
              <a:lnSpc>
                <a:spcPts val="3020"/>
              </a:lnSpc>
              <a:spcBef>
                <a:spcPts val="480"/>
              </a:spcBef>
              <a:tabLst>
                <a:tab pos="505459" algn="l"/>
                <a:tab pos="2227580" algn="l"/>
                <a:tab pos="4404995" algn="l"/>
                <a:tab pos="4942840" algn="l"/>
                <a:tab pos="6308090" algn="l"/>
                <a:tab pos="7319645" algn="l"/>
                <a:tab pos="7838440" algn="l"/>
                <a:tab pos="9808210" algn="l"/>
                <a:tab pos="10503535" algn="l"/>
              </a:tabLst>
            </a:pPr>
            <a:r>
              <a:rPr lang="en-US" sz="2400" dirty="0"/>
              <a:t>Colleges lack a centralized platform where students, faculty, staff, alumni, and administrators can effectively communicate and share information. Alumni data is often unorganized, making it difficult for students and faculty to access career guidance, mentorship, and institutional updates. Additionally, there is no efficient system to collect, manage, and verify feedback from users across the institution. Due to the absence of real-time interaction tools and structured communication channels, maintaining active alumni engagement becomes challenging. Furthermore, the lack of an AI-based mechanism to analyze student skills and automatically match them with suitable alumni mentors leads to missed opportunities for academic and career development</a:t>
            </a:r>
            <a:r>
              <a:rPr lang="en-US" dirty="0"/>
              <a:t>.</a:t>
            </a:r>
            <a:endParaRPr spc="-1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52800" y="-18836"/>
            <a:ext cx="4495800"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 College Alumni Connect &amp; Management System</a:t>
            </a:r>
            <a:endParaRPr sz="1500" dirty="0">
              <a:latin typeface="Times New Roman"/>
              <a:cs typeface="Times New Roman"/>
            </a:endParaRPr>
          </a:p>
        </p:txBody>
      </p:sp>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tabLst>
                <a:tab pos="3145790" algn="l"/>
              </a:tabLst>
            </a:pPr>
            <a:r>
              <a:rPr dirty="0"/>
              <a:t>Objectives</a:t>
            </a:r>
            <a:r>
              <a:rPr spc="-60" dirty="0"/>
              <a:t> </a:t>
            </a:r>
            <a:r>
              <a:rPr spc="-25" dirty="0"/>
              <a:t>of</a:t>
            </a:r>
            <a:r>
              <a:rPr dirty="0"/>
              <a:t>	</a:t>
            </a:r>
            <a:r>
              <a:rPr spc="-10" dirty="0"/>
              <a:t>Project</a:t>
            </a:r>
          </a:p>
        </p:txBody>
      </p:sp>
      <p:sp>
        <p:nvSpPr>
          <p:cNvPr id="8" name="object 8"/>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US" spc="-10" dirty="0"/>
              <a:t>B</a:t>
            </a:r>
            <a:r>
              <a:rPr spc="-10" dirty="0"/>
              <a:t> </a:t>
            </a:r>
            <a:r>
              <a:rPr dirty="0"/>
              <a:t>-</a:t>
            </a:r>
            <a:r>
              <a:rPr spc="-5" dirty="0"/>
              <a:t> </a:t>
            </a:r>
            <a:r>
              <a:rPr lang="en-IN" spc="-25" dirty="0"/>
              <a:t>09</a:t>
            </a:r>
            <a:endParaRPr spc="-25" dirty="0"/>
          </a:p>
        </p:txBody>
      </p:sp>
      <p:sp>
        <p:nvSpPr>
          <p:cNvPr id="9" name="object 9"/>
          <p:cNvSpPr txBox="1">
            <a:spLocks noGrp="1"/>
          </p:cNvSpPr>
          <p:nvPr>
            <p:ph type="dt" sz="half" idx="6"/>
          </p:nvPr>
        </p:nvSpPr>
        <p:spPr>
          <a:xfrm>
            <a:off x="1773948" y="6629559"/>
            <a:ext cx="40934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7147541" y="6629197"/>
            <a:ext cx="4093451" cy="228803"/>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6</a:t>
            </a:fld>
            <a:endParaRPr spc="-25" dirty="0"/>
          </a:p>
        </p:txBody>
      </p:sp>
      <p:sp>
        <p:nvSpPr>
          <p:cNvPr id="7" name="object 7"/>
          <p:cNvSpPr txBox="1"/>
          <p:nvPr/>
        </p:nvSpPr>
        <p:spPr>
          <a:xfrm>
            <a:off x="272465" y="1110318"/>
            <a:ext cx="11619230" cy="3824060"/>
          </a:xfrm>
          <a:prstGeom prst="rect">
            <a:avLst/>
          </a:prstGeom>
        </p:spPr>
        <p:txBody>
          <a:bodyPr vert="horz" wrap="square" lIns="0" tIns="12700" rIns="0" bIns="0" rtlCol="0">
            <a:spAutoFit/>
          </a:bodyPr>
          <a:lstStyle/>
          <a:p>
            <a:pPr>
              <a:lnSpc>
                <a:spcPct val="150000"/>
              </a:lnSpc>
            </a:pPr>
            <a:r>
              <a:rPr lang="en-US" sz="2400" b="1" dirty="0">
                <a:latin typeface="Times New Roman" panose="02020603050405020304" pitchFamily="18" charset="0"/>
                <a:cs typeface="Times New Roman" panose="02020603050405020304" pitchFamily="18" charset="0"/>
              </a:rPr>
              <a:t>Objective 1:</a:t>
            </a:r>
          </a:p>
          <a:p>
            <a:pPr>
              <a:lnSpc>
                <a:spcPct val="150000"/>
              </a:lnSpc>
            </a:pPr>
            <a:r>
              <a:rPr lang="en-US" sz="2400" dirty="0"/>
              <a:t>To develop a centralized digital platform that enables seamless communication and collaboration among students, faculty, alumni, and administrators</a:t>
            </a:r>
            <a:endParaRPr lang="en-US" sz="2400" b="1" dirty="0">
              <a:latin typeface="Times New Roman" panose="02020603050405020304" pitchFamily="18" charset="0"/>
              <a:cs typeface="Times New Roman" panose="02020603050405020304" pitchFamily="18" charset="0"/>
            </a:endParaRPr>
          </a:p>
          <a:p>
            <a:pPr>
              <a:lnSpc>
                <a:spcPct val="150000"/>
              </a:lnSpc>
            </a:pPr>
            <a:r>
              <a:rPr lang="en-US" sz="2400" b="1" dirty="0">
                <a:latin typeface="Times New Roman" panose="02020603050405020304" pitchFamily="18" charset="0"/>
                <a:cs typeface="Times New Roman" panose="02020603050405020304" pitchFamily="18" charset="0"/>
              </a:rPr>
              <a:t>Objective 2:</a:t>
            </a:r>
          </a:p>
          <a:p>
            <a:pPr>
              <a:lnSpc>
                <a:spcPct val="150000"/>
              </a:lnSpc>
            </a:pPr>
            <a:r>
              <a:rPr lang="en-US" sz="2400" dirty="0"/>
              <a:t>To organize and maintain a structured alumni database while providing tools for mentorship, feedback collection, and real-time engagement between alumni and the institution</a:t>
            </a:r>
            <a:endParaRPr lang="en-US" sz="2400" b="1"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92794" y="-45123"/>
            <a:ext cx="6806310" cy="243656"/>
          </a:xfrm>
          <a:prstGeom prst="rect">
            <a:avLst/>
          </a:prstGeom>
        </p:spPr>
        <p:txBody>
          <a:bodyPr vert="horz" wrap="square" lIns="0" tIns="12700" rIns="0" bIns="0" rtlCol="0">
            <a:spAutoFit/>
          </a:bodyPr>
          <a:lstStyle/>
          <a:p>
            <a:pPr marL="12700">
              <a:lnSpc>
                <a:spcPct val="100000"/>
              </a:lnSpc>
              <a:spcBef>
                <a:spcPts val="100"/>
              </a:spcBef>
            </a:pPr>
            <a:r>
              <a:rPr lang="en-IN" sz="1500" b="1" i="1" spc="-10" dirty="0">
                <a:solidFill>
                  <a:srgbClr val="FFFFFF"/>
                </a:solidFill>
              </a:rPr>
              <a:t>                                    </a:t>
            </a:r>
            <a:r>
              <a:rPr lang="en-IN" sz="1500" b="1" i="1" dirty="0">
                <a:solidFill>
                  <a:srgbClr val="FFFFFF"/>
                </a:solidFill>
              </a:rPr>
              <a:t> College Alumni Connect &amp; Management System</a:t>
            </a:r>
            <a:endParaRPr sz="1500" dirty="0">
              <a:latin typeface="Times New Roman"/>
              <a:cs typeface="Times New Roman"/>
            </a:endParaRPr>
          </a:p>
        </p:txBody>
      </p:sp>
      <p:grpSp>
        <p:nvGrpSpPr>
          <p:cNvPr id="3" name="object 3"/>
          <p:cNvGrpSpPr/>
          <p:nvPr/>
        </p:nvGrpSpPr>
        <p:grpSpPr>
          <a:xfrm>
            <a:off x="0" y="232028"/>
            <a:ext cx="12192000" cy="787655"/>
            <a:chOff x="0" y="216408"/>
            <a:chExt cx="12192000" cy="803275"/>
          </a:xfrm>
        </p:grpSpPr>
        <p:pic>
          <p:nvPicPr>
            <p:cNvPr id="4" name="object 4"/>
            <p:cNvPicPr/>
            <p:nvPr/>
          </p:nvPicPr>
          <p:blipFill>
            <a:blip r:embed="rId3" cstate="print"/>
            <a:stretch>
              <a:fillRect/>
            </a:stretch>
          </p:blipFill>
          <p:spPr>
            <a:xfrm>
              <a:off x="0" y="216408"/>
              <a:ext cx="12192000" cy="803148"/>
            </a:xfrm>
            <a:prstGeom prst="rect">
              <a:avLst/>
            </a:prstGeom>
          </p:spPr>
        </p:pic>
        <p:sp>
          <p:nvSpPr>
            <p:cNvPr id="5" name="object 5"/>
            <p:cNvSpPr/>
            <p:nvPr/>
          </p:nvSpPr>
          <p:spPr>
            <a:xfrm>
              <a:off x="0" y="233159"/>
              <a:ext cx="12192000" cy="715010"/>
            </a:xfrm>
            <a:custGeom>
              <a:avLst/>
              <a:gdLst/>
              <a:ahLst/>
              <a:cxnLst/>
              <a:rect l="l" t="t" r="r" b="b"/>
              <a:pathLst>
                <a:path w="12192000" h="715010">
                  <a:moveTo>
                    <a:pt x="12192000" y="0"/>
                  </a:moveTo>
                  <a:lnTo>
                    <a:pt x="0" y="0"/>
                  </a:lnTo>
                  <a:lnTo>
                    <a:pt x="0" y="714387"/>
                  </a:lnTo>
                  <a:lnTo>
                    <a:pt x="12192000" y="714387"/>
                  </a:lnTo>
                  <a:lnTo>
                    <a:pt x="12192000" y="0"/>
                  </a:lnTo>
                  <a:close/>
                </a:path>
              </a:pathLst>
            </a:custGeom>
            <a:solidFill>
              <a:srgbClr val="FF6600"/>
            </a:solidFill>
          </p:spPr>
          <p:txBody>
            <a:bodyPr wrap="square" lIns="0" tIns="0" rIns="0" bIns="0" rtlCol="0"/>
            <a:lstStyle/>
            <a:p>
              <a:endParaRPr/>
            </a:p>
          </p:txBody>
        </p:sp>
      </p:grpSp>
      <p:sp>
        <p:nvSpPr>
          <p:cNvPr id="6" name="object 6"/>
          <p:cNvSpPr txBox="1"/>
          <p:nvPr/>
        </p:nvSpPr>
        <p:spPr>
          <a:xfrm>
            <a:off x="133908" y="232028"/>
            <a:ext cx="3936365" cy="696595"/>
          </a:xfrm>
          <a:prstGeom prst="rect">
            <a:avLst/>
          </a:prstGeom>
        </p:spPr>
        <p:txBody>
          <a:bodyPr vert="horz" wrap="square" lIns="0" tIns="12700" rIns="0" bIns="0" rtlCol="0">
            <a:spAutoFit/>
          </a:bodyPr>
          <a:lstStyle/>
          <a:p>
            <a:pPr marL="12700">
              <a:lnSpc>
                <a:spcPct val="100000"/>
              </a:lnSpc>
              <a:spcBef>
                <a:spcPts val="100"/>
              </a:spcBef>
            </a:pPr>
            <a:r>
              <a:rPr sz="4400" dirty="0">
                <a:solidFill>
                  <a:srgbClr val="FFFFFF"/>
                </a:solidFill>
                <a:latin typeface="Times New Roman"/>
                <a:cs typeface="Times New Roman"/>
              </a:rPr>
              <a:t>Literature</a:t>
            </a:r>
            <a:r>
              <a:rPr sz="4400" spc="-100" dirty="0">
                <a:solidFill>
                  <a:srgbClr val="FFFFFF"/>
                </a:solidFill>
                <a:latin typeface="Times New Roman"/>
                <a:cs typeface="Times New Roman"/>
              </a:rPr>
              <a:t> </a:t>
            </a:r>
            <a:r>
              <a:rPr sz="4400" spc="-10" dirty="0">
                <a:solidFill>
                  <a:srgbClr val="FFFFFF"/>
                </a:solidFill>
                <a:latin typeface="Times New Roman"/>
                <a:cs typeface="Times New Roman"/>
              </a:rPr>
              <a:t>Survey</a:t>
            </a:r>
            <a:endParaRPr sz="4400" dirty="0">
              <a:latin typeface="Times New Roman"/>
              <a:cs typeface="Times New Roman"/>
            </a:endParaRPr>
          </a:p>
        </p:txBody>
      </p:sp>
      <p:sp>
        <p:nvSpPr>
          <p:cNvPr id="8" name="object 8"/>
          <p:cNvSpPr txBox="1"/>
          <p:nvPr/>
        </p:nvSpPr>
        <p:spPr>
          <a:xfrm>
            <a:off x="140614" y="6608595"/>
            <a:ext cx="535305" cy="230832"/>
          </a:xfrm>
          <a:prstGeom prst="rect">
            <a:avLst/>
          </a:prstGeom>
        </p:spPr>
        <p:txBody>
          <a:bodyPr vert="horz" wrap="square" lIns="0" tIns="0" rIns="0" bIns="0" rtlCol="0">
            <a:spAutoFit/>
          </a:bodyPr>
          <a:lstStyle/>
          <a:p>
            <a:pPr marL="12700">
              <a:lnSpc>
                <a:spcPts val="1839"/>
              </a:lnSpc>
            </a:pPr>
            <a:r>
              <a:rPr lang="en-IN" sz="1600" dirty="0">
                <a:solidFill>
                  <a:srgbClr val="FFFFFF"/>
                </a:solidFill>
                <a:latin typeface="Times New Roman"/>
                <a:cs typeface="Times New Roman"/>
              </a:rPr>
              <a:t>B -09</a:t>
            </a:r>
            <a:endParaRPr sz="1600" dirty="0">
              <a:latin typeface="Times New Roman"/>
              <a:cs typeface="Times New Roman"/>
            </a:endParaRPr>
          </a:p>
        </p:txBody>
      </p:sp>
      <p:sp>
        <p:nvSpPr>
          <p:cNvPr id="9" name="object 9"/>
          <p:cNvSpPr txBox="1">
            <a:spLocks noGrp="1"/>
          </p:cNvSpPr>
          <p:nvPr>
            <p:ph type="ftr" sz="quarter" idx="5"/>
          </p:nvPr>
        </p:nvSpPr>
        <p:spPr>
          <a:xfrm>
            <a:off x="1121765" y="6607681"/>
            <a:ext cx="4474184" cy="230832"/>
          </a:xfrm>
          <a:prstGeom prst="rect">
            <a:avLst/>
          </a:prstGeom>
        </p:spPr>
        <p:txBody>
          <a:bodyPr vert="horz" wrap="square" lIns="0" tIns="0" rIns="0" bIns="0" rtlCol="0">
            <a:spAutoFit/>
          </a:bodyPr>
          <a:lstStyle/>
          <a:p>
            <a:pPr marL="12700">
              <a:lnSpc>
                <a:spcPts val="1839"/>
              </a:lnSpc>
            </a:pPr>
            <a:r>
              <a:rPr cap="small" spc="-70" dirty="0"/>
              <a:t>Dept.</a:t>
            </a:r>
            <a:r>
              <a:rPr cap="small" spc="-130" dirty="0"/>
              <a:t> </a:t>
            </a:r>
            <a:r>
              <a:rPr cap="small" dirty="0"/>
              <a:t>of</a:t>
            </a:r>
            <a:r>
              <a:rPr cap="small" spc="55" dirty="0"/>
              <a:t> </a:t>
            </a:r>
            <a:r>
              <a:rPr cap="small" spc="-95" dirty="0"/>
              <a:t>Computer</a:t>
            </a:r>
            <a:r>
              <a:rPr cap="small" spc="45" dirty="0"/>
              <a:t> </a:t>
            </a:r>
            <a:r>
              <a:rPr cap="small" spc="-75" dirty="0"/>
              <a:t>Science</a:t>
            </a:r>
            <a:r>
              <a:rPr cap="small" spc="15" dirty="0"/>
              <a:t> </a:t>
            </a:r>
            <a:r>
              <a:rPr cap="small" spc="-40" dirty="0"/>
              <a:t>and</a:t>
            </a:r>
            <a:r>
              <a:rPr cap="small" spc="45" dirty="0"/>
              <a:t> </a:t>
            </a:r>
            <a:r>
              <a:rPr cap="small" spc="-90" dirty="0"/>
              <a:t>Engineering</a:t>
            </a:r>
            <a:r>
              <a:rPr cap="small" spc="-50" dirty="0"/>
              <a:t> </a:t>
            </a:r>
            <a:endParaRPr cap="small" spc="-125" dirty="0"/>
          </a:p>
        </p:txBody>
      </p:sp>
      <p:sp>
        <p:nvSpPr>
          <p:cNvPr id="10" name="object 10"/>
          <p:cNvSpPr txBox="1">
            <a:spLocks noGrp="1"/>
          </p:cNvSpPr>
          <p:nvPr>
            <p:ph type="dt" sz="half" idx="6"/>
          </p:nvPr>
        </p:nvSpPr>
        <p:spPr>
          <a:xfrm>
            <a:off x="6249315" y="6611112"/>
            <a:ext cx="4800600" cy="235549"/>
          </a:xfrm>
          <a:prstGeom prst="rect">
            <a:avLst/>
          </a:prstGeom>
        </p:spPr>
        <p:txBody>
          <a:bodyPr vert="horz" wrap="square" lIns="0" tIns="0" rIns="0" bIns="0" rtlCol="0">
            <a:spAutoFit/>
          </a:bodyPr>
          <a:lstStyle/>
          <a:p>
            <a:pPr marL="509270">
              <a:lnSpc>
                <a:spcPts val="1839"/>
              </a:lnSpc>
            </a:pPr>
            <a:r>
              <a:rPr lang="en-IN" cap="small" spc="-85" dirty="0"/>
              <a:t>Srinivasa</a:t>
            </a:r>
            <a:r>
              <a:rPr lang="en-IN" cap="small" spc="-10" dirty="0"/>
              <a:t> </a:t>
            </a:r>
            <a:r>
              <a:rPr lang="en-IN" cap="small" spc="-95" dirty="0"/>
              <a:t>Ramanujan</a:t>
            </a:r>
            <a:r>
              <a:rPr lang="en-IN" cap="small" spc="-20" dirty="0"/>
              <a:t> </a:t>
            </a:r>
            <a:r>
              <a:rPr lang="en-IN" cap="small" spc="-95" dirty="0"/>
              <a:t>Institute</a:t>
            </a:r>
            <a:r>
              <a:rPr lang="en-IN" cap="small" spc="80" dirty="0"/>
              <a:t> </a:t>
            </a:r>
            <a:r>
              <a:rPr lang="en-IN" cap="small" dirty="0"/>
              <a:t>of</a:t>
            </a:r>
            <a:r>
              <a:rPr lang="en-IN" cap="small" spc="145" dirty="0"/>
              <a:t> </a:t>
            </a:r>
            <a:r>
              <a:rPr lang="en-IN" cap="small" spc="-155" dirty="0"/>
              <a:t>Technology</a:t>
            </a:r>
            <a:endParaRPr cap="small" spc="-155" dirty="0"/>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38100">
              <a:lnSpc>
                <a:spcPts val="1839"/>
              </a:lnSpc>
            </a:pPr>
            <a:fld id="{81D60167-4931-47E6-BA6A-407CBD079E47}" type="slidenum">
              <a:rPr spc="-25" dirty="0"/>
              <a:t>7</a:t>
            </a:fld>
            <a:endParaRPr spc="-25" dirty="0"/>
          </a:p>
        </p:txBody>
      </p:sp>
      <p:graphicFrame>
        <p:nvGraphicFramePr>
          <p:cNvPr id="7" name="object 7"/>
          <p:cNvGraphicFramePr>
            <a:graphicFrameLocks noGrp="1"/>
          </p:cNvGraphicFramePr>
          <p:nvPr>
            <p:extLst>
              <p:ext uri="{D42A27DB-BD31-4B8C-83A1-F6EECF244321}">
                <p14:modId xmlns:p14="http://schemas.microsoft.com/office/powerpoint/2010/main" val="3676507914"/>
              </p:ext>
            </p:extLst>
          </p:nvPr>
        </p:nvGraphicFramePr>
        <p:xfrm>
          <a:off x="228601" y="1035983"/>
          <a:ext cx="11277597" cy="5394978"/>
        </p:xfrm>
        <a:graphic>
          <a:graphicData uri="http://schemas.openxmlformats.org/drawingml/2006/table">
            <a:tbl>
              <a:tblPr firstRow="1" bandRow="1">
                <a:tableStyleId>{2D5ABB26-0587-4C30-8999-92F81FD0307C}</a:tableStyleId>
              </a:tblPr>
              <a:tblGrid>
                <a:gridCol w="317299">
                  <a:extLst>
                    <a:ext uri="{9D8B030D-6E8A-4147-A177-3AD203B41FA5}">
                      <a16:colId xmlns:a16="http://schemas.microsoft.com/office/drawing/2014/main" val="20000"/>
                    </a:ext>
                  </a:extLst>
                </a:gridCol>
                <a:gridCol w="1567082">
                  <a:extLst>
                    <a:ext uri="{9D8B030D-6E8A-4147-A177-3AD203B41FA5}">
                      <a16:colId xmlns:a16="http://schemas.microsoft.com/office/drawing/2014/main" val="20002"/>
                    </a:ext>
                  </a:extLst>
                </a:gridCol>
                <a:gridCol w="1567082">
                  <a:extLst>
                    <a:ext uri="{9D8B030D-6E8A-4147-A177-3AD203B41FA5}">
                      <a16:colId xmlns:a16="http://schemas.microsoft.com/office/drawing/2014/main" val="3933858423"/>
                    </a:ext>
                  </a:extLst>
                </a:gridCol>
                <a:gridCol w="1588255">
                  <a:extLst>
                    <a:ext uri="{9D8B030D-6E8A-4147-A177-3AD203B41FA5}">
                      <a16:colId xmlns:a16="http://schemas.microsoft.com/office/drawing/2014/main" val="20003"/>
                    </a:ext>
                  </a:extLst>
                </a:gridCol>
                <a:gridCol w="1879760">
                  <a:extLst>
                    <a:ext uri="{9D8B030D-6E8A-4147-A177-3AD203B41FA5}">
                      <a16:colId xmlns:a16="http://schemas.microsoft.com/office/drawing/2014/main" val="20004"/>
                    </a:ext>
                  </a:extLst>
                </a:gridCol>
                <a:gridCol w="2346328">
                  <a:extLst>
                    <a:ext uri="{9D8B030D-6E8A-4147-A177-3AD203B41FA5}">
                      <a16:colId xmlns:a16="http://schemas.microsoft.com/office/drawing/2014/main" val="20005"/>
                    </a:ext>
                  </a:extLst>
                </a:gridCol>
                <a:gridCol w="2011791">
                  <a:extLst>
                    <a:ext uri="{9D8B030D-6E8A-4147-A177-3AD203B41FA5}">
                      <a16:colId xmlns:a16="http://schemas.microsoft.com/office/drawing/2014/main" val="20006"/>
                    </a:ext>
                  </a:extLst>
                </a:gridCol>
              </a:tblGrid>
              <a:tr h="493269">
                <a:tc>
                  <a:txBody>
                    <a:bodyPr/>
                    <a:lstStyle/>
                    <a:p>
                      <a:pPr marL="85090">
                        <a:lnSpc>
                          <a:spcPts val="2150"/>
                        </a:lnSpc>
                      </a:pPr>
                      <a:r>
                        <a:rPr lang="en-IN" sz="1700" b="1" spc="-25" dirty="0">
                          <a:solidFill>
                            <a:srgbClr val="FFFFFF"/>
                          </a:solidFill>
                          <a:latin typeface="Calibri"/>
                          <a:cs typeface="Calibri"/>
                        </a:rPr>
                        <a:t>No</a:t>
                      </a:r>
                      <a:endParaRPr lang="en-IN" sz="1700" dirty="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5B9BD2"/>
                    </a:solidFill>
                  </a:tcPr>
                </a:tc>
                <a:tc>
                  <a:txBody>
                    <a:bodyPr/>
                    <a:lstStyle/>
                    <a:p>
                      <a:pPr marL="85090">
                        <a:lnSpc>
                          <a:spcPts val="2150"/>
                        </a:lnSpc>
                      </a:pPr>
                      <a:r>
                        <a:rPr lang="en-IN" sz="1700" b="1" spc="-10" dirty="0">
                          <a:solidFill>
                            <a:srgbClr val="FFFFFF"/>
                          </a:solidFill>
                          <a:latin typeface="Calibri"/>
                          <a:cs typeface="Calibri"/>
                        </a:rPr>
                        <a:t>Title</a:t>
                      </a:r>
                      <a:endParaRPr lang="en-IN" sz="1700" dirty="0">
                        <a:latin typeface="Calibri"/>
                        <a:cs typeface="Calibri"/>
                      </a:endParaRPr>
                    </a:p>
                  </a:txBody>
                  <a:tcPr marL="0" marR="0" marT="0" marB="0">
                    <a:lnL w="12700" cap="flat" cmpd="sng" algn="ctr">
                      <a:solidFill>
                        <a:srgbClr val="FFFFFF"/>
                      </a:solidFill>
                      <a:prstDash val="solid"/>
                      <a:round/>
                      <a:headEnd type="none" w="med" len="med"/>
                      <a:tailEnd type="none" w="med" len="med"/>
                    </a:lnL>
                    <a:lnR w="12700">
                      <a:solidFill>
                        <a:srgbClr val="FFFFFF"/>
                      </a:solidFill>
                      <a:prstDash val="solid"/>
                    </a:lnR>
                    <a:lnT w="12700">
                      <a:solidFill>
                        <a:srgbClr val="FFFFFF"/>
                      </a:solidFill>
                      <a:prstDash val="solid"/>
                    </a:lnT>
                    <a:lnB w="38100" cap="flat" cmpd="sng" algn="ctr">
                      <a:solidFill>
                        <a:srgbClr val="FFFFFF"/>
                      </a:solidFill>
                      <a:prstDash val="solid"/>
                      <a:round/>
                      <a:headEnd type="none" w="med" len="med"/>
                      <a:tailEnd type="none" w="med" len="med"/>
                    </a:lnB>
                    <a:solidFill>
                      <a:srgbClr val="5B9BD2"/>
                    </a:solidFill>
                  </a:tcPr>
                </a:tc>
                <a:tc>
                  <a:txBody>
                    <a:bodyPr/>
                    <a:lstStyle/>
                    <a:p>
                      <a:pPr marL="85090">
                        <a:lnSpc>
                          <a:spcPts val="2150"/>
                        </a:lnSpc>
                      </a:pPr>
                      <a:r>
                        <a:rPr lang="en-US" sz="1700" dirty="0">
                          <a:solidFill>
                            <a:srgbClr val="FFFFFF"/>
                          </a:solidFill>
                          <a:latin typeface="Calibri"/>
                          <a:cs typeface="Calibri"/>
                        </a:rPr>
                        <a:t>Author</a:t>
                      </a:r>
                      <a:endParaRPr lang="en-IN" sz="1700" dirty="0">
                        <a:solidFill>
                          <a:srgbClr val="FFFFFF"/>
                        </a:solidFill>
                        <a:latin typeface="Calibri"/>
                        <a:cs typeface="Calibri"/>
                      </a:endParaRPr>
                    </a:p>
                  </a:txBody>
                  <a:tcPr marL="0" marR="0" marT="0" marB="0">
                    <a:lnL w="12700" cap="flat" cmpd="sng" algn="ctr">
                      <a:solidFill>
                        <a:srgbClr val="FFFFFF"/>
                      </a:solidFill>
                      <a:prstDash val="solid"/>
                      <a:round/>
                      <a:headEnd type="none" w="med" len="med"/>
                      <a:tailEnd type="none" w="med" len="med"/>
                    </a:lnL>
                    <a:lnR w="12700">
                      <a:solidFill>
                        <a:srgbClr val="FFFFFF"/>
                      </a:solidFill>
                      <a:prstDash val="solid"/>
                    </a:lnR>
                    <a:lnT w="12700">
                      <a:solidFill>
                        <a:srgbClr val="FFFFFF"/>
                      </a:solidFill>
                      <a:prstDash val="solid"/>
                    </a:lnT>
                    <a:lnB w="38100" cap="flat" cmpd="sng" algn="ctr">
                      <a:solidFill>
                        <a:srgbClr val="FFFFFF"/>
                      </a:solidFill>
                      <a:prstDash val="solid"/>
                      <a:round/>
                      <a:headEnd type="none" w="med" len="med"/>
                      <a:tailEnd type="none" w="med" len="med"/>
                    </a:lnB>
                    <a:solidFill>
                      <a:srgbClr val="5B9BD2"/>
                    </a:solidFill>
                  </a:tcPr>
                </a:tc>
                <a:tc>
                  <a:txBody>
                    <a:bodyPr/>
                    <a:lstStyle/>
                    <a:p>
                      <a:pPr marL="85725" marR="137795">
                        <a:lnSpc>
                          <a:spcPts val="2160"/>
                        </a:lnSpc>
                        <a:spcBef>
                          <a:spcPts val="60"/>
                        </a:spcBef>
                      </a:pPr>
                      <a:r>
                        <a:rPr lang="en-IN" sz="1700" b="1">
                          <a:solidFill>
                            <a:srgbClr val="FFFFFF"/>
                          </a:solidFill>
                          <a:latin typeface="Calibri"/>
                          <a:cs typeface="Calibri"/>
                        </a:rPr>
                        <a:t>Journal</a:t>
                      </a:r>
                      <a:r>
                        <a:rPr lang="en-IN" sz="1700" b="1" spc="-75">
                          <a:solidFill>
                            <a:srgbClr val="FFFFFF"/>
                          </a:solidFill>
                          <a:latin typeface="Calibri"/>
                          <a:cs typeface="Calibri"/>
                        </a:rPr>
                        <a:t> </a:t>
                      </a:r>
                      <a:r>
                        <a:rPr lang="en-IN" sz="1700" b="1" spc="-30">
                          <a:solidFill>
                            <a:srgbClr val="FFFFFF"/>
                          </a:solidFill>
                          <a:latin typeface="Calibri"/>
                          <a:cs typeface="Calibri"/>
                        </a:rPr>
                        <a:t>Name </a:t>
                      </a:r>
                      <a:r>
                        <a:rPr lang="en-IN" sz="1700" b="1">
                          <a:solidFill>
                            <a:srgbClr val="FFFFFF"/>
                          </a:solidFill>
                          <a:latin typeface="Calibri"/>
                          <a:cs typeface="Calibri"/>
                        </a:rPr>
                        <a:t>&amp;</a:t>
                      </a:r>
                      <a:r>
                        <a:rPr lang="en-IN" sz="1700" b="1" spc="-10">
                          <a:solidFill>
                            <a:srgbClr val="FFFFFF"/>
                          </a:solidFill>
                          <a:latin typeface="Calibri"/>
                          <a:cs typeface="Calibri"/>
                        </a:rPr>
                        <a:t> </a:t>
                      </a:r>
                      <a:r>
                        <a:rPr lang="en-IN" sz="1700" b="1" spc="-20">
                          <a:solidFill>
                            <a:srgbClr val="FFFFFF"/>
                          </a:solidFill>
                          <a:latin typeface="Calibri"/>
                          <a:cs typeface="Calibri"/>
                        </a:rPr>
                        <a:t>Year</a:t>
                      </a:r>
                      <a:endParaRPr lang="en-IN" sz="1700">
                        <a:latin typeface="Calibri"/>
                        <a:cs typeface="Calibri"/>
                      </a:endParaRPr>
                    </a:p>
                  </a:txBody>
                  <a:tcPr marL="0" marR="0" marT="6785" marB="0">
                    <a:lnL w="12700">
                      <a:solidFill>
                        <a:srgbClr val="FFFFFF"/>
                      </a:solidFill>
                      <a:prstDash val="solid"/>
                    </a:lnL>
                    <a:lnR w="12700">
                      <a:solidFill>
                        <a:srgbClr val="FFFFFF"/>
                      </a:solidFill>
                      <a:prstDash val="solid"/>
                    </a:lnR>
                    <a:lnT w="12700">
                      <a:solidFill>
                        <a:srgbClr val="FFFFFF"/>
                      </a:solidFill>
                      <a:prstDash val="solid"/>
                    </a:lnT>
                    <a:lnB w="38100" cap="flat" cmpd="sng" algn="ctr">
                      <a:solidFill>
                        <a:srgbClr val="FFFFFF"/>
                      </a:solidFill>
                      <a:prstDash val="solid"/>
                      <a:round/>
                      <a:headEnd type="none" w="med" len="med"/>
                      <a:tailEnd type="none" w="med" len="med"/>
                    </a:lnB>
                    <a:solidFill>
                      <a:srgbClr val="5B9BD2"/>
                    </a:solidFill>
                  </a:tcPr>
                </a:tc>
                <a:tc>
                  <a:txBody>
                    <a:bodyPr/>
                    <a:lstStyle/>
                    <a:p>
                      <a:pPr marL="85725" marR="513715">
                        <a:lnSpc>
                          <a:spcPts val="2160"/>
                        </a:lnSpc>
                        <a:spcBef>
                          <a:spcPts val="60"/>
                        </a:spcBef>
                      </a:pPr>
                      <a:r>
                        <a:rPr lang="en-IN" sz="1700" b="1" spc="-10">
                          <a:solidFill>
                            <a:srgbClr val="FFFFFF"/>
                          </a:solidFill>
                          <a:latin typeface="Calibri"/>
                          <a:cs typeface="Calibri"/>
                        </a:rPr>
                        <a:t>Methodology Adapted</a:t>
                      </a:r>
                      <a:endParaRPr lang="en-IN" sz="1700">
                        <a:latin typeface="Calibri"/>
                        <a:cs typeface="Calibri"/>
                      </a:endParaRPr>
                    </a:p>
                  </a:txBody>
                  <a:tcPr marL="0" marR="0" marT="6785" marB="0">
                    <a:lnL w="12700">
                      <a:solidFill>
                        <a:srgbClr val="FFFFFF"/>
                      </a:solidFill>
                      <a:prstDash val="solid"/>
                    </a:lnL>
                    <a:lnR w="12700">
                      <a:solidFill>
                        <a:srgbClr val="FFFFFF"/>
                      </a:solidFill>
                      <a:prstDash val="solid"/>
                    </a:lnR>
                    <a:lnT w="12700">
                      <a:solidFill>
                        <a:srgbClr val="FFFFFF"/>
                      </a:solidFill>
                      <a:prstDash val="solid"/>
                    </a:lnT>
                    <a:lnB w="38100" cap="flat" cmpd="sng" algn="ctr">
                      <a:solidFill>
                        <a:srgbClr val="FFFFFF"/>
                      </a:solidFill>
                      <a:prstDash val="solid"/>
                      <a:round/>
                      <a:headEnd type="none" w="med" len="med"/>
                      <a:tailEnd type="none" w="med" len="med"/>
                    </a:lnB>
                    <a:solidFill>
                      <a:srgbClr val="5B9BD2"/>
                    </a:solidFill>
                  </a:tcPr>
                </a:tc>
                <a:tc>
                  <a:txBody>
                    <a:bodyPr/>
                    <a:lstStyle/>
                    <a:p>
                      <a:pPr marL="85725">
                        <a:lnSpc>
                          <a:spcPts val="2150"/>
                        </a:lnSpc>
                      </a:pPr>
                      <a:r>
                        <a:rPr lang="en-IN" sz="1700" b="1">
                          <a:solidFill>
                            <a:srgbClr val="FFFFFF"/>
                          </a:solidFill>
                          <a:latin typeface="Calibri"/>
                          <a:cs typeface="Calibri"/>
                        </a:rPr>
                        <a:t>Key</a:t>
                      </a:r>
                      <a:r>
                        <a:rPr lang="en-IN" sz="1700" b="1" spc="-40">
                          <a:solidFill>
                            <a:srgbClr val="FFFFFF"/>
                          </a:solidFill>
                          <a:latin typeface="Calibri"/>
                          <a:cs typeface="Calibri"/>
                        </a:rPr>
                        <a:t> </a:t>
                      </a:r>
                      <a:r>
                        <a:rPr lang="en-IN" sz="1700" b="1" spc="-10">
                          <a:solidFill>
                            <a:srgbClr val="FFFFFF"/>
                          </a:solidFill>
                          <a:latin typeface="Calibri"/>
                          <a:cs typeface="Calibri"/>
                        </a:rPr>
                        <a:t>Findings</a:t>
                      </a:r>
                      <a:endParaRPr lang="en-IN" sz="170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38100" cap="flat" cmpd="sng" algn="ctr">
                      <a:solidFill>
                        <a:srgbClr val="FFFFFF"/>
                      </a:solidFill>
                      <a:prstDash val="solid"/>
                      <a:round/>
                      <a:headEnd type="none" w="med" len="med"/>
                      <a:tailEnd type="none" w="med" len="med"/>
                    </a:lnB>
                    <a:solidFill>
                      <a:srgbClr val="5B9BD2"/>
                    </a:solidFill>
                  </a:tcPr>
                </a:tc>
                <a:tc>
                  <a:txBody>
                    <a:bodyPr/>
                    <a:lstStyle/>
                    <a:p>
                      <a:pPr marL="87630">
                        <a:lnSpc>
                          <a:spcPts val="2150"/>
                        </a:lnSpc>
                      </a:pPr>
                      <a:r>
                        <a:rPr lang="en-IN" sz="1700" b="1" spc="-20">
                          <a:solidFill>
                            <a:srgbClr val="FFFFFF"/>
                          </a:solidFill>
                          <a:latin typeface="Calibri"/>
                          <a:cs typeface="Calibri"/>
                        </a:rPr>
                        <a:t>Gaps</a:t>
                      </a:r>
                      <a:endParaRPr lang="en-IN" sz="1700">
                        <a:latin typeface="Calibri"/>
                        <a:cs typeface="Calibri"/>
                      </a:endParaRPr>
                    </a:p>
                  </a:txBody>
                  <a:tcPr marL="0" marR="0" marT="0" marB="0">
                    <a:lnL w="12700">
                      <a:solidFill>
                        <a:srgbClr val="FFFFFF"/>
                      </a:solidFill>
                      <a:prstDash val="solid"/>
                    </a:lnL>
                    <a:lnR w="12700">
                      <a:solidFill>
                        <a:srgbClr val="FFFFFF"/>
                      </a:solidFill>
                      <a:prstDash val="solid"/>
                    </a:lnR>
                    <a:lnT w="12700">
                      <a:solidFill>
                        <a:srgbClr val="FFFFFF"/>
                      </a:solidFill>
                      <a:prstDash val="solid"/>
                    </a:lnT>
                    <a:lnB w="38100" cap="flat" cmpd="sng" algn="ctr">
                      <a:solidFill>
                        <a:srgbClr val="FFFFFF"/>
                      </a:solidFill>
                      <a:prstDash val="solid"/>
                      <a:round/>
                      <a:headEnd type="none" w="med" len="med"/>
                      <a:tailEnd type="none" w="med" len="med"/>
                    </a:lnB>
                    <a:solidFill>
                      <a:srgbClr val="5B9BD2"/>
                    </a:solidFill>
                  </a:tcPr>
                </a:tc>
                <a:extLst>
                  <a:ext uri="{0D108BD9-81ED-4DB2-BD59-A6C34878D82A}">
                    <a16:rowId xmlns:a16="http://schemas.microsoft.com/office/drawing/2014/main" val="10000"/>
                  </a:ext>
                </a:extLst>
              </a:tr>
              <a:tr h="1398571">
                <a:tc>
                  <a:txBody>
                    <a:bodyPr/>
                    <a:lstStyle/>
                    <a:p>
                      <a:pPr marL="85090">
                        <a:lnSpc>
                          <a:spcPts val="2155"/>
                        </a:lnSpc>
                      </a:pPr>
                      <a:r>
                        <a:rPr lang="en-IN" sz="1700" spc="-25" dirty="0">
                          <a:latin typeface="Calibri"/>
                          <a:cs typeface="Calibri"/>
                        </a:rPr>
                        <a:t>1.</a:t>
                      </a:r>
                      <a:endParaRPr lang="en-IN" sz="1700" dirty="0">
                        <a:latin typeface="Calibri"/>
                        <a:cs typeface="Calibri"/>
                      </a:endParaRPr>
                    </a:p>
                  </a:txBody>
                  <a:tcPr marL="0" marR="0" marT="0" marB="0">
                    <a:lnL w="12700">
                      <a:solidFill>
                        <a:srgbClr val="FFFFFF"/>
                      </a:solidFill>
                      <a:prstDash val="solid"/>
                    </a:lnL>
                    <a:lnR w="12700" cap="flat" cmpd="sng" algn="ctr">
                      <a:solidFill>
                        <a:srgbClr val="FFFFFF"/>
                      </a:solidFill>
                      <a:prstDash val="solid"/>
                      <a:round/>
                      <a:headEnd type="none" w="med" len="med"/>
                      <a:tailEnd type="none" w="med" len="med"/>
                    </a:lnR>
                    <a:lnT w="38100">
                      <a:solidFill>
                        <a:srgbClr val="FFFFFF"/>
                      </a:solidFill>
                      <a:prstDash val="solid"/>
                    </a:lnT>
                    <a:lnB w="12700">
                      <a:solidFill>
                        <a:srgbClr val="FFFFFF"/>
                      </a:solidFill>
                      <a:prstDash val="solid"/>
                    </a:lnB>
                    <a:solidFill>
                      <a:srgbClr val="D0DEEC"/>
                    </a:solidFill>
                  </a:tcPr>
                </a:tc>
                <a:tc>
                  <a:txBody>
                    <a:bodyPr/>
                    <a:lstStyle/>
                    <a:p>
                      <a:pPr>
                        <a:buNone/>
                      </a:pPr>
                      <a:r>
                        <a:rPr lang="en-IN" dirty="0"/>
                        <a:t>Alumni Tracking System</a:t>
                      </a:r>
                    </a:p>
                  </a:txBody>
                  <a:tcPr anchor="ctr">
                    <a:lnL w="12700" cap="flat" cmpd="sng" algn="ctr">
                      <a:solidFill>
                        <a:srgbClr val="FFFFFF"/>
                      </a:solidFill>
                      <a:prstDash val="solid"/>
                      <a:round/>
                      <a:headEnd type="none" w="med" len="med"/>
                      <a:tailEnd type="none" w="med" len="med"/>
                    </a:lnL>
                    <a:lnR w="12700">
                      <a:solidFill>
                        <a:srgbClr val="FFFFFF"/>
                      </a:solidFill>
                      <a:prstDash val="soli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0DEEC"/>
                    </a:solidFill>
                  </a:tcPr>
                </a:tc>
                <a:tc>
                  <a:txBody>
                    <a:bodyPr/>
                    <a:lstStyle/>
                    <a:p>
                      <a:pPr>
                        <a:buNone/>
                      </a:pPr>
                      <a:r>
                        <a:rPr lang="en-IN"/>
                        <a:t>Bhavesh Patil et al.</a:t>
                      </a:r>
                    </a:p>
                  </a:txBody>
                  <a:tcPr anchor="ctr">
                    <a:lnL w="12700" cap="flat" cmpd="sng" algn="ctr">
                      <a:solidFill>
                        <a:srgbClr val="FFFFFF"/>
                      </a:solidFill>
                      <a:prstDash val="solid"/>
                      <a:round/>
                      <a:headEnd type="none" w="med" len="med"/>
                      <a:tailEnd type="none" w="med" len="med"/>
                    </a:lnL>
                    <a:lnR w="12700">
                      <a:solidFill>
                        <a:srgbClr val="FFFFFF"/>
                      </a:solidFill>
                      <a:prstDash val="soli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0DEEC"/>
                    </a:solidFill>
                  </a:tcPr>
                </a:tc>
                <a:tc>
                  <a:txBody>
                    <a:bodyPr/>
                    <a:lstStyle/>
                    <a:p>
                      <a:pPr>
                        <a:buNone/>
                      </a:pPr>
                      <a:r>
                        <a:rPr lang="en-IN" dirty="0"/>
                        <a:t>IJRASET, 2021</a:t>
                      </a:r>
                    </a:p>
                  </a:txBody>
                  <a:tcPr anchor="ctr">
                    <a:lnL w="12700">
                      <a:solidFill>
                        <a:srgbClr val="FFFFFF"/>
                      </a:solidFill>
                      <a:prstDash val="solid"/>
                    </a:lnL>
                    <a:lnR w="12700">
                      <a:solidFill>
                        <a:srgbClr val="FFFFFF"/>
                      </a:solidFill>
                      <a:prstDash val="solid"/>
                    </a:lnR>
                    <a:lnT w="38100">
                      <a:solidFill>
                        <a:srgbClr val="FFFFFF"/>
                      </a:solidFill>
                      <a:prstDash val="solid"/>
                    </a:lnT>
                    <a:lnB w="12700" cap="flat" cmpd="sng" algn="ctr">
                      <a:solidFill>
                        <a:srgbClr val="FFFFFF"/>
                      </a:solidFill>
                      <a:prstDash val="solid"/>
                      <a:round/>
                      <a:headEnd type="none" w="med" len="med"/>
                      <a:tailEnd type="none" w="med" len="med"/>
                    </a:lnB>
                    <a:solidFill>
                      <a:srgbClr val="D0DEEC"/>
                    </a:solidFill>
                  </a:tcPr>
                </a:tc>
                <a:tc>
                  <a:txBody>
                    <a:bodyPr/>
                    <a:lstStyle/>
                    <a:p>
                      <a:pPr>
                        <a:buNone/>
                      </a:pPr>
                      <a:r>
                        <a:rPr lang="en-US"/>
                        <a:t>PHP &amp; MySQL based web application</a:t>
                      </a:r>
                    </a:p>
                  </a:txBody>
                  <a:tcPr anchor="ctr">
                    <a:lnL w="12700">
                      <a:solidFill>
                        <a:srgbClr val="FFFFFF"/>
                      </a:solidFill>
                      <a:prstDash val="solid"/>
                    </a:lnL>
                    <a:lnR w="12700">
                      <a:solidFill>
                        <a:srgbClr val="FFFFFF"/>
                      </a:solidFill>
                      <a:prstDash val="solid"/>
                    </a:lnR>
                    <a:lnT w="38100">
                      <a:solidFill>
                        <a:srgbClr val="FFFFFF"/>
                      </a:solidFill>
                      <a:prstDash val="solid"/>
                    </a:lnT>
                    <a:lnB w="12700" cap="flat" cmpd="sng" algn="ctr">
                      <a:solidFill>
                        <a:srgbClr val="FFFFFF"/>
                      </a:solidFill>
                      <a:prstDash val="solid"/>
                      <a:round/>
                      <a:headEnd type="none" w="med" len="med"/>
                      <a:tailEnd type="none" w="med" len="med"/>
                    </a:lnB>
                    <a:solidFill>
                      <a:srgbClr val="D0DEEC"/>
                    </a:solidFill>
                  </a:tcPr>
                </a:tc>
                <a:tc>
                  <a:txBody>
                    <a:bodyPr/>
                    <a:lstStyle/>
                    <a:p>
                      <a:pPr>
                        <a:buNone/>
                      </a:pPr>
                      <a:r>
                        <a:rPr lang="en-US"/>
                        <a:t>Efficient storage and tracking of alumni data</a:t>
                      </a:r>
                    </a:p>
                  </a:txBody>
                  <a:tcPr anchor="ctr">
                    <a:lnL w="12700">
                      <a:solidFill>
                        <a:srgbClr val="FFFFFF"/>
                      </a:solidFill>
                      <a:prstDash val="solid"/>
                    </a:lnL>
                    <a:lnR w="12700">
                      <a:solidFill>
                        <a:srgbClr val="FFFFFF"/>
                      </a:solidFill>
                      <a:prstDash val="solid"/>
                    </a:lnR>
                    <a:lnT w="38100">
                      <a:solidFill>
                        <a:srgbClr val="FFFFFF"/>
                      </a:solidFill>
                      <a:prstDash val="solid"/>
                    </a:lnT>
                    <a:lnB w="12700" cap="flat" cmpd="sng" algn="ctr">
                      <a:solidFill>
                        <a:srgbClr val="FFFFFF"/>
                      </a:solidFill>
                      <a:prstDash val="solid"/>
                      <a:round/>
                      <a:headEnd type="none" w="med" len="med"/>
                      <a:tailEnd type="none" w="med" len="med"/>
                    </a:lnB>
                    <a:solidFill>
                      <a:srgbClr val="D0DEEC"/>
                    </a:solidFill>
                  </a:tcPr>
                </a:tc>
                <a:tc>
                  <a:txBody>
                    <a:bodyPr/>
                    <a:lstStyle/>
                    <a:p>
                      <a:pPr>
                        <a:buNone/>
                      </a:pPr>
                      <a:r>
                        <a:rPr lang="en-US" dirty="0"/>
                        <a:t>No AI-based recommendations, lacks mentorship and career guidance features</a:t>
                      </a:r>
                    </a:p>
                  </a:txBody>
                  <a:tcPr anchor="ctr">
                    <a:lnL w="12700">
                      <a:solidFill>
                        <a:srgbClr val="FFFFFF"/>
                      </a:solidFill>
                      <a:prstDash val="solid"/>
                    </a:lnL>
                    <a:lnR w="12700">
                      <a:solidFill>
                        <a:srgbClr val="FFFFFF"/>
                      </a:solidFill>
                      <a:prstDash val="solid"/>
                    </a:lnR>
                    <a:lnT w="38100">
                      <a:solidFill>
                        <a:srgbClr val="FFFFFF"/>
                      </a:solidFill>
                      <a:prstDash val="solid"/>
                    </a:lnT>
                    <a:lnB w="12700" cap="flat" cmpd="sng" algn="ctr">
                      <a:solidFill>
                        <a:srgbClr val="FFFFFF"/>
                      </a:solidFill>
                      <a:prstDash val="solid"/>
                      <a:round/>
                      <a:headEnd type="none" w="med" len="med"/>
                      <a:tailEnd type="none" w="med" len="med"/>
                    </a:lnB>
                    <a:solidFill>
                      <a:srgbClr val="D0DEEC"/>
                    </a:solidFill>
                  </a:tcPr>
                </a:tc>
                <a:extLst>
                  <a:ext uri="{0D108BD9-81ED-4DB2-BD59-A6C34878D82A}">
                    <a16:rowId xmlns:a16="http://schemas.microsoft.com/office/drawing/2014/main" val="10001"/>
                  </a:ext>
                </a:extLst>
              </a:tr>
              <a:tr h="1550380">
                <a:tc>
                  <a:txBody>
                    <a:bodyPr/>
                    <a:lstStyle/>
                    <a:p>
                      <a:pPr marL="85090">
                        <a:lnSpc>
                          <a:spcPts val="2155"/>
                        </a:lnSpc>
                      </a:pPr>
                      <a:r>
                        <a:rPr lang="en-IN" sz="1700" spc="-50">
                          <a:latin typeface="Calibri"/>
                          <a:cs typeface="Calibri"/>
                        </a:rPr>
                        <a:t>2</a:t>
                      </a:r>
                      <a:endParaRPr lang="en-IN" sz="1700">
                        <a:latin typeface="Calibri"/>
                        <a:cs typeface="Calibri"/>
                      </a:endParaRPr>
                    </a:p>
                  </a:txBody>
                  <a:tcPr marL="0" marR="0" marT="0" marB="0">
                    <a:lnL w="12700">
                      <a:solidFill>
                        <a:srgbClr val="FFFFFF"/>
                      </a:solidFill>
                      <a:prstDash val="solid"/>
                    </a:lnL>
                    <a:lnR w="12700" cap="flat" cmpd="sng" algn="ctr">
                      <a:solidFill>
                        <a:srgbClr val="FFFFFF"/>
                      </a:solidFill>
                      <a:prstDash val="solid"/>
                      <a:round/>
                      <a:headEnd type="none" w="med" len="med"/>
                      <a:tailEnd type="none" w="med" len="med"/>
                    </a:lnR>
                    <a:lnT w="12700">
                      <a:solidFill>
                        <a:srgbClr val="FFFFFF"/>
                      </a:solidFill>
                      <a:prstDash val="solid"/>
                    </a:lnT>
                    <a:lnB w="12700">
                      <a:solidFill>
                        <a:srgbClr val="FFFFFF"/>
                      </a:solidFill>
                      <a:prstDash val="solid"/>
                    </a:lnB>
                    <a:solidFill>
                      <a:srgbClr val="E9ECF6"/>
                    </a:solidFill>
                  </a:tcPr>
                </a:tc>
                <a:tc>
                  <a:txBody>
                    <a:bodyPr/>
                    <a:lstStyle/>
                    <a:p>
                      <a:pPr>
                        <a:buNone/>
                      </a:pPr>
                      <a:r>
                        <a:rPr lang="en-IN" dirty="0"/>
                        <a:t>Alumni Connect Portal</a:t>
                      </a:r>
                    </a:p>
                  </a:txBody>
                  <a:tcPr anchor="ctr">
                    <a:lnL w="12700" cap="flat" cmpd="sng" algn="ctr">
                      <a:solidFill>
                        <a:srgbClr val="FFFFFF"/>
                      </a:solidFill>
                      <a:prstDash val="solid"/>
                      <a:round/>
                      <a:headEnd type="none" w="med" len="med"/>
                      <a:tailEnd type="none" w="med" len="med"/>
                    </a:lnL>
                    <a:lnR w="12700">
                      <a:solidFill>
                        <a:srgbClr val="FFFFFF"/>
                      </a:solidFill>
                      <a:prstDash val="soli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9ECF6"/>
                    </a:solidFill>
                  </a:tcPr>
                </a:tc>
                <a:tc>
                  <a:txBody>
                    <a:bodyPr/>
                    <a:lstStyle/>
                    <a:p>
                      <a:pPr>
                        <a:buNone/>
                      </a:pPr>
                      <a:r>
                        <a:rPr lang="en-IN"/>
                        <a:t>D. Maya et al.</a:t>
                      </a:r>
                    </a:p>
                  </a:txBody>
                  <a:tcPr anchor="ctr">
                    <a:lnL w="12700" cap="flat" cmpd="sng" algn="ctr">
                      <a:solidFill>
                        <a:srgbClr val="FFFFFF"/>
                      </a:solidFill>
                      <a:prstDash val="solid"/>
                      <a:round/>
                      <a:headEnd type="none" w="med" len="med"/>
                      <a:tailEnd type="none" w="med" len="med"/>
                    </a:lnL>
                    <a:lnR w="12700">
                      <a:solidFill>
                        <a:srgbClr val="FFFFFF"/>
                      </a:solidFill>
                      <a:prstDash val="soli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9ECF6"/>
                    </a:solidFill>
                  </a:tcPr>
                </a:tc>
                <a:tc>
                  <a:txBody>
                    <a:bodyPr/>
                    <a:lstStyle/>
                    <a:p>
                      <a:pPr>
                        <a:buNone/>
                      </a:pPr>
                      <a:r>
                        <a:rPr lang="en-IN"/>
                        <a:t>IJERT, 2022</a:t>
                      </a:r>
                    </a:p>
                  </a:txBody>
                  <a:tcPr anchor="ctr">
                    <a:lnL w="12700">
                      <a:solidFill>
                        <a:srgbClr val="FFFFFF"/>
                      </a:solidFill>
                      <a:prstDash val="solid"/>
                    </a:lnL>
                    <a:lnR w="12700">
                      <a:solidFill>
                        <a:srgbClr val="FFFFFF"/>
                      </a:solidFill>
                      <a:prstDash val="soli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9ECF6"/>
                    </a:solidFill>
                  </a:tcPr>
                </a:tc>
                <a:tc>
                  <a:txBody>
                    <a:bodyPr/>
                    <a:lstStyle/>
                    <a:p>
                      <a:pPr>
                        <a:buNone/>
                      </a:pPr>
                      <a:r>
                        <a:rPr lang="en-US" dirty="0"/>
                        <a:t>Web-based portal by authentication and communication modules</a:t>
                      </a:r>
                    </a:p>
                  </a:txBody>
                  <a:tcPr anchor="ctr">
                    <a:lnL w="12700">
                      <a:solidFill>
                        <a:srgbClr val="FFFFFF"/>
                      </a:solidFill>
                      <a:prstDash val="solid"/>
                    </a:lnL>
                    <a:lnR w="12700">
                      <a:solidFill>
                        <a:srgbClr val="FFFFFF"/>
                      </a:solidFill>
                      <a:prstDash val="soli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9ECF6"/>
                    </a:solidFill>
                  </a:tcPr>
                </a:tc>
                <a:tc>
                  <a:txBody>
                    <a:bodyPr/>
                    <a:lstStyle/>
                    <a:p>
                      <a:pPr>
                        <a:buNone/>
                      </a:pPr>
                      <a:r>
                        <a:rPr lang="en-US"/>
                        <a:t>Improved alumni–student interaction and networking</a:t>
                      </a:r>
                    </a:p>
                  </a:txBody>
                  <a:tcPr anchor="ctr">
                    <a:lnL w="12700">
                      <a:solidFill>
                        <a:srgbClr val="FFFFFF"/>
                      </a:solidFill>
                      <a:prstDash val="solid"/>
                    </a:lnL>
                    <a:lnR w="12700">
                      <a:solidFill>
                        <a:srgbClr val="FFFFFF"/>
                      </a:solidFill>
                      <a:prstDash val="soli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9ECF6"/>
                    </a:solidFill>
                  </a:tcPr>
                </a:tc>
                <a:tc>
                  <a:txBody>
                    <a:bodyPr/>
                    <a:lstStyle/>
                    <a:p>
                      <a:pPr>
                        <a:buNone/>
                      </a:pPr>
                      <a:r>
                        <a:rPr lang="en-IN" dirty="0"/>
                        <a:t>No intelligent career guidance, no personalized mentoring system</a:t>
                      </a:r>
                    </a:p>
                  </a:txBody>
                  <a:tcPr anchor="ctr">
                    <a:lnL w="12700">
                      <a:solidFill>
                        <a:srgbClr val="FFFFFF"/>
                      </a:solidFill>
                      <a:prstDash val="solid"/>
                    </a:lnL>
                    <a:lnR w="12700">
                      <a:solidFill>
                        <a:srgbClr val="FFFFFF"/>
                      </a:solidFill>
                      <a:prstDash val="soli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9ECF6"/>
                    </a:solidFill>
                  </a:tcPr>
                </a:tc>
                <a:extLst>
                  <a:ext uri="{0D108BD9-81ED-4DB2-BD59-A6C34878D82A}">
                    <a16:rowId xmlns:a16="http://schemas.microsoft.com/office/drawing/2014/main" val="10002"/>
                  </a:ext>
                </a:extLst>
              </a:tr>
              <a:tr h="884810">
                <a:tc>
                  <a:txBody>
                    <a:bodyPr/>
                    <a:lstStyle/>
                    <a:p>
                      <a:pPr marL="85090">
                        <a:lnSpc>
                          <a:spcPts val="2150"/>
                        </a:lnSpc>
                      </a:pPr>
                      <a:r>
                        <a:rPr lang="en-IN" sz="1700" spc="-50">
                          <a:latin typeface="Calibri"/>
                          <a:cs typeface="Calibri"/>
                        </a:rPr>
                        <a:t>3</a:t>
                      </a:r>
                      <a:endParaRPr lang="en-IN" sz="1700">
                        <a:latin typeface="Calibri"/>
                        <a:cs typeface="Calibri"/>
                      </a:endParaRPr>
                    </a:p>
                  </a:txBody>
                  <a:tcPr marL="0" marR="0" marT="0" marB="0">
                    <a:lnL w="12700">
                      <a:solidFill>
                        <a:srgbClr val="FFFFFF"/>
                      </a:solidFill>
                      <a:prstDash val="solid"/>
                    </a:lnL>
                    <a:lnR w="12700" cap="flat" cmpd="sng" algn="ctr">
                      <a:solidFill>
                        <a:srgbClr val="FFFFFF"/>
                      </a:solidFill>
                      <a:prstDash val="solid"/>
                      <a:round/>
                      <a:headEnd type="none" w="med" len="med"/>
                      <a:tailEnd type="none" w="med" len="med"/>
                    </a:lnR>
                    <a:lnT w="12700">
                      <a:solidFill>
                        <a:srgbClr val="FFFFFF"/>
                      </a:solidFill>
                      <a:prstDash val="solid"/>
                    </a:lnT>
                    <a:lnB w="12700">
                      <a:solidFill>
                        <a:srgbClr val="FFFFFF"/>
                      </a:solidFill>
                      <a:prstDash val="solid"/>
                    </a:lnB>
                    <a:solidFill>
                      <a:srgbClr val="D0DEEC"/>
                    </a:solidFill>
                  </a:tcPr>
                </a:tc>
                <a:tc>
                  <a:txBody>
                    <a:bodyPr/>
                    <a:lstStyle/>
                    <a:p>
                      <a:pPr>
                        <a:buNone/>
                      </a:pPr>
                      <a:r>
                        <a:rPr lang="en-IN" dirty="0"/>
                        <a:t>Web-Based Alumni Management </a:t>
                      </a:r>
                    </a:p>
                  </a:txBody>
                  <a:tcPr anchor="ctr">
                    <a:lnL w="12700" cap="flat" cmpd="sng" algn="ctr">
                      <a:solidFill>
                        <a:srgbClr val="FFFFFF"/>
                      </a:solidFill>
                      <a:prstDash val="solid"/>
                      <a:round/>
                      <a:headEnd type="none" w="med" len="med"/>
                      <a:tailEnd type="none" w="med" len="med"/>
                    </a:lnL>
                    <a:lnR w="12700">
                      <a:solidFill>
                        <a:srgbClr val="FFFFFF"/>
                      </a:solidFill>
                      <a:prstDash val="soli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0DEEC"/>
                    </a:solidFill>
                  </a:tcPr>
                </a:tc>
                <a:tc>
                  <a:txBody>
                    <a:bodyPr/>
                    <a:lstStyle/>
                    <a:p>
                      <a:pPr>
                        <a:buNone/>
                      </a:pPr>
                      <a:r>
                        <a:rPr lang="it-IT"/>
                        <a:t>Leonard L. Occiano et al.</a:t>
                      </a:r>
                    </a:p>
                  </a:txBody>
                  <a:tcPr anchor="ctr">
                    <a:lnL w="12700" cap="flat" cmpd="sng" algn="ctr">
                      <a:solidFill>
                        <a:srgbClr val="FFFFFF"/>
                      </a:solidFill>
                      <a:prstDash val="solid"/>
                      <a:round/>
                      <a:headEnd type="none" w="med" len="med"/>
                      <a:tailEnd type="none" w="med" len="med"/>
                    </a:lnL>
                    <a:lnR w="12700">
                      <a:solidFill>
                        <a:srgbClr val="FFFFFF"/>
                      </a:solidFill>
                      <a:prstDash val="soli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0DEEC"/>
                    </a:solidFill>
                  </a:tcPr>
                </a:tc>
                <a:tc>
                  <a:txBody>
                    <a:bodyPr/>
                    <a:lstStyle/>
                    <a:p>
                      <a:pPr>
                        <a:buNone/>
                      </a:pPr>
                      <a:r>
                        <a:rPr lang="en-IN"/>
                        <a:t>IJRES, 2023</a:t>
                      </a:r>
                    </a:p>
                  </a:txBody>
                  <a:tcPr anchor="ctr">
                    <a:lnL w="12700">
                      <a:solidFill>
                        <a:srgbClr val="FFFFFF"/>
                      </a:solidFill>
                      <a:prstDash val="solid"/>
                    </a:lnL>
                    <a:lnR w="12700">
                      <a:solidFill>
                        <a:srgbClr val="FFFFFF"/>
                      </a:solidFill>
                      <a:prstDash val="soli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0DEEC"/>
                    </a:solidFill>
                  </a:tcPr>
                </a:tc>
                <a:tc>
                  <a:txBody>
                    <a:bodyPr/>
                    <a:lstStyle/>
                    <a:p>
                      <a:pPr>
                        <a:buNone/>
                      </a:pPr>
                      <a:r>
                        <a:rPr lang="en-IN"/>
                        <a:t>RAD model using PHP &amp; MySQL</a:t>
                      </a:r>
                    </a:p>
                  </a:txBody>
                  <a:tcPr anchor="ctr">
                    <a:lnL w="12700">
                      <a:solidFill>
                        <a:srgbClr val="FFFFFF"/>
                      </a:solidFill>
                      <a:prstDash val="solid"/>
                    </a:lnL>
                    <a:lnR w="12700">
                      <a:solidFill>
                        <a:srgbClr val="FFFFFF"/>
                      </a:solidFill>
                      <a:prstDash val="soli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0DEEC"/>
                    </a:solidFill>
                  </a:tcPr>
                </a:tc>
                <a:tc>
                  <a:txBody>
                    <a:bodyPr/>
                    <a:lstStyle/>
                    <a:p>
                      <a:pPr>
                        <a:buNone/>
                      </a:pPr>
                      <a:r>
                        <a:rPr lang="en-US"/>
                        <a:t>High usability and effective alumni data management</a:t>
                      </a:r>
                    </a:p>
                  </a:txBody>
                  <a:tcPr anchor="ctr">
                    <a:lnL w="12700">
                      <a:solidFill>
                        <a:srgbClr val="FFFFFF"/>
                      </a:solidFill>
                      <a:prstDash val="solid"/>
                    </a:lnL>
                    <a:lnR w="12700">
                      <a:solidFill>
                        <a:srgbClr val="FFFFFF"/>
                      </a:solidFill>
                      <a:prstDash val="soli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0DEEC"/>
                    </a:solidFill>
                  </a:tcPr>
                </a:tc>
                <a:tc>
                  <a:txBody>
                    <a:bodyPr/>
                    <a:lstStyle/>
                    <a:p>
                      <a:pPr>
                        <a:buNone/>
                      </a:pPr>
                      <a:r>
                        <a:rPr lang="en-IN" dirty="0"/>
                        <a:t>No AI-driven personalization or automation</a:t>
                      </a:r>
                    </a:p>
                  </a:txBody>
                  <a:tcPr anchor="ctr">
                    <a:lnL w="12700">
                      <a:solidFill>
                        <a:srgbClr val="FFFFFF"/>
                      </a:solidFill>
                      <a:prstDash val="solid"/>
                    </a:lnL>
                    <a:lnR w="12700">
                      <a:solidFill>
                        <a:srgbClr val="FFFFFF"/>
                      </a:solidFill>
                      <a:prstDash val="soli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0DEEC"/>
                    </a:solidFill>
                  </a:tcPr>
                </a:tc>
                <a:extLst>
                  <a:ext uri="{0D108BD9-81ED-4DB2-BD59-A6C34878D82A}">
                    <a16:rowId xmlns:a16="http://schemas.microsoft.com/office/drawing/2014/main" val="10003"/>
                  </a:ext>
                </a:extLst>
              </a:tr>
              <a:tr h="885388">
                <a:tc>
                  <a:txBody>
                    <a:bodyPr/>
                    <a:lstStyle/>
                    <a:p>
                      <a:pPr marL="85090">
                        <a:lnSpc>
                          <a:spcPts val="2160"/>
                        </a:lnSpc>
                      </a:pPr>
                      <a:r>
                        <a:rPr lang="en-IN" sz="1700" spc="-50" dirty="0">
                          <a:latin typeface="Calibri"/>
                          <a:cs typeface="Calibri"/>
                        </a:rPr>
                        <a:t>4</a:t>
                      </a:r>
                      <a:endParaRPr lang="en-IN" sz="1700" dirty="0">
                        <a:latin typeface="Calibri"/>
                        <a:cs typeface="Calibri"/>
                      </a:endParaRPr>
                    </a:p>
                  </a:txBody>
                  <a:tcPr marL="0" marR="0" marT="0" marB="0">
                    <a:lnL w="12700">
                      <a:solidFill>
                        <a:srgbClr val="FFFFFF"/>
                      </a:solidFill>
                      <a:prstDash val="solid"/>
                    </a:lnL>
                    <a:lnR w="12700" cap="flat" cmpd="sng" algn="ctr">
                      <a:solidFill>
                        <a:srgbClr val="FFFFFF"/>
                      </a:solidFill>
                      <a:prstDash val="solid"/>
                      <a:round/>
                      <a:headEnd type="none" w="med" len="med"/>
                      <a:tailEnd type="none" w="med" len="med"/>
                    </a:lnR>
                    <a:lnT w="12700">
                      <a:solidFill>
                        <a:srgbClr val="FFFFFF"/>
                      </a:solidFill>
                      <a:prstDash val="solid"/>
                    </a:lnT>
                    <a:lnB w="12700">
                      <a:solidFill>
                        <a:srgbClr val="FFFFFF"/>
                      </a:solidFill>
                      <a:prstDash val="solid"/>
                    </a:lnB>
                    <a:solidFill>
                      <a:srgbClr val="E9ECF6"/>
                    </a:solidFill>
                  </a:tcPr>
                </a:tc>
                <a:tc>
                  <a:txBody>
                    <a:bodyPr/>
                    <a:lstStyle/>
                    <a:p>
                      <a:pPr>
                        <a:buNone/>
                      </a:pPr>
                      <a:r>
                        <a:rPr lang="en-IN" sz="1800" dirty="0"/>
                        <a:t>Alumni Connect Web Portal</a:t>
                      </a:r>
                      <a:endParaRPr lang="en-US" sz="1800" dirty="0">
                        <a:latin typeface="Times New Roman" panose="02020603050405020304" pitchFamily="18" charset="0"/>
                        <a:cs typeface="Times New Roman" panose="02020603050405020304" pitchFamily="18"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a:solidFill>
                        <a:srgbClr val="FFFFFF"/>
                      </a:solidFill>
                      <a:prstDash val="solid"/>
                    </a:lnB>
                    <a:solidFill>
                      <a:srgbClr val="E9ECF6"/>
                    </a:solidFill>
                  </a:tcPr>
                </a:tc>
                <a:tc>
                  <a:txBody>
                    <a:bodyPr/>
                    <a:lstStyle/>
                    <a:p>
                      <a:pPr>
                        <a:buNone/>
                      </a:pPr>
                      <a:r>
                        <a:rPr lang="en-IN" dirty="0"/>
                        <a:t>Pranav Varma V. et al.</a:t>
                      </a:r>
                    </a:p>
                  </a:txBody>
                  <a:tcPr anchor="ctr">
                    <a:lnL w="12700" cap="flat" cmpd="sng" algn="ctr">
                      <a:solidFill>
                        <a:srgbClr val="FFFFFF"/>
                      </a:solidFill>
                      <a:prstDash val="solid"/>
                      <a:round/>
                      <a:headEnd type="none" w="med" len="med"/>
                      <a:tailEnd type="none" w="med" len="med"/>
                    </a:lnL>
                    <a:lnR w="12700">
                      <a:solidFill>
                        <a:srgbClr val="FFFFFF"/>
                      </a:solidFill>
                      <a:prstDash val="solid"/>
                    </a:lnR>
                    <a:lnT w="12700" cap="flat" cmpd="sng" algn="ctr">
                      <a:solidFill>
                        <a:srgbClr val="FFFFFF"/>
                      </a:solidFill>
                      <a:prstDash val="solid"/>
                      <a:round/>
                      <a:headEnd type="none" w="med" len="med"/>
                      <a:tailEnd type="none" w="med" len="med"/>
                    </a:lnT>
                    <a:lnB w="12700">
                      <a:solidFill>
                        <a:srgbClr val="FFFFFF"/>
                      </a:solidFill>
                      <a:prstDash val="solid"/>
                    </a:lnB>
                    <a:solidFill>
                      <a:srgbClr val="E9ECF6"/>
                    </a:solidFill>
                  </a:tcPr>
                </a:tc>
                <a:tc>
                  <a:txBody>
                    <a:bodyPr/>
                    <a:lstStyle/>
                    <a:p>
                      <a:pPr>
                        <a:buNone/>
                      </a:pPr>
                      <a:r>
                        <a:rPr lang="en-IN"/>
                        <a:t>IJRPR, 2025</a:t>
                      </a:r>
                    </a:p>
                  </a:txBody>
                  <a:tcPr anchor="ctr">
                    <a:lnL w="12700">
                      <a:solidFill>
                        <a:srgbClr val="FFFFFF"/>
                      </a:solidFill>
                      <a:prstDash val="solid"/>
                    </a:lnL>
                    <a:lnR w="12700">
                      <a:solidFill>
                        <a:srgbClr val="FFFFFF"/>
                      </a:solidFill>
                      <a:prstDash val="solid"/>
                    </a:lnR>
                    <a:lnT w="12700" cap="flat" cmpd="sng" algn="ctr">
                      <a:solidFill>
                        <a:srgbClr val="FFFFFF"/>
                      </a:solidFill>
                      <a:prstDash val="solid"/>
                      <a:round/>
                      <a:headEnd type="none" w="med" len="med"/>
                      <a:tailEnd type="none" w="med" len="med"/>
                    </a:lnT>
                    <a:lnB w="12700">
                      <a:solidFill>
                        <a:srgbClr val="FFFFFF"/>
                      </a:solidFill>
                      <a:prstDash val="solid"/>
                    </a:lnB>
                    <a:solidFill>
                      <a:srgbClr val="E9ECF6"/>
                    </a:solidFill>
                  </a:tcPr>
                </a:tc>
                <a:tc>
                  <a:txBody>
                    <a:bodyPr/>
                    <a:lstStyle/>
                    <a:p>
                      <a:pPr>
                        <a:buNone/>
                      </a:pPr>
                      <a:r>
                        <a:rPr lang="en-IN"/>
                        <a:t>Full-stack web application</a:t>
                      </a:r>
                    </a:p>
                  </a:txBody>
                  <a:tcPr anchor="ctr">
                    <a:lnL w="12700">
                      <a:solidFill>
                        <a:srgbClr val="FFFFFF"/>
                      </a:solidFill>
                      <a:prstDash val="solid"/>
                    </a:lnL>
                    <a:lnR w="12700">
                      <a:solidFill>
                        <a:srgbClr val="FFFFFF"/>
                      </a:solidFill>
                      <a:prstDash val="solid"/>
                    </a:lnR>
                    <a:lnT w="12700" cap="flat" cmpd="sng" algn="ctr">
                      <a:solidFill>
                        <a:srgbClr val="FFFFFF"/>
                      </a:solidFill>
                      <a:prstDash val="solid"/>
                      <a:round/>
                      <a:headEnd type="none" w="med" len="med"/>
                      <a:tailEnd type="none" w="med" len="med"/>
                    </a:lnT>
                    <a:lnB w="12700">
                      <a:solidFill>
                        <a:srgbClr val="FFFFFF"/>
                      </a:solidFill>
                      <a:prstDash val="solid"/>
                    </a:lnB>
                    <a:solidFill>
                      <a:srgbClr val="E9ECF6"/>
                    </a:solidFill>
                  </a:tcPr>
                </a:tc>
                <a:tc>
                  <a:txBody>
                    <a:bodyPr/>
                    <a:lstStyle/>
                    <a:p>
                      <a:pPr>
                        <a:buNone/>
                      </a:pPr>
                      <a:r>
                        <a:rPr lang="en-IN"/>
                        <a:t>Enhanced alumni–student engagement</a:t>
                      </a:r>
                    </a:p>
                  </a:txBody>
                  <a:tcPr anchor="ctr">
                    <a:lnL w="12700">
                      <a:solidFill>
                        <a:srgbClr val="FFFFFF"/>
                      </a:solidFill>
                      <a:prstDash val="soli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a:solidFill>
                        <a:srgbClr val="FFFFFF"/>
                      </a:solidFill>
                      <a:prstDash val="solid"/>
                    </a:lnB>
                    <a:solidFill>
                      <a:srgbClr val="E9ECF6"/>
                    </a:solidFill>
                  </a:tcPr>
                </a:tc>
                <a:tc>
                  <a:txBody>
                    <a:bodyPr/>
                    <a:lstStyle/>
                    <a:p>
                      <a:pPr>
                        <a:buNone/>
                      </a:pPr>
                      <a:r>
                        <a:rPr lang="en-US" dirty="0"/>
                        <a:t> Lack of intelligent recommendation system</a:t>
                      </a:r>
                    </a:p>
                  </a:txBody>
                  <a:tcPr anchor="ctr">
                    <a:lnL w="12700">
                      <a:solidFill>
                        <a:srgbClr val="FFFFFF"/>
                      </a:solidFill>
                      <a:prstDash val="solid"/>
                    </a:lnL>
                    <a:lnR w="12700">
                      <a:solidFill>
                        <a:srgbClr val="FFFFFF"/>
                      </a:solidFill>
                      <a:prstDash val="solid"/>
                    </a:lnR>
                    <a:lnT w="12700" cap="flat" cmpd="sng" algn="ctr">
                      <a:solidFill>
                        <a:srgbClr val="FFFFFF"/>
                      </a:solidFill>
                      <a:prstDash val="solid"/>
                      <a:round/>
                      <a:headEnd type="none" w="med" len="med"/>
                      <a:tailEnd type="none" w="med" len="med"/>
                    </a:lnT>
                    <a:lnB w="12700">
                      <a:solidFill>
                        <a:srgbClr val="FFFFFF"/>
                      </a:solidFill>
                      <a:prstDash val="solid"/>
                    </a:lnB>
                    <a:solidFill>
                      <a:srgbClr val="E9ECF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57595" y="-45133"/>
            <a:ext cx="4171920" cy="243656"/>
          </a:xfrm>
          <a:prstGeom prst="rect">
            <a:avLst/>
          </a:prstGeom>
        </p:spPr>
        <p:txBody>
          <a:bodyPr vert="horz" wrap="square" lIns="0" tIns="12700" rIns="0" bIns="0" rtlCol="0">
            <a:spAutoFit/>
          </a:bodyPr>
          <a:lstStyle/>
          <a:p>
            <a:pPr marL="12700">
              <a:lnSpc>
                <a:spcPct val="100000"/>
              </a:lnSpc>
              <a:spcBef>
                <a:spcPts val="100"/>
              </a:spcBef>
            </a:pPr>
            <a:r>
              <a:rPr lang="en-IN" sz="1500" b="1" i="1" dirty="0">
                <a:solidFill>
                  <a:srgbClr val="FFFFFF"/>
                </a:solidFill>
                <a:latin typeface="Times New Roman"/>
                <a:cs typeface="Times New Roman"/>
              </a:rPr>
              <a:t>    College Alumni Connect &amp; Management System</a:t>
            </a:r>
            <a:endParaRPr sz="1500" dirty="0">
              <a:latin typeface="Times New Roman"/>
              <a:cs typeface="Times New Roman"/>
            </a:endParaRPr>
          </a:p>
        </p:txBody>
      </p:sp>
      <p:sp>
        <p:nvSpPr>
          <p:cNvPr id="3" name="object 3"/>
          <p:cNvSpPr txBox="1"/>
          <p:nvPr/>
        </p:nvSpPr>
        <p:spPr>
          <a:xfrm>
            <a:off x="188609" y="937746"/>
            <a:ext cx="11164570" cy="5601533"/>
          </a:xfrm>
          <a:prstGeom prst="rect">
            <a:avLst/>
          </a:prstGeom>
        </p:spPr>
        <p:txBody>
          <a:bodyPr vert="horz" wrap="square" lIns="0" tIns="60960" rIns="0" bIns="0" rtlCol="0">
            <a:spAutoFit/>
          </a:bodyPr>
          <a:lstStyle/>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The </a:t>
            </a:r>
            <a:r>
              <a:rPr lang="en-US" sz="2400" b="1" dirty="0">
                <a:latin typeface="Times New Roman" panose="02020603050405020304" pitchFamily="18" charset="0"/>
                <a:cs typeface="Times New Roman" panose="02020603050405020304" pitchFamily="18" charset="0"/>
              </a:rPr>
              <a:t>proposed system is</a:t>
            </a:r>
            <a:r>
              <a:rPr lang="en-US" sz="2400" dirty="0">
                <a:latin typeface="Times New Roman" panose="02020603050405020304" pitchFamily="18" charset="0"/>
                <a:cs typeface="Times New Roman" panose="02020603050405020304" pitchFamily="18" charset="0"/>
              </a:rPr>
              <a:t> </a:t>
            </a:r>
            <a:r>
              <a:rPr lang="en-US" sz="2400" b="1" dirty="0" err="1">
                <a:latin typeface="Times New Roman" panose="02020603050405020304" pitchFamily="18" charset="0"/>
                <a:cs typeface="Times New Roman" panose="02020603050405020304" pitchFamily="18" charset="0"/>
              </a:rPr>
              <a:t>AlumniConnect</a:t>
            </a:r>
            <a:r>
              <a:rPr lang="en-US" sz="2400" dirty="0">
                <a:latin typeface="Times New Roman" panose="02020603050405020304" pitchFamily="18" charset="0"/>
                <a:cs typeface="Times New Roman" panose="02020603050405020304" pitchFamily="18" charset="0"/>
              </a:rPr>
              <a:t>, a centralized college alumni communication and management platform designed to streamline interactions between students, alumni, faculty, and administrators.</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providing a single unified interface for managing profiles, sharing updates, accessing career guidance, and collecting verified feedback</a:t>
            </a:r>
            <a:r>
              <a:rPr lang="en-US" sz="2400" dirty="0"/>
              <a:t>.</a:t>
            </a:r>
          </a:p>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The platform is a </a:t>
            </a:r>
            <a:r>
              <a:rPr lang="en-US" sz="2400" b="1" dirty="0">
                <a:latin typeface="Times New Roman" panose="02020603050405020304" pitchFamily="18" charset="0"/>
                <a:cs typeface="Times New Roman" panose="02020603050405020304" pitchFamily="18" charset="0"/>
              </a:rPr>
              <a:t>web application</a:t>
            </a:r>
            <a:r>
              <a:rPr lang="en-US" sz="2400" dirty="0">
                <a:latin typeface="Times New Roman" panose="02020603050405020304" pitchFamily="18" charset="0"/>
                <a:cs typeface="Times New Roman" panose="02020603050405020304" pitchFamily="18" charset="0"/>
              </a:rPr>
              <a:t> developed using </a:t>
            </a:r>
            <a:r>
              <a:rPr lang="en-US" sz="2400" b="1" dirty="0">
                <a:latin typeface="Times New Roman" panose="02020603050405020304" pitchFamily="18" charset="0"/>
                <a:cs typeface="Times New Roman" panose="02020603050405020304" pitchFamily="18" charset="0"/>
              </a:rPr>
              <a:t>Django (Python)</a:t>
            </a:r>
            <a:r>
              <a:rPr lang="en-US" sz="2400" dirty="0">
                <a:latin typeface="Times New Roman" panose="02020603050405020304" pitchFamily="18" charset="0"/>
                <a:cs typeface="Times New Roman" panose="02020603050405020304" pitchFamily="18" charset="0"/>
              </a:rPr>
              <a:t> for the backend,    </a:t>
            </a:r>
            <a:r>
              <a:rPr lang="en-US" sz="2400" b="1" dirty="0">
                <a:latin typeface="Times New Roman" panose="02020603050405020304" pitchFamily="18" charset="0"/>
                <a:cs typeface="Times New Roman" panose="02020603050405020304" pitchFamily="18" charset="0"/>
              </a:rPr>
              <a:t>HTML and CSS</a:t>
            </a:r>
            <a:r>
              <a:rPr lang="en-US" sz="2400" dirty="0">
                <a:latin typeface="Times New Roman" panose="02020603050405020304" pitchFamily="18" charset="0"/>
                <a:cs typeface="Times New Roman" panose="02020603050405020304" pitchFamily="18" charset="0"/>
              </a:rPr>
              <a:t> for frontend design, and </a:t>
            </a:r>
            <a:r>
              <a:rPr lang="en-US" sz="2400" b="1" dirty="0">
                <a:latin typeface="Times New Roman" panose="02020603050405020304" pitchFamily="18" charset="0"/>
                <a:cs typeface="Times New Roman" panose="02020603050405020304" pitchFamily="18" charset="0"/>
              </a:rPr>
              <a:t>PostgreSQL</a:t>
            </a:r>
            <a:r>
              <a:rPr lang="en-US" sz="2400" dirty="0">
                <a:latin typeface="Times New Roman" panose="02020603050405020304" pitchFamily="18" charset="0"/>
                <a:cs typeface="Times New Roman" panose="02020603050405020304" pitchFamily="18" charset="0"/>
              </a:rPr>
              <a:t> for secure, structured data   storage. Key features include:</a:t>
            </a:r>
          </a:p>
          <a:p>
            <a:r>
              <a:rPr lang="en-US" sz="2400" b="1" dirty="0">
                <a:latin typeface="Times New Roman" panose="02020603050405020304" pitchFamily="18" charset="0"/>
                <a:cs typeface="Times New Roman" panose="02020603050405020304" pitchFamily="18" charset="0"/>
              </a:rPr>
              <a:t>                  User registration and profile management</a:t>
            </a:r>
            <a:r>
              <a:rPr lang="en-US" sz="2400" dirty="0">
                <a:latin typeface="Times New Roman" panose="02020603050405020304" pitchFamily="18" charset="0"/>
                <a:cs typeface="Times New Roman" panose="02020603050405020304" pitchFamily="18" charset="0"/>
              </a:rPr>
              <a:t> for students, alumni, faculty, and</a:t>
            </a:r>
          </a:p>
          <a:p>
            <a:r>
              <a:rPr lang="en-US" sz="2400" dirty="0">
                <a:latin typeface="Times New Roman" panose="02020603050405020304" pitchFamily="18" charset="0"/>
                <a:cs typeface="Times New Roman" panose="02020603050405020304" pitchFamily="18" charset="0"/>
              </a:rPr>
              <a:t>                  administrators.                        </a:t>
            </a:r>
          </a:p>
          <a:p>
            <a:r>
              <a:rPr lang="en-US" sz="2400" b="1" dirty="0">
                <a:latin typeface="Times New Roman" panose="02020603050405020304" pitchFamily="18" charset="0"/>
                <a:cs typeface="Times New Roman" panose="02020603050405020304" pitchFamily="18" charset="0"/>
              </a:rPr>
              <a:t>                  Career guidance, mentorship programs, and event updates</a:t>
            </a:r>
            <a:endParaRPr lang="en-US" sz="2400" dirty="0">
              <a:latin typeface="Times New Roman" panose="02020603050405020304" pitchFamily="18" charset="0"/>
              <a:cs typeface="Times New Roman" panose="02020603050405020304" pitchFamily="18" charset="0"/>
            </a:endParaRPr>
          </a:p>
          <a:p>
            <a:r>
              <a:rPr lang="en-US" sz="2400" b="1" dirty="0">
                <a:latin typeface="Times New Roman" panose="02020603050405020304" pitchFamily="18" charset="0"/>
                <a:cs typeface="Times New Roman" panose="02020603050405020304" pitchFamily="18" charset="0"/>
              </a:rPr>
              <a:t>                  Feedback collection and verification system</a:t>
            </a:r>
            <a:r>
              <a:rPr lang="en-US" sz="2400" dirty="0">
                <a:latin typeface="Times New Roman" panose="02020603050405020304" pitchFamily="18" charset="0"/>
                <a:cs typeface="Times New Roman" panose="02020603050405020304" pitchFamily="18" charset="0"/>
              </a:rPr>
              <a:t> for students and alumni</a:t>
            </a:r>
          </a:p>
          <a:p>
            <a:r>
              <a:rPr lang="en-US" sz="2400" b="1" dirty="0">
                <a:latin typeface="Times New Roman" panose="02020603050405020304" pitchFamily="18" charset="0"/>
                <a:cs typeface="Times New Roman" panose="02020603050405020304" pitchFamily="18" charset="0"/>
              </a:rPr>
              <a:t>                  Admin dashboard</a:t>
            </a:r>
            <a:r>
              <a:rPr lang="en-US" sz="2400" dirty="0">
                <a:latin typeface="Times New Roman" panose="02020603050405020304" pitchFamily="18" charset="0"/>
                <a:cs typeface="Times New Roman" panose="02020603050405020304" pitchFamily="18" charset="0"/>
              </a:rPr>
              <a:t> for managing users, events, and communications</a:t>
            </a:r>
          </a:p>
          <a:p>
            <a:pPr marL="457200" indent="-4572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The system is </a:t>
            </a:r>
            <a:r>
              <a:rPr lang="en-US" sz="2400" b="1" dirty="0">
                <a:latin typeface="Times New Roman" panose="02020603050405020304" pitchFamily="18" charset="0"/>
                <a:cs typeface="Times New Roman" panose="02020603050405020304" pitchFamily="18" charset="0"/>
              </a:rPr>
              <a:t>responsive, secure, and provides a smooth, interactive experience on both desktop and mobile</a:t>
            </a:r>
            <a:r>
              <a:rPr lang="en-US" sz="2400" dirty="0"/>
              <a:t>.</a:t>
            </a:r>
            <a:endParaRPr lang="en-US" sz="2400" dirty="0">
              <a:latin typeface="Times New Roman" panose="02020603050405020304" pitchFamily="18" charset="0"/>
              <a:cs typeface="Times New Roman" panose="02020603050405020304" pitchFamily="18" charset="0"/>
            </a:endParaRPr>
          </a:p>
        </p:txBody>
      </p:sp>
      <p:grpSp>
        <p:nvGrpSpPr>
          <p:cNvPr id="4" name="object 4"/>
          <p:cNvGrpSpPr/>
          <p:nvPr/>
        </p:nvGrpSpPr>
        <p:grpSpPr>
          <a:xfrm>
            <a:off x="0" y="182323"/>
            <a:ext cx="12192000" cy="803275"/>
            <a:chOff x="0" y="216720"/>
            <a:chExt cx="12192000" cy="803275"/>
          </a:xfrm>
        </p:grpSpPr>
        <p:pic>
          <p:nvPicPr>
            <p:cNvPr id="5" name="object 5"/>
            <p:cNvPicPr/>
            <p:nvPr/>
          </p:nvPicPr>
          <p:blipFill>
            <a:blip r:embed="rId2" cstate="print"/>
            <a:stretch>
              <a:fillRect/>
            </a:stretch>
          </p:blipFill>
          <p:spPr>
            <a:xfrm>
              <a:off x="0" y="216720"/>
              <a:ext cx="12192000" cy="803160"/>
            </a:xfrm>
            <a:prstGeom prst="rect">
              <a:avLst/>
            </a:prstGeom>
          </p:spPr>
        </p:pic>
        <p:sp>
          <p:nvSpPr>
            <p:cNvPr id="6" name="object 6"/>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7" name="object 7"/>
          <p:cNvSpPr txBox="1">
            <a:spLocks noGrp="1"/>
          </p:cNvSpPr>
          <p:nvPr>
            <p:ph type="title"/>
          </p:nvPr>
        </p:nvSpPr>
        <p:spPr>
          <a:xfrm>
            <a:off x="73025" y="182323"/>
            <a:ext cx="3888104" cy="695960"/>
          </a:xfrm>
          <a:prstGeom prst="rect">
            <a:avLst/>
          </a:prstGeom>
        </p:spPr>
        <p:txBody>
          <a:bodyPr vert="horz" wrap="square" lIns="0" tIns="12700" rIns="0" bIns="0" rtlCol="0">
            <a:spAutoFit/>
          </a:bodyPr>
          <a:lstStyle/>
          <a:p>
            <a:pPr marL="12700">
              <a:lnSpc>
                <a:spcPct val="100000"/>
              </a:lnSpc>
              <a:spcBef>
                <a:spcPts val="100"/>
              </a:spcBef>
              <a:tabLst>
                <a:tab pos="2232025" algn="l"/>
              </a:tabLst>
            </a:pPr>
            <a:r>
              <a:rPr spc="-10" dirty="0"/>
              <a:t>Proposed</a:t>
            </a:r>
            <a:r>
              <a:rPr dirty="0"/>
              <a:t>	</a:t>
            </a:r>
            <a:r>
              <a:rPr spc="-10" dirty="0"/>
              <a:t>System</a:t>
            </a:r>
          </a:p>
        </p:txBody>
      </p:sp>
      <p:sp>
        <p:nvSpPr>
          <p:cNvPr id="8" name="object 8"/>
          <p:cNvSpPr txBox="1">
            <a:spLocks noGrp="1"/>
          </p:cNvSpPr>
          <p:nvPr>
            <p:ph type="ftr" sz="quarter" idx="5"/>
          </p:nvPr>
        </p:nvSpPr>
        <p:spPr>
          <a:xfrm>
            <a:off x="149031" y="6629427"/>
            <a:ext cx="635000" cy="461665"/>
          </a:xfrm>
          <a:prstGeom prst="rect">
            <a:avLst/>
          </a:prstGeom>
        </p:spPr>
        <p:txBody>
          <a:bodyPr vert="horz" wrap="square" lIns="0" tIns="0" rIns="0" bIns="0" rtlCol="0">
            <a:spAutoFit/>
          </a:bodyPr>
          <a:lstStyle/>
          <a:p>
            <a:pPr marL="12700">
              <a:lnSpc>
                <a:spcPts val="1845"/>
              </a:lnSpc>
            </a:pPr>
            <a:r>
              <a:rPr lang="en-US" spc="-10" dirty="0"/>
              <a:t>B</a:t>
            </a:r>
            <a:r>
              <a:rPr spc="-10" dirty="0"/>
              <a:t> </a:t>
            </a:r>
            <a:r>
              <a:rPr lang="en-IN" dirty="0"/>
              <a:t>–</a:t>
            </a:r>
            <a:r>
              <a:rPr spc="-5" dirty="0"/>
              <a:t> </a:t>
            </a:r>
            <a:r>
              <a:rPr lang="en-IN" spc="-25" dirty="0"/>
              <a:t>09</a:t>
            </a:r>
          </a:p>
          <a:p>
            <a:pPr marL="12700">
              <a:lnSpc>
                <a:spcPts val="1845"/>
              </a:lnSpc>
            </a:pPr>
            <a:endParaRPr spc="-25" dirty="0"/>
          </a:p>
        </p:txBody>
      </p:sp>
      <p:sp>
        <p:nvSpPr>
          <p:cNvPr id="9" name="object 9"/>
          <p:cNvSpPr txBox="1">
            <a:spLocks noGrp="1"/>
          </p:cNvSpPr>
          <p:nvPr>
            <p:ph type="dt" sz="half" idx="6"/>
          </p:nvPr>
        </p:nvSpPr>
        <p:spPr>
          <a:xfrm>
            <a:off x="1773948" y="6629559"/>
            <a:ext cx="40934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0" name="object 10"/>
          <p:cNvSpPr txBox="1"/>
          <p:nvPr/>
        </p:nvSpPr>
        <p:spPr>
          <a:xfrm>
            <a:off x="7147541" y="6629197"/>
            <a:ext cx="4093451" cy="228803"/>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8</a:t>
            </a:fld>
            <a:endParaRPr spc="-2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0" y="-18836"/>
            <a:ext cx="394592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College Alumni Connect &amp; Management System</a:t>
            </a:r>
            <a:endParaRPr sz="1500" dirty="0">
              <a:latin typeface="Times New Roman"/>
              <a:cs typeface="Times New Roman"/>
            </a:endParaRPr>
          </a:p>
        </p:txBody>
      </p:sp>
      <p:grpSp>
        <p:nvGrpSpPr>
          <p:cNvPr id="3" name="object 3"/>
          <p:cNvGrpSpPr/>
          <p:nvPr/>
        </p:nvGrpSpPr>
        <p:grpSpPr>
          <a:xfrm>
            <a:off x="0" y="216720"/>
            <a:ext cx="12192000" cy="803275"/>
            <a:chOff x="0" y="216720"/>
            <a:chExt cx="12192000" cy="803275"/>
          </a:xfrm>
        </p:grpSpPr>
        <p:pic>
          <p:nvPicPr>
            <p:cNvPr id="4" name="object 4"/>
            <p:cNvPicPr/>
            <p:nvPr/>
          </p:nvPicPr>
          <p:blipFill>
            <a:blip r:embed="rId2" cstate="print"/>
            <a:stretch>
              <a:fillRect/>
            </a:stretch>
          </p:blipFill>
          <p:spPr>
            <a:xfrm>
              <a:off x="0" y="216720"/>
              <a:ext cx="12192000" cy="803160"/>
            </a:xfrm>
            <a:prstGeom prst="rect">
              <a:avLst/>
            </a:prstGeom>
          </p:spPr>
        </p:pic>
        <p:sp>
          <p:nvSpPr>
            <p:cNvPr id="5" name="object 5"/>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6" name="object 6"/>
          <p:cNvSpPr txBox="1">
            <a:spLocks noGrp="1"/>
          </p:cNvSpPr>
          <p:nvPr>
            <p:ph type="title"/>
          </p:nvPr>
        </p:nvSpPr>
        <p:spPr>
          <a:prstGeom prst="rect">
            <a:avLst/>
          </a:prstGeom>
        </p:spPr>
        <p:txBody>
          <a:bodyPr vert="horz" wrap="square" lIns="0" tIns="12700" rIns="0" bIns="0" rtlCol="0">
            <a:spAutoFit/>
          </a:bodyPr>
          <a:lstStyle/>
          <a:p>
            <a:pPr marL="152400">
              <a:lnSpc>
                <a:spcPct val="100000"/>
              </a:lnSpc>
              <a:spcBef>
                <a:spcPts val="100"/>
              </a:spcBef>
            </a:pPr>
            <a:r>
              <a:rPr spc="-10" dirty="0"/>
              <a:t>References</a:t>
            </a:r>
          </a:p>
        </p:txBody>
      </p:sp>
      <p:sp>
        <p:nvSpPr>
          <p:cNvPr id="9" name="object 9"/>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US" spc="-10" dirty="0"/>
              <a:t>B</a:t>
            </a:r>
            <a:r>
              <a:rPr spc="-10" dirty="0"/>
              <a:t> </a:t>
            </a:r>
            <a:r>
              <a:rPr dirty="0"/>
              <a:t>-</a:t>
            </a:r>
            <a:r>
              <a:rPr spc="-5" dirty="0"/>
              <a:t> </a:t>
            </a:r>
            <a:r>
              <a:rPr lang="en-IN" spc="-25" dirty="0"/>
              <a:t>09</a:t>
            </a:r>
            <a:endParaRPr spc="-25" dirty="0"/>
          </a:p>
        </p:txBody>
      </p:sp>
      <p:sp>
        <p:nvSpPr>
          <p:cNvPr id="10" name="object 10"/>
          <p:cNvSpPr txBox="1">
            <a:spLocks noGrp="1"/>
          </p:cNvSpPr>
          <p:nvPr>
            <p:ph type="dt" sz="half" idx="6"/>
          </p:nvPr>
        </p:nvSpPr>
        <p:spPr>
          <a:xfrm>
            <a:off x="1773948" y="6629559"/>
            <a:ext cx="40934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1" name="object 11"/>
          <p:cNvSpPr txBox="1"/>
          <p:nvPr/>
        </p:nvSpPr>
        <p:spPr>
          <a:xfrm>
            <a:off x="7147541" y="6629197"/>
            <a:ext cx="42062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9</a:t>
            </a:fld>
            <a:endParaRPr spc="-25" dirty="0"/>
          </a:p>
        </p:txBody>
      </p:sp>
      <p:sp>
        <p:nvSpPr>
          <p:cNvPr id="8" name="TextBox 7">
            <a:extLst>
              <a:ext uri="{FF2B5EF4-FFF2-40B4-BE49-F238E27FC236}">
                <a16:creationId xmlns:a16="http://schemas.microsoft.com/office/drawing/2014/main" id="{1D845A5C-1300-ED24-5A1B-3230B375BE8C}"/>
              </a:ext>
            </a:extLst>
          </p:cNvPr>
          <p:cNvSpPr txBox="1"/>
          <p:nvPr/>
        </p:nvSpPr>
        <p:spPr>
          <a:xfrm>
            <a:off x="563287" y="1203910"/>
            <a:ext cx="10820400" cy="4524315"/>
          </a:xfrm>
          <a:prstGeom prst="rect">
            <a:avLst/>
          </a:prstGeom>
          <a:noFill/>
        </p:spPr>
        <p:txBody>
          <a:bodyPr wrap="square">
            <a:spAutoFit/>
          </a:bodyPr>
          <a:lstStyle/>
          <a:p>
            <a:r>
              <a:rPr lang="en-IN" sz="2400" b="1" dirty="0">
                <a:latin typeface="Times New Roman" panose="02020603050405020304" pitchFamily="18" charset="0"/>
                <a:cs typeface="Times New Roman" panose="02020603050405020304" pitchFamily="18" charset="0"/>
              </a:rPr>
              <a:t>[1]</a:t>
            </a:r>
            <a:r>
              <a:rPr lang="en-IN" sz="2400" dirty="0">
                <a:latin typeface="Times New Roman" panose="02020603050405020304" pitchFamily="18" charset="0"/>
                <a:cs typeface="Times New Roman" panose="02020603050405020304" pitchFamily="18" charset="0"/>
              </a:rPr>
              <a:t> B. Patil, K. Gangwani, I. Wankhade, P. </a:t>
            </a:r>
            <a:r>
              <a:rPr lang="en-IN" sz="2400" dirty="0" err="1">
                <a:latin typeface="Times New Roman" panose="02020603050405020304" pitchFamily="18" charset="0"/>
                <a:cs typeface="Times New Roman" panose="02020603050405020304" pitchFamily="18" charset="0"/>
              </a:rPr>
              <a:t>Satote</a:t>
            </a:r>
            <a:r>
              <a:rPr lang="en-IN" sz="2400" dirty="0">
                <a:latin typeface="Times New Roman" panose="02020603050405020304" pitchFamily="18" charset="0"/>
                <a:cs typeface="Times New Roman" panose="02020603050405020304" pitchFamily="18" charset="0"/>
              </a:rPr>
              <a:t>, G. </a:t>
            </a:r>
            <a:r>
              <a:rPr lang="en-IN" sz="2400" dirty="0" err="1">
                <a:latin typeface="Times New Roman" panose="02020603050405020304" pitchFamily="18" charset="0"/>
                <a:cs typeface="Times New Roman" panose="02020603050405020304" pitchFamily="18" charset="0"/>
              </a:rPr>
              <a:t>Saarkar</a:t>
            </a:r>
            <a:r>
              <a:rPr lang="en-IN" sz="2400" dirty="0">
                <a:latin typeface="Times New Roman" panose="02020603050405020304" pitchFamily="18" charset="0"/>
                <a:cs typeface="Times New Roman" panose="02020603050405020304" pitchFamily="18" charset="0"/>
              </a:rPr>
              <a:t>, and G. V. Dahake,</a:t>
            </a:r>
            <a:br>
              <a:rPr lang="en-IN" sz="2400" dirty="0">
                <a:latin typeface="Times New Roman" panose="02020603050405020304" pitchFamily="18" charset="0"/>
                <a:cs typeface="Times New Roman" panose="02020603050405020304" pitchFamily="18" charset="0"/>
              </a:rPr>
            </a:br>
            <a:r>
              <a:rPr lang="en-IN" sz="2400" dirty="0">
                <a:latin typeface="Times New Roman" panose="02020603050405020304" pitchFamily="18" charset="0"/>
                <a:cs typeface="Times New Roman" panose="02020603050405020304" pitchFamily="18" charset="0"/>
              </a:rPr>
              <a:t>“</a:t>
            </a:r>
            <a:r>
              <a:rPr lang="en-IN" sz="2400" b="1" dirty="0">
                <a:latin typeface="Times New Roman" panose="02020603050405020304" pitchFamily="18" charset="0"/>
                <a:cs typeface="Times New Roman" panose="02020603050405020304" pitchFamily="18" charset="0"/>
              </a:rPr>
              <a:t>Alumni Tracking System</a:t>
            </a:r>
            <a:r>
              <a:rPr lang="en-IN" sz="2400" dirty="0">
                <a:latin typeface="Times New Roman" panose="02020603050405020304" pitchFamily="18" charset="0"/>
                <a:cs typeface="Times New Roman" panose="02020603050405020304" pitchFamily="18" charset="0"/>
              </a:rPr>
              <a:t>,” </a:t>
            </a:r>
            <a:r>
              <a:rPr lang="en-IN" sz="2400" i="1" dirty="0">
                <a:latin typeface="Times New Roman" panose="02020603050405020304" pitchFamily="18" charset="0"/>
                <a:cs typeface="Times New Roman" panose="02020603050405020304" pitchFamily="18" charset="0"/>
              </a:rPr>
              <a:t>International Journal for Research in Applied Science &amp; Engineering Technology (IJRASET)</a:t>
            </a:r>
            <a:r>
              <a:rPr lang="en-IN" sz="2400" dirty="0">
                <a:latin typeface="Times New Roman" panose="02020603050405020304" pitchFamily="18" charset="0"/>
                <a:cs typeface="Times New Roman" panose="02020603050405020304" pitchFamily="18" charset="0"/>
              </a:rPr>
              <a:t>, vol. 9, no. 6, pp. 1023–1027, 2021.</a:t>
            </a:r>
          </a:p>
          <a:p>
            <a:r>
              <a:rPr lang="en-IN" sz="2400" b="1" dirty="0">
                <a:latin typeface="Times New Roman" panose="02020603050405020304" pitchFamily="18" charset="0"/>
                <a:cs typeface="Times New Roman" panose="02020603050405020304" pitchFamily="18" charset="0"/>
              </a:rPr>
              <a:t>[2]</a:t>
            </a:r>
            <a:r>
              <a:rPr lang="en-IN" sz="2400" dirty="0">
                <a:latin typeface="Times New Roman" panose="02020603050405020304" pitchFamily="18" charset="0"/>
                <a:cs typeface="Times New Roman" panose="02020603050405020304" pitchFamily="18" charset="0"/>
              </a:rPr>
              <a:t> D. Maya, R. Suwetha, E. Sonika, S. Subhashini, and S. Deepak Kumar,</a:t>
            </a:r>
            <a:br>
              <a:rPr lang="en-IN" sz="2400" dirty="0">
                <a:latin typeface="Times New Roman" panose="02020603050405020304" pitchFamily="18" charset="0"/>
                <a:cs typeface="Times New Roman" panose="02020603050405020304" pitchFamily="18" charset="0"/>
              </a:rPr>
            </a:br>
            <a:r>
              <a:rPr lang="en-IN" sz="2400" dirty="0">
                <a:latin typeface="Times New Roman" panose="02020603050405020304" pitchFamily="18" charset="0"/>
                <a:cs typeface="Times New Roman" panose="02020603050405020304" pitchFamily="18" charset="0"/>
              </a:rPr>
              <a:t>“</a:t>
            </a:r>
            <a:r>
              <a:rPr lang="en-IN" sz="2400" b="1" dirty="0">
                <a:latin typeface="Times New Roman" panose="02020603050405020304" pitchFamily="18" charset="0"/>
                <a:cs typeface="Times New Roman" panose="02020603050405020304" pitchFamily="18" charset="0"/>
              </a:rPr>
              <a:t>Alumni Connect Portal</a:t>
            </a:r>
            <a:r>
              <a:rPr lang="en-IN" sz="2400" dirty="0">
                <a:latin typeface="Times New Roman" panose="02020603050405020304" pitchFamily="18" charset="0"/>
                <a:cs typeface="Times New Roman" panose="02020603050405020304" pitchFamily="18" charset="0"/>
              </a:rPr>
              <a:t>,” </a:t>
            </a:r>
            <a:r>
              <a:rPr lang="en-IN" sz="2400" i="1" dirty="0">
                <a:latin typeface="Times New Roman" panose="02020603050405020304" pitchFamily="18" charset="0"/>
                <a:cs typeface="Times New Roman" panose="02020603050405020304" pitchFamily="18" charset="0"/>
              </a:rPr>
              <a:t>International Journal of Engineering Research &amp; Technology (IJERT)</a:t>
            </a:r>
            <a:r>
              <a:rPr lang="en-IN" sz="2400" dirty="0">
                <a:latin typeface="Times New Roman" panose="02020603050405020304" pitchFamily="18" charset="0"/>
                <a:cs typeface="Times New Roman" panose="02020603050405020304" pitchFamily="18" charset="0"/>
              </a:rPr>
              <a:t>, vol. 11, no. 5, pp. 210–214, 2022.</a:t>
            </a:r>
          </a:p>
          <a:p>
            <a:r>
              <a:rPr lang="en-IN" sz="2400" b="1" dirty="0">
                <a:latin typeface="Times New Roman" panose="02020603050405020304" pitchFamily="18" charset="0"/>
                <a:cs typeface="Times New Roman" panose="02020603050405020304" pitchFamily="18" charset="0"/>
              </a:rPr>
              <a:t>[3]</a:t>
            </a:r>
            <a:r>
              <a:rPr lang="en-IN" sz="2400" dirty="0">
                <a:latin typeface="Times New Roman" panose="02020603050405020304" pitchFamily="18" charset="0"/>
                <a:cs typeface="Times New Roman" panose="02020603050405020304" pitchFamily="18" charset="0"/>
              </a:rPr>
              <a:t> L. L. </a:t>
            </a:r>
            <a:r>
              <a:rPr lang="en-IN" sz="2400" dirty="0" err="1">
                <a:latin typeface="Times New Roman" panose="02020603050405020304" pitchFamily="18" charset="0"/>
                <a:cs typeface="Times New Roman" panose="02020603050405020304" pitchFamily="18" charset="0"/>
              </a:rPr>
              <a:t>Occiano</a:t>
            </a:r>
            <a:r>
              <a:rPr lang="en-IN" sz="2400" dirty="0">
                <a:latin typeface="Times New Roman" panose="02020603050405020304" pitchFamily="18" charset="0"/>
                <a:cs typeface="Times New Roman" panose="02020603050405020304" pitchFamily="18" charset="0"/>
              </a:rPr>
              <a:t>, A. R. Santos, and J. M. Cruz,</a:t>
            </a:r>
            <a:br>
              <a:rPr lang="en-IN" sz="2400" dirty="0">
                <a:latin typeface="Times New Roman" panose="02020603050405020304" pitchFamily="18" charset="0"/>
                <a:cs typeface="Times New Roman" panose="02020603050405020304" pitchFamily="18" charset="0"/>
              </a:rPr>
            </a:br>
            <a:r>
              <a:rPr lang="en-IN" sz="2400" dirty="0">
                <a:latin typeface="Times New Roman" panose="02020603050405020304" pitchFamily="18" charset="0"/>
                <a:cs typeface="Times New Roman" panose="02020603050405020304" pitchFamily="18" charset="0"/>
              </a:rPr>
              <a:t>“</a:t>
            </a:r>
            <a:r>
              <a:rPr lang="en-IN" sz="2400" b="1" dirty="0">
                <a:latin typeface="Times New Roman" panose="02020603050405020304" pitchFamily="18" charset="0"/>
                <a:cs typeface="Times New Roman" panose="02020603050405020304" pitchFamily="18" charset="0"/>
              </a:rPr>
              <a:t>Web-Based Alumni Management System</a:t>
            </a:r>
            <a:r>
              <a:rPr lang="en-IN" sz="2400" dirty="0">
                <a:latin typeface="Times New Roman" panose="02020603050405020304" pitchFamily="18" charset="0"/>
                <a:cs typeface="Times New Roman" panose="02020603050405020304" pitchFamily="18" charset="0"/>
              </a:rPr>
              <a:t>,” </a:t>
            </a:r>
            <a:r>
              <a:rPr lang="en-IN" sz="2400" i="1" dirty="0">
                <a:latin typeface="Times New Roman" panose="02020603050405020304" pitchFamily="18" charset="0"/>
                <a:cs typeface="Times New Roman" panose="02020603050405020304" pitchFamily="18" charset="0"/>
              </a:rPr>
              <a:t>International Journal of Research in Engineering and Science (IJRES)</a:t>
            </a:r>
            <a:r>
              <a:rPr lang="en-IN" sz="2400" dirty="0">
                <a:latin typeface="Times New Roman" panose="02020603050405020304" pitchFamily="18" charset="0"/>
                <a:cs typeface="Times New Roman" panose="02020603050405020304" pitchFamily="18" charset="0"/>
              </a:rPr>
              <a:t>, vol. 11, no. 3, pp. 45–52, 2023.</a:t>
            </a:r>
          </a:p>
          <a:p>
            <a:r>
              <a:rPr lang="en-IN" sz="2400" b="1" dirty="0">
                <a:latin typeface="Times New Roman" panose="02020603050405020304" pitchFamily="18" charset="0"/>
                <a:cs typeface="Times New Roman" panose="02020603050405020304" pitchFamily="18" charset="0"/>
              </a:rPr>
              <a:t>[4]</a:t>
            </a:r>
            <a:r>
              <a:rPr lang="en-IN" sz="2400" dirty="0">
                <a:latin typeface="Times New Roman" panose="02020603050405020304" pitchFamily="18" charset="0"/>
                <a:cs typeface="Times New Roman" panose="02020603050405020304" pitchFamily="18" charset="0"/>
              </a:rPr>
              <a:t> P. Varma V., S. Reddy, and A. Kumar,</a:t>
            </a:r>
            <a:br>
              <a:rPr lang="en-IN" sz="2400" dirty="0">
                <a:latin typeface="Times New Roman" panose="02020603050405020304" pitchFamily="18" charset="0"/>
                <a:cs typeface="Times New Roman" panose="02020603050405020304" pitchFamily="18" charset="0"/>
              </a:rPr>
            </a:br>
            <a:r>
              <a:rPr lang="en-IN" sz="2400" dirty="0">
                <a:latin typeface="Times New Roman" panose="02020603050405020304" pitchFamily="18" charset="0"/>
                <a:cs typeface="Times New Roman" panose="02020603050405020304" pitchFamily="18" charset="0"/>
              </a:rPr>
              <a:t>“</a:t>
            </a:r>
            <a:r>
              <a:rPr lang="en-IN" sz="2400" b="1" dirty="0">
                <a:latin typeface="Times New Roman" panose="02020603050405020304" pitchFamily="18" charset="0"/>
                <a:cs typeface="Times New Roman" panose="02020603050405020304" pitchFamily="18" charset="0"/>
              </a:rPr>
              <a:t>Alumni Connect Web Portal</a:t>
            </a:r>
            <a:r>
              <a:rPr lang="en-IN" sz="2400" dirty="0">
                <a:latin typeface="Times New Roman" panose="02020603050405020304" pitchFamily="18" charset="0"/>
                <a:cs typeface="Times New Roman" panose="02020603050405020304" pitchFamily="18" charset="0"/>
              </a:rPr>
              <a:t>,” </a:t>
            </a:r>
            <a:r>
              <a:rPr lang="en-IN" sz="2400" i="1" dirty="0">
                <a:latin typeface="Times New Roman" panose="02020603050405020304" pitchFamily="18" charset="0"/>
                <a:cs typeface="Times New Roman" panose="02020603050405020304" pitchFamily="18" charset="0"/>
              </a:rPr>
              <a:t>International Journal of Recent Publications and Reviews (IJRPR)</a:t>
            </a:r>
            <a:r>
              <a:rPr lang="en-IN" sz="2400" dirty="0">
                <a:latin typeface="Times New Roman" panose="02020603050405020304" pitchFamily="18" charset="0"/>
                <a:cs typeface="Times New Roman" panose="02020603050405020304" pitchFamily="18" charset="0"/>
              </a:rPr>
              <a:t>, vol. 6, no. 1, pp. 88–93, 2025</a:t>
            </a:r>
            <a:r>
              <a:rPr lang="en-IN" sz="2400" dirty="0"/>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4" name="object 4"/>
          <p:cNvSpPr txBox="1"/>
          <p:nvPr/>
        </p:nvSpPr>
        <p:spPr>
          <a:xfrm>
            <a:off x="3884688" y="-44134"/>
            <a:ext cx="4114800"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College Alumni Connect &amp; Management System</a:t>
            </a:r>
            <a:endParaRPr sz="1500" dirty="0">
              <a:latin typeface="Times New Roman"/>
              <a:cs typeface="Times New Roman"/>
            </a:endParaRPr>
          </a:p>
        </p:txBody>
      </p:sp>
      <p:grpSp>
        <p:nvGrpSpPr>
          <p:cNvPr id="5" name="object 5"/>
          <p:cNvGrpSpPr/>
          <p:nvPr/>
        </p:nvGrpSpPr>
        <p:grpSpPr>
          <a:xfrm>
            <a:off x="0" y="216720"/>
            <a:ext cx="12192000" cy="803275"/>
            <a:chOff x="0" y="216720"/>
            <a:chExt cx="12192000" cy="803275"/>
          </a:xfrm>
        </p:grpSpPr>
        <p:pic>
          <p:nvPicPr>
            <p:cNvPr id="6" name="object 6"/>
            <p:cNvPicPr/>
            <p:nvPr/>
          </p:nvPicPr>
          <p:blipFill>
            <a:blip r:embed="rId3" cstate="print"/>
            <a:stretch>
              <a:fillRect/>
            </a:stretch>
          </p:blipFill>
          <p:spPr>
            <a:xfrm>
              <a:off x="0" y="216720"/>
              <a:ext cx="12192000" cy="803160"/>
            </a:xfrm>
            <a:prstGeom prst="rect">
              <a:avLst/>
            </a:prstGeom>
          </p:spPr>
        </p:pic>
        <p:sp>
          <p:nvSpPr>
            <p:cNvPr id="7" name="object 7"/>
            <p:cNvSpPr/>
            <p:nvPr/>
          </p:nvSpPr>
          <p:spPr>
            <a:xfrm>
              <a:off x="0" y="232920"/>
              <a:ext cx="12192000" cy="715010"/>
            </a:xfrm>
            <a:custGeom>
              <a:avLst/>
              <a:gdLst/>
              <a:ahLst/>
              <a:cxnLst/>
              <a:rect l="l" t="t" r="r" b="b"/>
              <a:pathLst>
                <a:path w="12192000" h="715010">
                  <a:moveTo>
                    <a:pt x="12191759" y="714599"/>
                  </a:moveTo>
                  <a:lnTo>
                    <a:pt x="0" y="714599"/>
                  </a:lnTo>
                  <a:lnTo>
                    <a:pt x="0" y="0"/>
                  </a:lnTo>
                  <a:lnTo>
                    <a:pt x="12191759" y="0"/>
                  </a:lnTo>
                  <a:lnTo>
                    <a:pt x="12191759" y="714599"/>
                  </a:lnTo>
                  <a:close/>
                </a:path>
              </a:pathLst>
            </a:custGeom>
            <a:solidFill>
              <a:srgbClr val="FF6600"/>
            </a:solidFill>
          </p:spPr>
          <p:txBody>
            <a:bodyPr wrap="square" lIns="0" tIns="0" rIns="0" bIns="0" rtlCol="0"/>
            <a:lstStyle/>
            <a:p>
              <a:endParaRPr/>
            </a:p>
          </p:txBody>
        </p:sp>
      </p:grpSp>
      <p:sp>
        <p:nvSpPr>
          <p:cNvPr id="8" name="object 8"/>
          <p:cNvSpPr txBox="1">
            <a:spLocks noGrp="1"/>
          </p:cNvSpPr>
          <p:nvPr>
            <p:ph type="title"/>
          </p:nvPr>
        </p:nvSpPr>
        <p:spPr>
          <a:xfrm>
            <a:off x="73025" y="182323"/>
            <a:ext cx="8136255" cy="695960"/>
          </a:xfrm>
          <a:prstGeom prst="rect">
            <a:avLst/>
          </a:prstGeom>
        </p:spPr>
        <p:txBody>
          <a:bodyPr vert="horz" wrap="square" lIns="0" tIns="12700" rIns="0" bIns="0" rtlCol="0">
            <a:spAutoFit/>
          </a:bodyPr>
          <a:lstStyle/>
          <a:p>
            <a:pPr marL="12700">
              <a:lnSpc>
                <a:spcPct val="100000"/>
              </a:lnSpc>
              <a:spcBef>
                <a:spcPts val="100"/>
              </a:spcBef>
              <a:tabLst>
                <a:tab pos="1966595" algn="l"/>
                <a:tab pos="5348605" algn="l"/>
                <a:tab pos="6511925" algn="l"/>
              </a:tabLst>
            </a:pPr>
            <a:r>
              <a:rPr dirty="0"/>
              <a:t>Git</a:t>
            </a:r>
            <a:r>
              <a:rPr spc="-75" dirty="0"/>
              <a:t> </a:t>
            </a:r>
            <a:r>
              <a:rPr spc="-25" dirty="0"/>
              <a:t>Hub</a:t>
            </a:r>
            <a:r>
              <a:rPr dirty="0"/>
              <a:t>	Dashboards</a:t>
            </a:r>
            <a:r>
              <a:rPr spc="-60" dirty="0"/>
              <a:t> </a:t>
            </a:r>
            <a:r>
              <a:rPr spc="-25" dirty="0"/>
              <a:t>of</a:t>
            </a:r>
            <a:r>
              <a:rPr dirty="0"/>
              <a:t>	</a:t>
            </a:r>
            <a:r>
              <a:rPr spc="-20" dirty="0"/>
              <a:t>each</a:t>
            </a:r>
            <a:r>
              <a:rPr dirty="0"/>
              <a:t>	</a:t>
            </a:r>
            <a:r>
              <a:rPr spc="-10" dirty="0"/>
              <a:t>student</a:t>
            </a:r>
          </a:p>
        </p:txBody>
      </p:sp>
      <p:sp>
        <p:nvSpPr>
          <p:cNvPr id="10" name="object 10"/>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US" spc="-10" dirty="0"/>
              <a:t>B</a:t>
            </a:r>
            <a:r>
              <a:rPr spc="-10" dirty="0"/>
              <a:t> </a:t>
            </a:r>
            <a:r>
              <a:rPr dirty="0"/>
              <a:t>-</a:t>
            </a:r>
            <a:r>
              <a:rPr spc="-5" dirty="0"/>
              <a:t> </a:t>
            </a:r>
            <a:r>
              <a:rPr lang="en-IN" spc="-25" dirty="0"/>
              <a:t>09</a:t>
            </a:r>
            <a:endParaRPr spc="-25" dirty="0"/>
          </a:p>
        </p:txBody>
      </p:sp>
      <p:sp>
        <p:nvSpPr>
          <p:cNvPr id="11" name="object 11"/>
          <p:cNvSpPr txBox="1">
            <a:spLocks noGrp="1"/>
          </p:cNvSpPr>
          <p:nvPr>
            <p:ph type="dt" sz="half" idx="6"/>
          </p:nvPr>
        </p:nvSpPr>
        <p:spPr>
          <a:xfrm>
            <a:off x="1773948" y="6629559"/>
            <a:ext cx="40934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12" name="object 12"/>
          <p:cNvSpPr txBox="1"/>
          <p:nvPr/>
        </p:nvSpPr>
        <p:spPr>
          <a:xfrm>
            <a:off x="7147541" y="6629197"/>
            <a:ext cx="4206259" cy="228803"/>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13" name="object 13"/>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10</a:t>
            </a:fld>
            <a:endParaRPr spc="-25" dirty="0"/>
          </a:p>
        </p:txBody>
      </p:sp>
      <p:sp>
        <p:nvSpPr>
          <p:cNvPr id="15" name="TextBox 14">
            <a:extLst>
              <a:ext uri="{FF2B5EF4-FFF2-40B4-BE49-F238E27FC236}">
                <a16:creationId xmlns:a16="http://schemas.microsoft.com/office/drawing/2014/main" id="{A36DFF5F-E73C-9BC3-DBFD-3FFFCA75FAC8}"/>
              </a:ext>
            </a:extLst>
          </p:cNvPr>
          <p:cNvSpPr txBox="1"/>
          <p:nvPr/>
        </p:nvSpPr>
        <p:spPr>
          <a:xfrm>
            <a:off x="1698352" y="6203206"/>
            <a:ext cx="10323493" cy="369332"/>
          </a:xfrm>
          <a:prstGeom prst="rect">
            <a:avLst/>
          </a:prstGeom>
          <a:noFill/>
        </p:spPr>
        <p:txBody>
          <a:bodyPr wrap="square">
            <a:spAutoFit/>
          </a:bodyPr>
          <a:lstStyle/>
          <a:p>
            <a:r>
              <a:rPr lang="en-US" sz="1800" dirty="0">
                <a:latin typeface="Times New Roman" panose="02020603050405020304" pitchFamily="18" charset="0"/>
                <a:cs typeface="Times New Roman" panose="02020603050405020304" pitchFamily="18" charset="0"/>
              </a:rPr>
              <a:t>link</a:t>
            </a:r>
            <a:r>
              <a:rPr lang="en-US" sz="1800" spc="-10"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of</a:t>
            </a:r>
            <a:r>
              <a:rPr lang="en-US" sz="1800" spc="-10"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the</a:t>
            </a:r>
            <a:r>
              <a:rPr lang="en-US" sz="1800" spc="-10" dirty="0">
                <a:latin typeface="Times New Roman" panose="02020603050405020304" pitchFamily="18" charset="0"/>
                <a:cs typeface="Times New Roman" panose="02020603050405020304" pitchFamily="18" charset="0"/>
              </a:rPr>
              <a:t> </a:t>
            </a:r>
            <a:r>
              <a:rPr lang="en-US" sz="1800" spc="-10" dirty="0" err="1">
                <a:latin typeface="Times New Roman" panose="02020603050405020304" pitchFamily="18" charset="0"/>
                <a:cs typeface="Times New Roman" panose="02020603050405020304" pitchFamily="18" charset="0"/>
              </a:rPr>
              <a:t>Github</a:t>
            </a:r>
            <a:r>
              <a:rPr lang="en-US" sz="1800" spc="-10" dirty="0">
                <a:latin typeface="Times New Roman" panose="02020603050405020304" pitchFamily="18" charset="0"/>
                <a:cs typeface="Times New Roman" panose="02020603050405020304" pitchFamily="18" charset="0"/>
              </a:rPr>
              <a:t>:   https://github.com/RAJAKASUPRAJA/CSE-2022-2026-Batch-B09</a:t>
            </a:r>
            <a:endParaRPr lang="en-IN" dirty="0"/>
          </a:p>
        </p:txBody>
      </p:sp>
      <p:pic>
        <p:nvPicPr>
          <p:cNvPr id="17" name="Picture 16">
            <a:extLst>
              <a:ext uri="{FF2B5EF4-FFF2-40B4-BE49-F238E27FC236}">
                <a16:creationId xmlns:a16="http://schemas.microsoft.com/office/drawing/2014/main" id="{BFFA1797-F19E-014D-798C-6AD495053147}"/>
              </a:ext>
            </a:extLst>
          </p:cNvPr>
          <p:cNvPicPr>
            <a:picLocks noChangeAspect="1"/>
          </p:cNvPicPr>
          <p:nvPr/>
        </p:nvPicPr>
        <p:blipFill>
          <a:blip r:embed="rId4"/>
          <a:stretch>
            <a:fillRect/>
          </a:stretch>
        </p:blipFill>
        <p:spPr>
          <a:xfrm>
            <a:off x="849214" y="1036080"/>
            <a:ext cx="10036369" cy="505741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0" y="0"/>
            <a:ext cx="12192000" cy="233045"/>
          </a:xfrm>
          <a:custGeom>
            <a:avLst/>
            <a:gdLst/>
            <a:ahLst/>
            <a:cxnLst/>
            <a:rect l="l" t="t" r="r" b="b"/>
            <a:pathLst>
              <a:path w="12192000" h="233045">
                <a:moveTo>
                  <a:pt x="12191759" y="232559"/>
                </a:moveTo>
                <a:lnTo>
                  <a:pt x="0" y="232559"/>
                </a:lnTo>
                <a:lnTo>
                  <a:pt x="0" y="0"/>
                </a:lnTo>
                <a:lnTo>
                  <a:pt x="12191759" y="0"/>
                </a:lnTo>
                <a:lnTo>
                  <a:pt x="12191759" y="232559"/>
                </a:lnTo>
                <a:close/>
              </a:path>
            </a:pathLst>
          </a:custGeom>
          <a:solidFill>
            <a:srgbClr val="006666"/>
          </a:solidFill>
        </p:spPr>
        <p:txBody>
          <a:bodyPr wrap="square" lIns="0" tIns="0" rIns="0" bIns="0" rtlCol="0"/>
          <a:lstStyle/>
          <a:p>
            <a:endParaRPr/>
          </a:p>
        </p:txBody>
      </p:sp>
      <p:sp>
        <p:nvSpPr>
          <p:cNvPr id="3" name="object 3"/>
          <p:cNvSpPr txBox="1"/>
          <p:nvPr/>
        </p:nvSpPr>
        <p:spPr>
          <a:xfrm>
            <a:off x="3887839" y="-20823"/>
            <a:ext cx="3871897" cy="243656"/>
          </a:xfrm>
          <a:prstGeom prst="rect">
            <a:avLst/>
          </a:prstGeom>
        </p:spPr>
        <p:txBody>
          <a:bodyPr vert="horz" wrap="square" lIns="0" tIns="12700" rIns="0" bIns="0" rtlCol="0">
            <a:spAutoFit/>
          </a:bodyPr>
          <a:lstStyle/>
          <a:p>
            <a:pPr marL="12700">
              <a:lnSpc>
                <a:spcPct val="100000"/>
              </a:lnSpc>
              <a:spcBef>
                <a:spcPts val="100"/>
              </a:spcBef>
            </a:pPr>
            <a:r>
              <a:rPr lang="en-US" sz="1500" b="1" i="1" dirty="0">
                <a:solidFill>
                  <a:srgbClr val="FFFFFF"/>
                </a:solidFill>
                <a:latin typeface="Times New Roman"/>
                <a:cs typeface="Times New Roman"/>
              </a:rPr>
              <a:t>College Alumni Connect &amp; Management System</a:t>
            </a:r>
            <a:endParaRPr sz="1500" dirty="0">
              <a:latin typeface="Times New Roman"/>
              <a:cs typeface="Times New Roman"/>
            </a:endParaRPr>
          </a:p>
        </p:txBody>
      </p:sp>
      <p:sp>
        <p:nvSpPr>
          <p:cNvPr id="5" name="object 5"/>
          <p:cNvSpPr txBox="1">
            <a:spLocks noGrp="1"/>
          </p:cNvSpPr>
          <p:nvPr>
            <p:ph type="ftr" sz="quarter" idx="5"/>
          </p:nvPr>
        </p:nvSpPr>
        <p:spPr>
          <a:xfrm>
            <a:off x="149031" y="6629427"/>
            <a:ext cx="635000" cy="230832"/>
          </a:xfrm>
          <a:prstGeom prst="rect">
            <a:avLst/>
          </a:prstGeom>
        </p:spPr>
        <p:txBody>
          <a:bodyPr vert="horz" wrap="square" lIns="0" tIns="0" rIns="0" bIns="0" rtlCol="0">
            <a:spAutoFit/>
          </a:bodyPr>
          <a:lstStyle/>
          <a:p>
            <a:pPr marL="12700">
              <a:lnSpc>
                <a:spcPts val="1845"/>
              </a:lnSpc>
            </a:pPr>
            <a:r>
              <a:rPr lang="en-US" spc="-10" dirty="0"/>
              <a:t>B</a:t>
            </a:r>
            <a:r>
              <a:rPr spc="-10" dirty="0"/>
              <a:t> </a:t>
            </a:r>
            <a:r>
              <a:rPr dirty="0"/>
              <a:t>-</a:t>
            </a:r>
            <a:r>
              <a:rPr spc="-5" dirty="0"/>
              <a:t> </a:t>
            </a:r>
            <a:r>
              <a:rPr lang="en-IN" spc="-25" dirty="0"/>
              <a:t>09</a:t>
            </a:r>
            <a:endParaRPr spc="-25" dirty="0"/>
          </a:p>
        </p:txBody>
      </p:sp>
      <p:sp>
        <p:nvSpPr>
          <p:cNvPr id="6" name="object 6"/>
          <p:cNvSpPr txBox="1">
            <a:spLocks noGrp="1"/>
          </p:cNvSpPr>
          <p:nvPr>
            <p:ph type="dt" sz="half" idx="6"/>
          </p:nvPr>
        </p:nvSpPr>
        <p:spPr>
          <a:xfrm>
            <a:off x="1773948" y="6629559"/>
            <a:ext cx="4169651" cy="230832"/>
          </a:xfrm>
          <a:prstGeom prst="rect">
            <a:avLst/>
          </a:prstGeom>
        </p:spPr>
        <p:txBody>
          <a:bodyPr vert="horz" wrap="square" lIns="0" tIns="0" rIns="0" bIns="0" rtlCol="0">
            <a:spAutoFit/>
          </a:bodyPr>
          <a:lstStyle/>
          <a:p>
            <a:pPr marL="12700">
              <a:lnSpc>
                <a:spcPts val="1845"/>
              </a:lnSpc>
            </a:pPr>
            <a:r>
              <a:rPr cap="small" spc="-75" dirty="0"/>
              <a:t>Dept.</a:t>
            </a:r>
            <a:r>
              <a:rPr cap="small" spc="-10" dirty="0"/>
              <a:t> </a:t>
            </a:r>
            <a:r>
              <a:rPr cap="small" spc="-100" dirty="0"/>
              <a:t>of</a:t>
            </a:r>
            <a:r>
              <a:rPr cap="small" spc="50" dirty="0"/>
              <a:t> </a:t>
            </a:r>
            <a:r>
              <a:rPr cap="small" spc="-114" dirty="0"/>
              <a:t>Computer</a:t>
            </a:r>
            <a:r>
              <a:rPr cap="small" spc="60" dirty="0"/>
              <a:t> </a:t>
            </a:r>
            <a:r>
              <a:rPr cap="small" spc="-95" dirty="0"/>
              <a:t>Science</a:t>
            </a:r>
            <a:r>
              <a:rPr cap="small" spc="55" dirty="0"/>
              <a:t> </a:t>
            </a:r>
            <a:r>
              <a:rPr cap="small" spc="-130" dirty="0"/>
              <a:t>and</a:t>
            </a:r>
            <a:r>
              <a:rPr cap="small" spc="55" dirty="0"/>
              <a:t> </a:t>
            </a:r>
            <a:r>
              <a:rPr cap="small" spc="-130" dirty="0"/>
              <a:t>Engineering</a:t>
            </a:r>
          </a:p>
        </p:txBody>
      </p:sp>
      <p:sp>
        <p:nvSpPr>
          <p:cNvPr id="7" name="object 7"/>
          <p:cNvSpPr txBox="1"/>
          <p:nvPr/>
        </p:nvSpPr>
        <p:spPr>
          <a:xfrm>
            <a:off x="7147541" y="6629197"/>
            <a:ext cx="4282459" cy="230832"/>
          </a:xfrm>
          <a:prstGeom prst="rect">
            <a:avLst/>
          </a:prstGeom>
        </p:spPr>
        <p:txBody>
          <a:bodyPr vert="horz" wrap="square" lIns="0" tIns="0" rIns="0" bIns="0" rtlCol="0">
            <a:spAutoFit/>
          </a:bodyPr>
          <a:lstStyle/>
          <a:p>
            <a:pPr marL="12700">
              <a:lnSpc>
                <a:spcPts val="1845"/>
              </a:lnSpc>
            </a:pPr>
            <a:r>
              <a:rPr sz="1600" cap="small" spc="-105" dirty="0">
                <a:solidFill>
                  <a:srgbClr val="FFFFFF"/>
                </a:solidFill>
                <a:latin typeface="Times New Roman"/>
                <a:cs typeface="Times New Roman"/>
              </a:rPr>
              <a:t>Srinivasa</a:t>
            </a:r>
            <a:r>
              <a:rPr sz="1600" cap="small" spc="70" dirty="0">
                <a:solidFill>
                  <a:srgbClr val="FFFFFF"/>
                </a:solidFill>
                <a:latin typeface="Times New Roman"/>
                <a:cs typeface="Times New Roman"/>
              </a:rPr>
              <a:t> </a:t>
            </a:r>
            <a:r>
              <a:rPr sz="1600" cap="small" spc="-120" dirty="0">
                <a:solidFill>
                  <a:srgbClr val="FFFFFF"/>
                </a:solidFill>
                <a:latin typeface="Times New Roman"/>
                <a:cs typeface="Times New Roman"/>
              </a:rPr>
              <a:t>Ramanujan</a:t>
            </a:r>
            <a:r>
              <a:rPr sz="1600" cap="small" spc="75" dirty="0">
                <a:solidFill>
                  <a:srgbClr val="FFFFFF"/>
                </a:solidFill>
                <a:latin typeface="Times New Roman"/>
                <a:cs typeface="Times New Roman"/>
              </a:rPr>
              <a:t> </a:t>
            </a:r>
            <a:r>
              <a:rPr sz="1600" cap="small" spc="-110" dirty="0">
                <a:solidFill>
                  <a:srgbClr val="FFFFFF"/>
                </a:solidFill>
                <a:latin typeface="Times New Roman"/>
                <a:cs typeface="Times New Roman"/>
              </a:rPr>
              <a:t>Institute</a:t>
            </a:r>
            <a:r>
              <a:rPr sz="1600" cap="small" spc="75" dirty="0">
                <a:solidFill>
                  <a:srgbClr val="FFFFFF"/>
                </a:solidFill>
                <a:latin typeface="Times New Roman"/>
                <a:cs typeface="Times New Roman"/>
              </a:rPr>
              <a:t> </a:t>
            </a:r>
            <a:r>
              <a:rPr sz="1600" cap="small" spc="-100" dirty="0">
                <a:solidFill>
                  <a:srgbClr val="FFFFFF"/>
                </a:solidFill>
                <a:latin typeface="Times New Roman"/>
                <a:cs typeface="Times New Roman"/>
              </a:rPr>
              <a:t>of</a:t>
            </a:r>
            <a:r>
              <a:rPr sz="1600" cap="small" spc="75" dirty="0">
                <a:solidFill>
                  <a:srgbClr val="FFFFFF"/>
                </a:solidFill>
                <a:latin typeface="Times New Roman"/>
                <a:cs typeface="Times New Roman"/>
              </a:rPr>
              <a:t> </a:t>
            </a:r>
            <a:r>
              <a:rPr sz="1600" cap="small" spc="-140" dirty="0">
                <a:solidFill>
                  <a:srgbClr val="FFFFFF"/>
                </a:solidFill>
                <a:latin typeface="Times New Roman"/>
                <a:cs typeface="Times New Roman"/>
              </a:rPr>
              <a:t>Technology</a:t>
            </a:r>
            <a:endParaRPr sz="1600">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12700">
              <a:lnSpc>
                <a:spcPts val="1845"/>
              </a:lnSpc>
            </a:pPr>
            <a:fld id="{81D60167-4931-47E6-BA6A-407CBD079E47}" type="slidenum">
              <a:rPr spc="-25" dirty="0"/>
              <a:t>11</a:t>
            </a:fld>
            <a:endParaRPr spc="-25" dirty="0"/>
          </a:p>
        </p:txBody>
      </p:sp>
      <p:sp>
        <p:nvSpPr>
          <p:cNvPr id="4" name="object 4"/>
          <p:cNvSpPr txBox="1">
            <a:spLocks noGrp="1"/>
          </p:cNvSpPr>
          <p:nvPr>
            <p:ph type="title"/>
          </p:nvPr>
        </p:nvSpPr>
        <p:spPr>
          <a:xfrm>
            <a:off x="2705705" y="2352272"/>
            <a:ext cx="6692265" cy="1488440"/>
          </a:xfrm>
          <a:prstGeom prst="rect">
            <a:avLst/>
          </a:prstGeom>
        </p:spPr>
        <p:txBody>
          <a:bodyPr vert="horz" wrap="square" lIns="0" tIns="12700" rIns="0" bIns="0" rtlCol="0">
            <a:spAutoFit/>
          </a:bodyPr>
          <a:lstStyle/>
          <a:p>
            <a:pPr marL="12700">
              <a:lnSpc>
                <a:spcPct val="100000"/>
              </a:lnSpc>
              <a:spcBef>
                <a:spcPts val="100"/>
              </a:spcBef>
            </a:pPr>
            <a:r>
              <a:rPr sz="9600" i="1" dirty="0">
                <a:solidFill>
                  <a:srgbClr val="FF6600"/>
                </a:solidFill>
                <a:latin typeface="Times New Roman"/>
                <a:cs typeface="Times New Roman"/>
              </a:rPr>
              <a:t>Any</a:t>
            </a:r>
            <a:r>
              <a:rPr sz="9600" i="1" spc="-30" dirty="0">
                <a:solidFill>
                  <a:srgbClr val="FF6600"/>
                </a:solidFill>
                <a:latin typeface="Times New Roman"/>
                <a:cs typeface="Times New Roman"/>
              </a:rPr>
              <a:t> </a:t>
            </a:r>
            <a:r>
              <a:rPr sz="9600" i="1" spc="-10" dirty="0">
                <a:solidFill>
                  <a:srgbClr val="FF6600"/>
                </a:solidFill>
                <a:latin typeface="Times New Roman"/>
                <a:cs typeface="Times New Roman"/>
              </a:rPr>
              <a:t>Queries?</a:t>
            </a:r>
            <a:endParaRPr sz="9600">
              <a:latin typeface="Times New Roman"/>
              <a:cs typeface="Times New Roman"/>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1239</TotalTime>
  <Words>1311</Words>
  <Application>Microsoft Office PowerPoint</Application>
  <PresentationFormat>Widescreen</PresentationFormat>
  <Paragraphs>160</Paragraphs>
  <Slides>11</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Times New Roman</vt:lpstr>
      <vt:lpstr>Office Theme</vt:lpstr>
      <vt:lpstr>COLLEGE ALUMNI CONNECT &amp; MANAGEMENT SYSTEM </vt:lpstr>
      <vt:lpstr>Contents</vt:lpstr>
      <vt:lpstr>Title Justification</vt:lpstr>
      <vt:lpstr>Abstract</vt:lpstr>
      <vt:lpstr>Problem Statement</vt:lpstr>
      <vt:lpstr>Objectives of Project</vt:lpstr>
      <vt:lpstr>                                     College Alumni Connect &amp; Management System</vt:lpstr>
      <vt:lpstr>Proposed System</vt:lpstr>
      <vt:lpstr>References</vt:lpstr>
      <vt:lpstr>Git Hub Dashboards of each student</vt:lpstr>
      <vt:lpstr>Any Queries?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pranathi</dc:creator>
  <cp:lastModifiedBy>Rajaka Lalitha</cp:lastModifiedBy>
  <cp:revision>22</cp:revision>
  <dcterms:created xsi:type="dcterms:W3CDTF">2025-12-02T11:29:58Z</dcterms:created>
  <dcterms:modified xsi:type="dcterms:W3CDTF">2025-12-18T03:02:19Z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2025-12-02T00:00:00Z</vt:filetime>
  </property>
  <property fmtid="{D5CDD505-2E9C-101B-9397-08002B2CF9AE}" pid="3" name="Creator">
    <vt:lpwstr>Google</vt:lpwstr>
  </property>
  <property fmtid="{D5CDD505-2E9C-101B-9397-08002B2CF9AE}" pid="4" name="LastSaved">
    <vt:filetime>2025-12-02T00:00:00Z</vt:filetime>
  </property>
</Properties>
</file>