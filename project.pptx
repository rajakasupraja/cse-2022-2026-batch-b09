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67" r:id="rId4"/>
    <p:sldId id="259" r:id="rId5"/>
    <p:sldId id="260" r:id="rId6"/>
    <p:sldId id="261" r:id="rId7"/>
    <p:sldId id="268" r:id="rId8"/>
    <p:sldId id="263" r:id="rId9"/>
    <p:sldId id="264" r:id="rId10"/>
    <p:sldId id="265" r:id="rId11"/>
    <p:sldId id="266"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203DB1-22C9-4328-8E0B-13A98EA180CE}" type="datetimeFigureOut">
              <a:rPr lang="en-IN" smtClean="0"/>
              <a:t>12-12-2025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3C257F-7C75-44DD-AC1C-7150640DC7DB}" type="slidenum">
              <a:rPr lang="en-IN" smtClean="0"/>
              <a:t>‹#›</a:t>
            </a:fld>
            <a:endParaRPr lang="en-IN"/>
          </a:p>
        </p:txBody>
      </p:sp>
    </p:spTree>
    <p:extLst>
      <p:ext uri="{BB962C8B-B14F-4D97-AF65-F5344CB8AC3E}">
        <p14:creationId xmlns:p14="http://schemas.microsoft.com/office/powerpoint/2010/main" val="1379966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B66991-F725-422B-A7F0-F43E86186675}" type="slidenum">
              <a:rPr lang="en-IN" smtClean="0"/>
              <a:t>7</a:t>
            </a:fld>
            <a:endParaRPr lang="en-IN"/>
          </a:p>
        </p:txBody>
      </p:sp>
    </p:spTree>
    <p:extLst>
      <p:ext uri="{BB962C8B-B14F-4D97-AF65-F5344CB8AC3E}">
        <p14:creationId xmlns:p14="http://schemas.microsoft.com/office/powerpoint/2010/main" val="754176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3C257F-7C75-44DD-AC1C-7150640DC7DB}" type="slidenum">
              <a:rPr lang="en-IN" smtClean="0"/>
              <a:t>10</a:t>
            </a:fld>
            <a:endParaRPr lang="en-IN"/>
          </a:p>
        </p:txBody>
      </p:sp>
    </p:spTree>
    <p:extLst>
      <p:ext uri="{BB962C8B-B14F-4D97-AF65-F5344CB8AC3E}">
        <p14:creationId xmlns:p14="http://schemas.microsoft.com/office/powerpoint/2010/main" val="1375006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endParaRPr/>
          </a:p>
        </p:txBody>
      </p:sp>
      <p:sp>
        <p:nvSpPr>
          <p:cNvPr id="8" name="object 8"/>
          <p:cNvSpPr txBox="1"/>
          <p:nvPr/>
        </p:nvSpPr>
        <p:spPr>
          <a:xfrm>
            <a:off x="4146600" y="1701167"/>
            <a:ext cx="3452892" cy="524631"/>
          </a:xfrm>
          <a:prstGeom prst="rect">
            <a:avLst/>
          </a:prstGeom>
        </p:spPr>
        <p:txBody>
          <a:bodyPr vert="horz" wrap="square" lIns="0" tIns="13335" rIns="0" bIns="0" rtlCol="0">
            <a:spAutoFit/>
          </a:bodyPr>
          <a:lstStyle/>
          <a:p>
            <a:pPr algn="ctr">
              <a:lnSpc>
                <a:spcPts val="2080"/>
              </a:lnSpc>
              <a:spcBef>
                <a:spcPts val="105"/>
              </a:spcBef>
            </a:pPr>
            <a:r>
              <a:rPr lang="en-IN" sz="1750" spc="-10" dirty="0">
                <a:latin typeface="Times New Roman"/>
                <a:cs typeface="Times New Roman"/>
              </a:rPr>
              <a:t>C.V.RAJASEKHAR REDDY</a:t>
            </a:r>
          </a:p>
          <a:p>
            <a:pPr algn="ctr">
              <a:lnSpc>
                <a:spcPts val="2080"/>
              </a:lnSpc>
              <a:spcBef>
                <a:spcPts val="105"/>
              </a:spcBef>
            </a:pP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224G1A05C2</a:t>
            </a:r>
          </a:p>
        </p:txBody>
      </p:sp>
      <p:sp>
        <p:nvSpPr>
          <p:cNvPr id="9" name="object 9"/>
          <p:cNvSpPr txBox="1"/>
          <p:nvPr/>
        </p:nvSpPr>
        <p:spPr>
          <a:xfrm>
            <a:off x="3510846" y="2468136"/>
            <a:ext cx="4724400" cy="1320874"/>
          </a:xfrm>
          <a:prstGeom prst="rect">
            <a:avLst/>
          </a:prstGeom>
        </p:spPr>
        <p:txBody>
          <a:bodyPr vert="horz" wrap="square" lIns="0" tIns="12700" rIns="0" bIns="0" rtlCol="0">
            <a:spAutoFit/>
          </a:bodyPr>
          <a:lstStyle/>
          <a:p>
            <a:pPr marL="635" algn="ctr">
              <a:lnSpc>
                <a:spcPts val="1630"/>
              </a:lnSpc>
              <a:spcBef>
                <a:spcPts val="100"/>
              </a:spcBef>
            </a:pPr>
            <a:r>
              <a:rPr lang="en-IN" sz="1400" i="1" dirty="0">
                <a:latin typeface="Times New Roman"/>
                <a:cs typeface="Times New Roman"/>
              </a:rPr>
              <a:t>U</a:t>
            </a:r>
            <a:r>
              <a:rPr sz="1400" i="1" dirty="0" err="1">
                <a:latin typeface="Times New Roman"/>
                <a:cs typeface="Times New Roman"/>
              </a:rPr>
              <a:t>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marL="12065" marR="5080" algn="ctr">
              <a:lnSpc>
                <a:spcPts val="2790"/>
              </a:lnSpc>
              <a:spcBef>
                <a:spcPts val="114"/>
              </a:spcBef>
            </a:pPr>
            <a:r>
              <a:rPr lang="en-IN" sz="2400" spc="-10" dirty="0">
                <a:latin typeface="Times New Roman"/>
                <a:cs typeface="Times New Roman"/>
              </a:rPr>
              <a:t>Dr. M.RANJIT REDDY</a:t>
            </a:r>
            <a:r>
              <a:rPr sz="2400" spc="-10" dirty="0">
                <a:latin typeface="Times New Roman"/>
                <a:cs typeface="Times New Roman"/>
              </a:rPr>
              <a:t>,</a:t>
            </a:r>
            <a:r>
              <a:rPr lang="en-IN" sz="2400" spc="-10" dirty="0">
                <a:latin typeface="Times New Roman"/>
                <a:cs typeface="Times New Roman"/>
              </a:rPr>
              <a:t> </a:t>
            </a:r>
            <a:r>
              <a:rPr lang="en-IN" sz="1400" spc="-10" dirty="0" err="1">
                <a:latin typeface="Times New Roman"/>
                <a:cs typeface="Times New Roman"/>
              </a:rPr>
              <a:t>M.Tech</a:t>
            </a:r>
            <a:r>
              <a:rPr lang="en-IN" sz="1400" spc="-10" dirty="0">
                <a:latin typeface="Times New Roman"/>
                <a:cs typeface="Times New Roman"/>
              </a:rPr>
              <a:t>., </a:t>
            </a:r>
            <a:r>
              <a:rPr lang="en-IN" sz="1400" spc="-10" dirty="0" err="1">
                <a:latin typeface="Times New Roman"/>
                <a:cs typeface="Times New Roman"/>
              </a:rPr>
              <a:t>ph.D.</a:t>
            </a:r>
            <a:r>
              <a:rPr sz="1400" spc="-10" dirty="0">
                <a:latin typeface="Times New Roman"/>
                <a:cs typeface="Times New Roman"/>
              </a:rPr>
              <a:t> </a:t>
            </a:r>
            <a:endParaRPr lang="en-IN" sz="1400" spc="-10" dirty="0">
              <a:latin typeface="Times New Roman"/>
              <a:cs typeface="Times New Roman"/>
            </a:endParaRPr>
          </a:p>
          <a:p>
            <a:pPr marL="12065" marR="5080" algn="ctr">
              <a:lnSpc>
                <a:spcPts val="2790"/>
              </a:lnSpc>
              <a:spcBef>
                <a:spcPts val="114"/>
              </a:spcBef>
            </a:pPr>
            <a:r>
              <a:rPr lang="en-IN" sz="1400" spc="-10" dirty="0">
                <a:latin typeface="Times New Roman"/>
                <a:cs typeface="Times New Roman"/>
              </a:rPr>
              <a:t>Professor</a:t>
            </a:r>
            <a:endParaRPr lang="en-IN" sz="1400" dirty="0">
              <a:latin typeface="Times New Roman"/>
              <a:cs typeface="Times New Roman"/>
            </a:endParaRPr>
          </a:p>
          <a:p>
            <a:pPr marL="12065" marR="5080" algn="ctr">
              <a:lnSpc>
                <a:spcPts val="2790"/>
              </a:lnSpc>
              <a:spcBef>
                <a:spcPts val="114"/>
              </a:spcBef>
            </a:pPr>
            <a:endParaRPr sz="2400" dirty="0">
              <a:latin typeface="Times New Roman"/>
              <a:cs typeface="Times New Roman"/>
            </a:endParaRPr>
          </a:p>
        </p:txBody>
      </p:sp>
      <p:sp>
        <p:nvSpPr>
          <p:cNvPr id="10" name="object 10"/>
          <p:cNvSpPr txBox="1"/>
          <p:nvPr/>
        </p:nvSpPr>
        <p:spPr>
          <a:xfrm>
            <a:off x="2147578" y="5096081"/>
            <a:ext cx="7890509" cy="1448435"/>
          </a:xfrm>
          <a:prstGeom prst="rect">
            <a:avLst/>
          </a:prstGeom>
        </p:spPr>
        <p:txBody>
          <a:bodyPr vert="horz" wrap="square" lIns="0" tIns="13335" rIns="0" bIns="0" rtlCol="0">
            <a:spAutoFit/>
          </a:bodyPr>
          <a:lstStyle/>
          <a:p>
            <a:pPr marL="4445" algn="ctr">
              <a:lnSpc>
                <a:spcPts val="2300"/>
              </a:lnSpc>
              <a:spcBef>
                <a:spcPts val="105"/>
              </a:spcBef>
            </a:pPr>
            <a:r>
              <a:rPr sz="2200" dirty="0">
                <a:latin typeface="Times New Roman"/>
                <a:cs typeface="Times New Roman"/>
              </a:rPr>
              <a:t>Department</a:t>
            </a:r>
            <a:r>
              <a:rPr sz="2200" spc="-25" dirty="0">
                <a:latin typeface="Times New Roman"/>
                <a:cs typeface="Times New Roman"/>
              </a:rPr>
              <a:t> </a:t>
            </a:r>
            <a:r>
              <a:rPr sz="2200" dirty="0">
                <a:latin typeface="Times New Roman"/>
                <a:cs typeface="Times New Roman"/>
              </a:rPr>
              <a:t>of</a:t>
            </a:r>
            <a:r>
              <a:rPr sz="2200" spc="-15" dirty="0">
                <a:latin typeface="Times New Roman"/>
                <a:cs typeface="Times New Roman"/>
              </a:rPr>
              <a:t> </a:t>
            </a:r>
            <a:r>
              <a:rPr sz="2200" dirty="0">
                <a:latin typeface="Times New Roman"/>
                <a:cs typeface="Times New Roman"/>
              </a:rPr>
              <a:t>Computer</a:t>
            </a:r>
            <a:r>
              <a:rPr sz="2200" spc="-15" dirty="0">
                <a:latin typeface="Times New Roman"/>
                <a:cs typeface="Times New Roman"/>
              </a:rPr>
              <a:t> </a:t>
            </a:r>
            <a:r>
              <a:rPr sz="2200" dirty="0">
                <a:latin typeface="Times New Roman"/>
                <a:cs typeface="Times New Roman"/>
              </a:rPr>
              <a:t>Science</a:t>
            </a:r>
            <a:r>
              <a:rPr sz="2200" spc="-20" dirty="0">
                <a:latin typeface="Times New Roman"/>
                <a:cs typeface="Times New Roman"/>
              </a:rPr>
              <a:t> </a:t>
            </a:r>
            <a:r>
              <a:rPr sz="2200" dirty="0">
                <a:latin typeface="Times New Roman"/>
                <a:cs typeface="Times New Roman"/>
              </a:rPr>
              <a:t>and</a:t>
            </a:r>
            <a:r>
              <a:rPr sz="2200" spc="-15" dirty="0">
                <a:latin typeface="Times New Roman"/>
                <a:cs typeface="Times New Roman"/>
              </a:rPr>
              <a:t> </a:t>
            </a:r>
            <a:r>
              <a:rPr sz="2200" dirty="0">
                <a:latin typeface="Times New Roman"/>
                <a:cs typeface="Times New Roman"/>
              </a:rPr>
              <a:t>Engineering</a:t>
            </a:r>
            <a:r>
              <a:rPr sz="2200" spc="-15" dirty="0">
                <a:latin typeface="Times New Roman"/>
                <a:cs typeface="Times New Roman"/>
              </a:rPr>
              <a:t> </a:t>
            </a:r>
            <a:endParaRPr sz="2200" dirty="0">
              <a:latin typeface="Times New Roman"/>
              <a:cs typeface="Times New Roman"/>
            </a:endParaRPr>
          </a:p>
          <a:p>
            <a:pPr algn="ctr">
              <a:lnSpc>
                <a:spcPts val="3565"/>
              </a:lnSpc>
            </a:pPr>
            <a:r>
              <a:rPr sz="3400" dirty="0">
                <a:solidFill>
                  <a:srgbClr val="FF0000"/>
                </a:solidFill>
                <a:latin typeface="Times New Roman"/>
                <a:cs typeface="Times New Roman"/>
              </a:rPr>
              <a:t>Srinivasa</a:t>
            </a:r>
            <a:r>
              <a:rPr sz="3400" spc="-20" dirty="0">
                <a:solidFill>
                  <a:srgbClr val="FF0000"/>
                </a:solidFill>
                <a:latin typeface="Times New Roman"/>
                <a:cs typeface="Times New Roman"/>
              </a:rPr>
              <a:t> </a:t>
            </a:r>
            <a:r>
              <a:rPr sz="3400" dirty="0">
                <a:solidFill>
                  <a:srgbClr val="FF0000"/>
                </a:solidFill>
                <a:latin typeface="Times New Roman"/>
                <a:cs typeface="Times New Roman"/>
              </a:rPr>
              <a:t>Ramanujan</a:t>
            </a:r>
            <a:r>
              <a:rPr sz="3400" spc="-20" dirty="0">
                <a:solidFill>
                  <a:srgbClr val="FF0000"/>
                </a:solidFill>
                <a:latin typeface="Times New Roman"/>
                <a:cs typeface="Times New Roman"/>
              </a:rPr>
              <a:t> </a:t>
            </a:r>
            <a:r>
              <a:rPr sz="3400" dirty="0">
                <a:solidFill>
                  <a:srgbClr val="FF0000"/>
                </a:solidFill>
                <a:latin typeface="Times New Roman"/>
                <a:cs typeface="Times New Roman"/>
              </a:rPr>
              <a:t>Institute</a:t>
            </a:r>
            <a:r>
              <a:rPr sz="3400" spc="-20" dirty="0">
                <a:solidFill>
                  <a:srgbClr val="FF0000"/>
                </a:solidFill>
                <a:latin typeface="Times New Roman"/>
                <a:cs typeface="Times New Roman"/>
              </a:rPr>
              <a:t> </a:t>
            </a:r>
            <a:r>
              <a:rPr sz="3400" dirty="0">
                <a:solidFill>
                  <a:srgbClr val="FF0000"/>
                </a:solidFill>
                <a:latin typeface="Times New Roman"/>
                <a:cs typeface="Times New Roman"/>
              </a:rPr>
              <a:t>of</a:t>
            </a:r>
            <a:r>
              <a:rPr sz="3400" spc="-20" dirty="0">
                <a:solidFill>
                  <a:srgbClr val="FF0000"/>
                </a:solidFill>
                <a:latin typeface="Times New Roman"/>
                <a:cs typeface="Times New Roman"/>
              </a:rPr>
              <a:t> </a:t>
            </a:r>
            <a:r>
              <a:rPr sz="3400" spc="-10" dirty="0">
                <a:solidFill>
                  <a:srgbClr val="FF0000"/>
                </a:solidFill>
                <a:latin typeface="Times New Roman"/>
                <a:cs typeface="Times New Roman"/>
              </a:rPr>
              <a:t>Technology</a:t>
            </a:r>
            <a:endParaRPr sz="3400" dirty="0">
              <a:latin typeface="Times New Roman"/>
              <a:cs typeface="Times New Roman"/>
            </a:endParaRPr>
          </a:p>
          <a:p>
            <a:pPr marL="6350" algn="ctr">
              <a:lnSpc>
                <a:spcPts val="1850"/>
              </a:lnSpc>
            </a:pPr>
            <a:r>
              <a:rPr sz="1750" b="1" spc="-10" dirty="0">
                <a:latin typeface="Times New Roman"/>
                <a:cs typeface="Times New Roman"/>
              </a:rPr>
              <a:t>Autonomous</a:t>
            </a:r>
            <a:endParaRPr sz="1750" dirty="0">
              <a:latin typeface="Times New Roman"/>
              <a:cs typeface="Times New Roman"/>
            </a:endParaRPr>
          </a:p>
          <a:p>
            <a:pPr marL="7620" algn="ctr">
              <a:lnSpc>
                <a:spcPts val="1370"/>
              </a:lnSpc>
            </a:pPr>
            <a:r>
              <a:rPr sz="1200" b="1" dirty="0">
                <a:latin typeface="Times New Roman"/>
                <a:cs typeface="Times New Roman"/>
              </a:rPr>
              <a:t>Rotarypuram</a:t>
            </a:r>
            <a:r>
              <a:rPr sz="1200" b="1" spc="-10" dirty="0">
                <a:latin typeface="Times New Roman"/>
                <a:cs typeface="Times New Roman"/>
              </a:rPr>
              <a:t> </a:t>
            </a:r>
            <a:r>
              <a:rPr sz="1200" b="1" dirty="0">
                <a:latin typeface="Times New Roman"/>
                <a:cs typeface="Times New Roman"/>
              </a:rPr>
              <a:t>Village,</a:t>
            </a:r>
            <a:r>
              <a:rPr sz="1200" b="1" spc="-5" dirty="0">
                <a:latin typeface="Times New Roman"/>
                <a:cs typeface="Times New Roman"/>
              </a:rPr>
              <a:t> </a:t>
            </a:r>
            <a:r>
              <a:rPr sz="1200" b="1" dirty="0">
                <a:latin typeface="Times New Roman"/>
                <a:cs typeface="Times New Roman"/>
              </a:rPr>
              <a:t>B</a:t>
            </a:r>
            <a:r>
              <a:rPr sz="1200" b="1" spc="-10" dirty="0">
                <a:latin typeface="Times New Roman"/>
                <a:cs typeface="Times New Roman"/>
              </a:rPr>
              <a:t> </a:t>
            </a:r>
            <a:r>
              <a:rPr sz="1200" b="1" dirty="0">
                <a:latin typeface="Times New Roman"/>
                <a:cs typeface="Times New Roman"/>
              </a:rPr>
              <a:t>K</a:t>
            </a:r>
            <a:r>
              <a:rPr sz="1200" b="1" spc="-5" dirty="0">
                <a:latin typeface="Times New Roman"/>
                <a:cs typeface="Times New Roman"/>
              </a:rPr>
              <a:t> </a:t>
            </a:r>
            <a:r>
              <a:rPr sz="1200" b="1" dirty="0">
                <a:latin typeface="Times New Roman"/>
                <a:cs typeface="Times New Roman"/>
              </a:rPr>
              <a:t>Samudram</a:t>
            </a:r>
            <a:r>
              <a:rPr sz="1200" b="1" spc="-10" dirty="0">
                <a:latin typeface="Times New Roman"/>
                <a:cs typeface="Times New Roman"/>
              </a:rPr>
              <a:t> </a:t>
            </a:r>
            <a:r>
              <a:rPr sz="1200" b="1" dirty="0">
                <a:latin typeface="Times New Roman"/>
                <a:cs typeface="Times New Roman"/>
              </a:rPr>
              <a:t>Mandal,</a:t>
            </a:r>
            <a:r>
              <a:rPr sz="1200" b="1" spc="-5" dirty="0">
                <a:latin typeface="Times New Roman"/>
                <a:cs typeface="Times New Roman"/>
              </a:rPr>
              <a:t> </a:t>
            </a:r>
            <a:r>
              <a:rPr sz="1200" b="1" dirty="0">
                <a:latin typeface="Times New Roman"/>
                <a:cs typeface="Times New Roman"/>
              </a:rPr>
              <a:t>Ananthapuramu</a:t>
            </a:r>
            <a:r>
              <a:rPr sz="1200" b="1" spc="-10" dirty="0">
                <a:latin typeface="Times New Roman"/>
                <a:cs typeface="Times New Roman"/>
              </a:rPr>
              <a:t> </a:t>
            </a:r>
            <a:r>
              <a:rPr sz="1200" b="1" dirty="0">
                <a:latin typeface="Times New Roman"/>
                <a:cs typeface="Times New Roman"/>
              </a:rPr>
              <a:t>–</a:t>
            </a:r>
            <a:r>
              <a:rPr sz="1200" b="1" spc="-5" dirty="0">
                <a:latin typeface="Times New Roman"/>
                <a:cs typeface="Times New Roman"/>
              </a:rPr>
              <a:t> </a:t>
            </a:r>
            <a:r>
              <a:rPr sz="1200" b="1" spc="-10" dirty="0">
                <a:latin typeface="Times New Roman"/>
                <a:cs typeface="Times New Roman"/>
              </a:rPr>
              <a:t>515701.</a:t>
            </a:r>
            <a:endParaRPr sz="1200" dirty="0">
              <a:latin typeface="Times New Roman"/>
              <a:cs typeface="Times New Roman"/>
            </a:endParaRPr>
          </a:p>
          <a:p>
            <a:pPr marL="6985" algn="ctr">
              <a:lnSpc>
                <a:spcPct val="100000"/>
              </a:lnSpc>
              <a:spcBef>
                <a:spcPts val="545"/>
              </a:spcBef>
            </a:pPr>
            <a:r>
              <a:rPr sz="1300" b="1" dirty="0">
                <a:solidFill>
                  <a:srgbClr val="1E4E78"/>
                </a:solidFill>
                <a:latin typeface="Times New Roman"/>
                <a:cs typeface="Times New Roman"/>
              </a:rPr>
              <a:t>202</a:t>
            </a:r>
            <a:r>
              <a:rPr lang="en-IN" sz="1300" b="1" dirty="0">
                <a:solidFill>
                  <a:srgbClr val="1E4E78"/>
                </a:solidFill>
                <a:latin typeface="Times New Roman"/>
                <a:cs typeface="Times New Roman"/>
              </a:rPr>
              <a:t>5-</a:t>
            </a:r>
            <a:r>
              <a:rPr sz="1300" b="1" spc="-20" dirty="0">
                <a:solidFill>
                  <a:srgbClr val="1E4E78"/>
                </a:solidFill>
                <a:latin typeface="Times New Roman"/>
                <a:cs typeface="Times New Roman"/>
              </a:rPr>
              <a:t>202</a:t>
            </a:r>
            <a:r>
              <a:rPr lang="en-IN" sz="1300" b="1" spc="-20" dirty="0">
                <a:solidFill>
                  <a:srgbClr val="1E4E78"/>
                </a:solidFill>
                <a:latin typeface="Times New Roman"/>
                <a:cs typeface="Times New Roman"/>
              </a:rPr>
              <a:t>6</a:t>
            </a:r>
            <a:endParaRPr sz="1300" dirty="0">
              <a:latin typeface="Times New Roman"/>
              <a:cs typeface="Times New Roman"/>
            </a:endParaRPr>
          </a:p>
        </p:txBody>
      </p:sp>
      <p:sp>
        <p:nvSpPr>
          <p:cNvPr id="11" name="object 11"/>
          <p:cNvSpPr txBox="1"/>
          <p:nvPr/>
        </p:nvSpPr>
        <p:spPr>
          <a:xfrm>
            <a:off x="1379132" y="1735791"/>
            <a:ext cx="2624412" cy="593239"/>
          </a:xfrm>
          <a:prstGeom prst="rect">
            <a:avLst/>
          </a:prstGeom>
        </p:spPr>
        <p:txBody>
          <a:bodyPr vert="horz" wrap="square" lIns="0" tIns="14605" rIns="0" bIns="0" rtlCol="0">
            <a:spAutoFit/>
          </a:bodyPr>
          <a:lstStyle/>
          <a:p>
            <a:pPr algn="ctr">
              <a:lnSpc>
                <a:spcPts val="2380"/>
              </a:lnSpc>
              <a:spcBef>
                <a:spcPts val="115"/>
              </a:spcBef>
            </a:pPr>
            <a:r>
              <a:rPr lang="en-IN" sz="2000" dirty="0">
                <a:latin typeface="Times New Roman"/>
                <a:cs typeface="Times New Roman"/>
              </a:rPr>
              <a:t>R.SUPRAJA </a:t>
            </a:r>
          </a:p>
          <a:p>
            <a:pPr algn="ctr">
              <a:lnSpc>
                <a:spcPts val="2380"/>
              </a:lnSpc>
              <a:spcBef>
                <a:spcPts val="115"/>
              </a:spcBef>
            </a:pPr>
            <a:r>
              <a:rPr sz="900" dirty="0">
                <a:latin typeface="Times New Roman"/>
                <a:cs typeface="Times New Roman"/>
              </a:rPr>
              <a:t>Roll</a:t>
            </a:r>
            <a:r>
              <a:rPr sz="900" spc="40" dirty="0">
                <a:latin typeface="Times New Roman"/>
                <a:cs typeface="Times New Roman"/>
              </a:rPr>
              <a:t> </a:t>
            </a:r>
            <a:r>
              <a:rPr sz="900" dirty="0">
                <a:latin typeface="Times New Roman"/>
                <a:cs typeface="Times New Roman"/>
              </a:rPr>
              <a:t>No.</a:t>
            </a:r>
            <a:r>
              <a:rPr sz="900" spc="40" dirty="0">
                <a:latin typeface="Times New Roman"/>
                <a:cs typeface="Times New Roman"/>
              </a:rPr>
              <a:t> </a:t>
            </a:r>
            <a:r>
              <a:rPr lang="en-IN" sz="900" spc="-10" dirty="0">
                <a:latin typeface="Times New Roman"/>
                <a:cs typeface="Times New Roman"/>
              </a:rPr>
              <a:t>224G1A05B1</a:t>
            </a:r>
            <a:endParaRPr sz="900" dirty="0">
              <a:latin typeface="Times New Roman"/>
              <a:cs typeface="Times New Roman"/>
            </a:endParaRPr>
          </a:p>
        </p:txBody>
      </p:sp>
      <p:sp>
        <p:nvSpPr>
          <p:cNvPr id="12" name="object 12"/>
          <p:cNvSpPr txBox="1"/>
          <p:nvPr/>
        </p:nvSpPr>
        <p:spPr>
          <a:xfrm>
            <a:off x="7748833" y="1735791"/>
            <a:ext cx="3371116" cy="480260"/>
          </a:xfrm>
          <a:prstGeom prst="rect">
            <a:avLst/>
          </a:prstGeom>
        </p:spPr>
        <p:txBody>
          <a:bodyPr vert="horz" wrap="square" lIns="0" tIns="13335" rIns="0" bIns="0" rtlCol="0">
            <a:spAutoFit/>
          </a:bodyPr>
          <a:lstStyle/>
          <a:p>
            <a:pPr marL="42545">
              <a:lnSpc>
                <a:spcPct val="100000"/>
              </a:lnSpc>
              <a:spcBef>
                <a:spcPts val="409"/>
              </a:spcBef>
            </a:pPr>
            <a:r>
              <a:rPr lang="en-IN" sz="1800" spc="-10" dirty="0">
                <a:latin typeface="Times New Roman"/>
                <a:cs typeface="Times New Roman"/>
              </a:rPr>
              <a:t>         </a:t>
            </a:r>
            <a:r>
              <a:rPr lang="en-IN" spc="-10" dirty="0">
                <a:latin typeface="Times New Roman"/>
                <a:cs typeface="Times New Roman"/>
              </a:rPr>
              <a:t>C.NARASIMHULU </a:t>
            </a:r>
          </a:p>
          <a:p>
            <a:pPr marL="42545">
              <a:lnSpc>
                <a:spcPct val="100000"/>
              </a:lnSpc>
              <a:spcBef>
                <a:spcPts val="409"/>
              </a:spcBef>
            </a:pPr>
            <a:r>
              <a:rPr lang="en-IN" sz="900" spc="-10" dirty="0">
                <a:latin typeface="Times New Roman"/>
                <a:cs typeface="Times New Roman"/>
              </a:rPr>
              <a:t>                                   </a:t>
            </a:r>
            <a:r>
              <a:rPr sz="900" dirty="0">
                <a:latin typeface="Times New Roman"/>
                <a:cs typeface="Times New Roman"/>
              </a:rPr>
              <a:t>Roll</a:t>
            </a:r>
            <a:r>
              <a:rPr sz="900" spc="5" dirty="0">
                <a:latin typeface="Times New Roman"/>
                <a:cs typeface="Times New Roman"/>
              </a:rPr>
              <a:t> </a:t>
            </a:r>
            <a:r>
              <a:rPr sz="900" dirty="0">
                <a:latin typeface="Times New Roman"/>
                <a:cs typeface="Times New Roman"/>
              </a:rPr>
              <a:t>No.</a:t>
            </a:r>
            <a:r>
              <a:rPr sz="900" spc="5" dirty="0">
                <a:latin typeface="Times New Roman"/>
                <a:cs typeface="Times New Roman"/>
              </a:rPr>
              <a:t> </a:t>
            </a:r>
            <a:r>
              <a:rPr lang="en-IN" sz="900" spc="-10" dirty="0">
                <a:latin typeface="Times New Roman"/>
                <a:cs typeface="Times New Roman"/>
              </a:rPr>
              <a:t>224G1A0558</a:t>
            </a:r>
            <a:endParaRPr sz="900" dirty="0">
              <a:latin typeface="Times New Roman"/>
              <a:cs typeface="Times New Roman"/>
            </a:endParaRPr>
          </a:p>
        </p:txBody>
      </p:sp>
      <p:grpSp>
        <p:nvGrpSpPr>
          <p:cNvPr id="14" name="object 14"/>
          <p:cNvGrpSpPr/>
          <p:nvPr/>
        </p:nvGrpSpPr>
        <p:grpSpPr>
          <a:xfrm>
            <a:off x="304800" y="318271"/>
            <a:ext cx="1158240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dirty="0"/>
            </a:p>
          </p:txBody>
        </p:sp>
      </p:grpSp>
      <p:sp>
        <p:nvSpPr>
          <p:cNvPr id="17" name="object 17"/>
          <p:cNvSpPr txBox="1">
            <a:spLocks noGrp="1"/>
          </p:cNvSpPr>
          <p:nvPr>
            <p:ph type="title"/>
          </p:nvPr>
        </p:nvSpPr>
        <p:spPr>
          <a:xfrm>
            <a:off x="685800" y="485427"/>
            <a:ext cx="10972800" cy="505267"/>
          </a:xfrm>
          <a:prstGeom prst="rect">
            <a:avLst/>
          </a:prstGeom>
        </p:spPr>
        <p:txBody>
          <a:bodyPr vert="horz" wrap="square" lIns="0" tIns="12700" rIns="0" bIns="0" rtlCol="0">
            <a:spAutoFit/>
          </a:bodyPr>
          <a:lstStyle/>
          <a:p>
            <a:pPr marL="12700">
              <a:lnSpc>
                <a:spcPct val="100000"/>
              </a:lnSpc>
              <a:spcBef>
                <a:spcPts val="100"/>
              </a:spcBef>
            </a:pPr>
            <a:r>
              <a:rPr lang="en-IN" sz="3200" dirty="0"/>
              <a:t>C</a:t>
            </a:r>
            <a:r>
              <a:rPr lang="en-US" sz="3200" dirty="0"/>
              <a:t>OLLEGE ALUMNI CONNECT &amp; MANAGEMENT SYSTEM </a:t>
            </a:r>
            <a:endParaRPr sz="3200" dirty="0"/>
          </a:p>
        </p:txBody>
      </p:sp>
      <p:sp>
        <p:nvSpPr>
          <p:cNvPr id="18" name="object 18"/>
          <p:cNvSpPr txBox="1"/>
          <p:nvPr/>
        </p:nvSpPr>
        <p:spPr>
          <a:xfrm>
            <a:off x="5764461" y="1277653"/>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dirty="0">
              <a:latin typeface="Times New Roman"/>
              <a:cs typeface="Times New Roman"/>
            </a:endParaRPr>
          </a:p>
        </p:txBody>
      </p:sp>
      <p:pic>
        <p:nvPicPr>
          <p:cNvPr id="19" name="object 19"/>
          <p:cNvPicPr/>
          <p:nvPr/>
        </p:nvPicPr>
        <p:blipFill>
          <a:blip r:embed="rId3" cstate="print"/>
          <a:stretch>
            <a:fillRect/>
          </a:stretch>
        </p:blipFill>
        <p:spPr>
          <a:xfrm>
            <a:off x="5109357" y="3429000"/>
            <a:ext cx="1527378" cy="1685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21955" y="-35739"/>
            <a:ext cx="5105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2"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dirty="0"/>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9" name="object 9"/>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7" y="989990"/>
            <a:ext cx="9460230" cy="4625340"/>
          </a:xfrm>
          <a:prstGeom prst="rect">
            <a:avLst/>
          </a:prstGeom>
        </p:spPr>
        <p:txBody>
          <a:bodyPr vert="horz" wrap="square" lIns="0" tIns="96520" rIns="0" bIns="0" rtlCol="0">
            <a:spAutoFit/>
          </a:bodyPr>
          <a:lstStyle/>
          <a:p>
            <a:pPr marL="421005" indent="-408305">
              <a:lnSpc>
                <a:spcPct val="100000"/>
              </a:lnSpc>
              <a:spcBef>
                <a:spcPts val="760"/>
              </a:spcBef>
              <a:buChar char="•"/>
              <a:tabLst>
                <a:tab pos="421005" algn="l"/>
              </a:tabLst>
            </a:pPr>
            <a:r>
              <a:rPr sz="2800" dirty="0">
                <a:latin typeface="Times New Roman"/>
                <a:cs typeface="Times New Roman"/>
              </a:rPr>
              <a:t>Title</a:t>
            </a:r>
            <a:r>
              <a:rPr sz="2800" spc="-25" dirty="0">
                <a:latin typeface="Times New Roman"/>
                <a:cs typeface="Times New Roman"/>
              </a:rPr>
              <a:t> </a:t>
            </a:r>
            <a:r>
              <a:rPr sz="2800" spc="-10" dirty="0">
                <a:latin typeface="Times New Roman"/>
                <a:cs typeface="Times New Roman"/>
              </a:rPr>
              <a:t>Justification</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Abstract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Problem</a:t>
            </a:r>
            <a:r>
              <a:rPr sz="2800" spc="-35" dirty="0">
                <a:latin typeface="Times New Roman"/>
                <a:cs typeface="Times New Roman"/>
              </a:rPr>
              <a:t> </a:t>
            </a:r>
            <a:r>
              <a:rPr sz="2800" spc="-10" dirty="0">
                <a:latin typeface="Times New Roman"/>
                <a:cs typeface="Times New Roman"/>
              </a:rPr>
              <a:t>statement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Objectives</a:t>
            </a:r>
            <a:r>
              <a:rPr sz="2800" spc="-40" dirty="0">
                <a:latin typeface="Times New Roman"/>
                <a:cs typeface="Times New Roman"/>
              </a:rPr>
              <a:t> </a:t>
            </a:r>
            <a:r>
              <a:rPr sz="2800" dirty="0">
                <a:latin typeface="Times New Roman"/>
                <a:cs typeface="Times New Roman"/>
              </a:rPr>
              <a:t>of</a:t>
            </a:r>
            <a:r>
              <a:rPr sz="2800" spc="-35" dirty="0">
                <a:latin typeface="Times New Roman"/>
                <a:cs typeface="Times New Roman"/>
              </a:rPr>
              <a:t> </a:t>
            </a:r>
            <a:r>
              <a:rPr sz="2800" spc="-10" dirty="0">
                <a:latin typeface="Times New Roman"/>
                <a:cs typeface="Times New Roman"/>
              </a:rPr>
              <a:t>Project</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Literature</a:t>
            </a:r>
            <a:r>
              <a:rPr sz="2800" spc="-35" dirty="0">
                <a:latin typeface="Times New Roman"/>
                <a:cs typeface="Times New Roman"/>
              </a:rPr>
              <a:t> </a:t>
            </a:r>
            <a:r>
              <a:rPr sz="2800" dirty="0">
                <a:latin typeface="Times New Roman"/>
                <a:cs typeface="Times New Roman"/>
              </a:rPr>
              <a:t>survey</a:t>
            </a:r>
            <a:r>
              <a:rPr sz="2800" spc="-25"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spc="-10" dirty="0">
                <a:latin typeface="Times New Roman"/>
                <a:cs typeface="Times New Roman"/>
              </a:rPr>
              <a:t>objectives</a:t>
            </a:r>
            <a:endParaRPr sz="2800" dirty="0">
              <a:latin typeface="Times New Roman"/>
              <a:cs typeface="Times New Roman"/>
            </a:endParaRPr>
          </a:p>
          <a:p>
            <a:pPr marL="421005" indent="-408305">
              <a:lnSpc>
                <a:spcPct val="100000"/>
              </a:lnSpc>
              <a:spcBef>
                <a:spcPts val="660"/>
              </a:spcBef>
              <a:buChar char="•"/>
              <a:tabLst>
                <a:tab pos="421005" algn="l"/>
              </a:tabLst>
            </a:pPr>
            <a:r>
              <a:rPr sz="2800" dirty="0">
                <a:latin typeface="Times New Roman"/>
                <a:cs typeface="Times New Roman"/>
              </a:rPr>
              <a:t>Proposed</a:t>
            </a:r>
            <a:r>
              <a:rPr sz="2800" spc="-25" dirty="0">
                <a:latin typeface="Times New Roman"/>
                <a:cs typeface="Times New Roman"/>
              </a:rPr>
              <a:t> </a:t>
            </a:r>
            <a:r>
              <a:rPr sz="2800" dirty="0">
                <a:latin typeface="Times New Roman"/>
                <a:cs typeface="Times New Roman"/>
              </a:rPr>
              <a:t>Work</a:t>
            </a:r>
            <a:r>
              <a:rPr sz="2800" spc="-20" dirty="0">
                <a:latin typeface="Times New Roman"/>
                <a:cs typeface="Times New Roman"/>
              </a:rPr>
              <a:t> </a:t>
            </a:r>
            <a:r>
              <a:rPr sz="2800" spc="-10" dirty="0">
                <a:latin typeface="Times New Roman"/>
                <a:cs typeface="Times New Roman"/>
              </a:rPr>
              <a:t>-</a:t>
            </a:r>
            <a:r>
              <a:rPr sz="2800" dirty="0">
                <a:latin typeface="Times New Roman"/>
                <a:cs typeface="Times New Roman"/>
              </a:rPr>
              <a:t>(Methods</a:t>
            </a:r>
            <a:r>
              <a:rPr sz="2800" spc="-25" dirty="0">
                <a:latin typeface="Times New Roman"/>
                <a:cs typeface="Times New Roman"/>
              </a:rPr>
              <a:t> </a:t>
            </a:r>
            <a:r>
              <a:rPr sz="2800" dirty="0">
                <a:latin typeface="Times New Roman"/>
                <a:cs typeface="Times New Roman"/>
              </a:rPr>
              <a:t>to</a:t>
            </a:r>
            <a:r>
              <a:rPr sz="2800" spc="-25" dirty="0">
                <a:latin typeface="Times New Roman"/>
                <a:cs typeface="Times New Roman"/>
              </a:rPr>
              <a:t> </a:t>
            </a:r>
            <a:r>
              <a:rPr sz="2800" dirty="0">
                <a:latin typeface="Times New Roman"/>
                <a:cs typeface="Times New Roman"/>
              </a:rPr>
              <a:t>be</a:t>
            </a:r>
            <a:r>
              <a:rPr sz="2800" spc="-25" dirty="0">
                <a:latin typeface="Times New Roman"/>
                <a:cs typeface="Times New Roman"/>
              </a:rPr>
              <a:t> </a:t>
            </a:r>
            <a:r>
              <a:rPr sz="2800" dirty="0">
                <a:latin typeface="Times New Roman"/>
                <a:cs typeface="Times New Roman"/>
              </a:rPr>
              <a:t>followed</a:t>
            </a:r>
            <a:r>
              <a:rPr sz="2800" spc="-20" dirty="0">
                <a:latin typeface="Times New Roman"/>
                <a:cs typeface="Times New Roman"/>
              </a:rPr>
              <a:t> </a:t>
            </a:r>
            <a:r>
              <a:rPr sz="2800" dirty="0">
                <a:latin typeface="Times New Roman"/>
                <a:cs typeface="Times New Roman"/>
              </a:rPr>
              <a:t>for</a:t>
            </a:r>
            <a:r>
              <a:rPr sz="2800" spc="-25" dirty="0">
                <a:latin typeface="Times New Roman"/>
                <a:cs typeface="Times New Roman"/>
              </a:rPr>
              <a:t> </a:t>
            </a:r>
            <a:r>
              <a:rPr sz="2800" dirty="0">
                <a:latin typeface="Times New Roman"/>
                <a:cs typeface="Times New Roman"/>
              </a:rPr>
              <a:t>proposed</a:t>
            </a:r>
            <a:r>
              <a:rPr sz="2800" spc="-20" dirty="0">
                <a:latin typeface="Times New Roman"/>
                <a:cs typeface="Times New Roman"/>
              </a:rPr>
              <a:t> </a:t>
            </a:r>
            <a:r>
              <a:rPr sz="2800" spc="-10" dirty="0">
                <a:latin typeface="Times New Roman"/>
                <a:cs typeface="Times New Roman"/>
              </a:rPr>
              <a:t>system)</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References</a:t>
            </a:r>
            <a:endParaRPr sz="2800" dirty="0">
              <a:latin typeface="Times New Roman"/>
              <a:cs typeface="Times New Roman"/>
            </a:endParaRPr>
          </a:p>
          <a:p>
            <a:pPr marL="421005" indent="-408305">
              <a:lnSpc>
                <a:spcPct val="100000"/>
              </a:lnSpc>
              <a:spcBef>
                <a:spcPts val="665"/>
              </a:spcBef>
              <a:buChar char="•"/>
              <a:tabLst>
                <a:tab pos="421005" algn="l"/>
              </a:tabLst>
            </a:pPr>
            <a:r>
              <a:rPr sz="2800" dirty="0">
                <a:latin typeface="Times New Roman"/>
                <a:cs typeface="Times New Roman"/>
              </a:rPr>
              <a:t>GitHub </a:t>
            </a:r>
            <a:r>
              <a:rPr sz="2800" spc="-20" dirty="0">
                <a:latin typeface="Times New Roman"/>
                <a:cs typeface="Times New Roman"/>
              </a:rPr>
              <a:t>Link</a:t>
            </a:r>
            <a:endParaRPr sz="2800" dirty="0">
              <a:latin typeface="Times New Roman"/>
              <a:cs typeface="Times New Roman"/>
            </a:endParaRPr>
          </a:p>
          <a:p>
            <a:pPr marL="421005" indent="-408305">
              <a:lnSpc>
                <a:spcPct val="100000"/>
              </a:lnSpc>
              <a:spcBef>
                <a:spcPts val="665"/>
              </a:spcBef>
              <a:buChar char="•"/>
              <a:tabLst>
                <a:tab pos="421005" algn="l"/>
              </a:tabLst>
            </a:pPr>
            <a:r>
              <a:rPr sz="2800" spc="-10" dirty="0">
                <a:latin typeface="Times New Roman"/>
                <a:cs typeface="Times New Roman"/>
              </a:rPr>
              <a:t>Queries</a:t>
            </a:r>
            <a:endParaRPr sz="28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CF65-8104-2EC4-946A-ADD934F86C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35A89D4-52AC-1D8D-E2E4-9A84CD4CD896}"/>
              </a:ext>
            </a:extLst>
          </p:cNvPr>
          <p:cNvSpPr txBox="1"/>
          <p:nvPr/>
        </p:nvSpPr>
        <p:spPr>
          <a:xfrm>
            <a:off x="3924300" y="-30095"/>
            <a:ext cx="43434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a:t>
            </a:r>
            <a:endParaRPr sz="1500" dirty="0">
              <a:latin typeface="Times New Roman"/>
              <a:cs typeface="Times New Roman"/>
            </a:endParaRPr>
          </a:p>
        </p:txBody>
      </p:sp>
      <p:grpSp>
        <p:nvGrpSpPr>
          <p:cNvPr id="3" name="object 3">
            <a:extLst>
              <a:ext uri="{FF2B5EF4-FFF2-40B4-BE49-F238E27FC236}">
                <a16:creationId xmlns:a16="http://schemas.microsoft.com/office/drawing/2014/main" id="{7884F3D6-9C18-D97C-621E-0AC6E9C7CCFE}"/>
              </a:ext>
            </a:extLst>
          </p:cNvPr>
          <p:cNvGrpSpPr/>
          <p:nvPr/>
        </p:nvGrpSpPr>
        <p:grpSpPr>
          <a:xfrm>
            <a:off x="0" y="212399"/>
            <a:ext cx="12192000" cy="803275"/>
            <a:chOff x="0" y="212399"/>
            <a:chExt cx="12192000" cy="803275"/>
          </a:xfrm>
        </p:grpSpPr>
        <p:pic>
          <p:nvPicPr>
            <p:cNvPr id="4" name="object 4">
              <a:extLst>
                <a:ext uri="{FF2B5EF4-FFF2-40B4-BE49-F238E27FC236}">
                  <a16:creationId xmlns:a16="http://schemas.microsoft.com/office/drawing/2014/main" id="{BC294CF2-BB5A-8C4B-077C-8C2B04D31618}"/>
                </a:ext>
              </a:extLst>
            </p:cNvPr>
            <p:cNvPicPr/>
            <p:nvPr/>
          </p:nvPicPr>
          <p:blipFill>
            <a:blip r:embed="rId2" cstate="print"/>
            <a:stretch>
              <a:fillRect/>
            </a:stretch>
          </p:blipFill>
          <p:spPr>
            <a:xfrm>
              <a:off x="0" y="212399"/>
              <a:ext cx="12192000" cy="803160"/>
            </a:xfrm>
            <a:prstGeom prst="rect">
              <a:avLst/>
            </a:prstGeom>
          </p:spPr>
        </p:pic>
        <p:sp>
          <p:nvSpPr>
            <p:cNvPr id="5" name="object 5">
              <a:extLst>
                <a:ext uri="{FF2B5EF4-FFF2-40B4-BE49-F238E27FC236}">
                  <a16:creationId xmlns:a16="http://schemas.microsoft.com/office/drawing/2014/main" id="{A8FB50D9-09DF-4A9C-DD93-DEAAC370112A}"/>
                </a:ext>
              </a:extLst>
            </p:cNvPr>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0A72AA6-7D3D-A8DD-3595-6DEAF17E8977}"/>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IN" dirty="0"/>
              <a:t>Title</a:t>
            </a:r>
            <a:r>
              <a:rPr lang="en-IN" spc="-110" dirty="0"/>
              <a:t> </a:t>
            </a:r>
            <a:r>
              <a:rPr lang="en-IN" spc="-10" dirty="0"/>
              <a:t>Justification</a:t>
            </a:r>
            <a:endParaRPr spc="-10" dirty="0"/>
          </a:p>
        </p:txBody>
      </p:sp>
      <p:sp>
        <p:nvSpPr>
          <p:cNvPr id="8" name="object 8">
            <a:extLst>
              <a:ext uri="{FF2B5EF4-FFF2-40B4-BE49-F238E27FC236}">
                <a16:creationId xmlns:a16="http://schemas.microsoft.com/office/drawing/2014/main" id="{56137B2E-7C8B-3EB4-8089-ECC7E3119089}"/>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9" name="object 9">
            <a:extLst>
              <a:ext uri="{FF2B5EF4-FFF2-40B4-BE49-F238E27FC236}">
                <a16:creationId xmlns:a16="http://schemas.microsoft.com/office/drawing/2014/main" id="{6BA1E2F7-A53E-88DE-1605-D6FF9E9C6857}"/>
              </a:ext>
            </a:extLst>
          </p:cNvPr>
          <p:cNvSpPr txBox="1">
            <a:spLocks noGrp="1"/>
          </p:cNvSpPr>
          <p:nvPr>
            <p:ph type="dt" sz="half" idx="6"/>
          </p:nvPr>
        </p:nvSpPr>
        <p:spPr>
          <a:xfrm>
            <a:off x="2013245" y="6629197"/>
            <a:ext cx="3661410"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lang="en-IN" cap="small" spc="-130" dirty="0"/>
              <a:t> Engineering</a:t>
            </a:r>
            <a:r>
              <a:rPr cap="small" spc="55" dirty="0"/>
              <a:t> </a:t>
            </a:r>
            <a:endParaRPr cap="small" spc="-130" dirty="0"/>
          </a:p>
        </p:txBody>
      </p:sp>
      <p:sp>
        <p:nvSpPr>
          <p:cNvPr id="10" name="object 10">
            <a:extLst>
              <a:ext uri="{FF2B5EF4-FFF2-40B4-BE49-F238E27FC236}">
                <a16:creationId xmlns:a16="http://schemas.microsoft.com/office/drawing/2014/main" id="{799D763F-4E25-4B32-CA49-8BF68AD47EC1}"/>
              </a:ext>
            </a:extLst>
          </p:cNvPr>
          <p:cNvSpPr txBox="1"/>
          <p:nvPr/>
        </p:nvSpPr>
        <p:spPr>
          <a:xfrm>
            <a:off x="6858001" y="6629197"/>
            <a:ext cx="418082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lang="en-IN" sz="1600" cap="small" spc="-100" dirty="0">
                <a:solidFill>
                  <a:srgbClr val="FFFFFF"/>
                </a:solidFill>
                <a:latin typeface="Times New Roman"/>
                <a:cs typeface="Times New Roman"/>
              </a:rPr>
              <a:t> 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B8FD2B94-5F8B-DCE9-780E-CE375CB034A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7" name="object 7">
            <a:extLst>
              <a:ext uri="{FF2B5EF4-FFF2-40B4-BE49-F238E27FC236}">
                <a16:creationId xmlns:a16="http://schemas.microsoft.com/office/drawing/2014/main" id="{E5134579-8FEB-42B0-95A3-CC6AD188EAD1}"/>
              </a:ext>
            </a:extLst>
          </p:cNvPr>
          <p:cNvSpPr txBox="1"/>
          <p:nvPr/>
        </p:nvSpPr>
        <p:spPr>
          <a:xfrm>
            <a:off x="304800" y="959809"/>
            <a:ext cx="11256613" cy="7171515"/>
          </a:xfrm>
          <a:prstGeom prst="rect">
            <a:avLst/>
          </a:prstGeom>
        </p:spPr>
        <p:txBody>
          <a:bodyPr vert="horz" wrap="square" lIns="0" tIns="9652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title </a:t>
            </a:r>
            <a:r>
              <a:rPr lang="en-US" sz="2400" b="1" dirty="0">
                <a:latin typeface="Times New Roman" panose="02020603050405020304" pitchFamily="18" charset="0"/>
                <a:cs typeface="Times New Roman" panose="02020603050405020304" pitchFamily="18" charset="0"/>
              </a:rPr>
              <a:t>“College Alumni Connect &amp; Management System”</a:t>
            </a:r>
            <a:r>
              <a:rPr lang="en-US" sz="2400" dirty="0">
                <a:latin typeface="Times New Roman" panose="02020603050405020304" pitchFamily="18" charset="0"/>
                <a:cs typeface="Times New Roman" panose="02020603050405020304" pitchFamily="18" charset="0"/>
              </a:rPr>
              <a:t> reflects a platform designed to bridge the gap between alumni and the institution.</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emphasizes </a:t>
            </a:r>
            <a:r>
              <a:rPr lang="en-US" sz="2400" b="1" dirty="0">
                <a:latin typeface="Times New Roman" panose="02020603050405020304" pitchFamily="18" charset="0"/>
                <a:cs typeface="Times New Roman" panose="02020603050405020304" pitchFamily="18" charset="0"/>
              </a:rPr>
              <a:t>connection</a:t>
            </a:r>
            <a:r>
              <a:rPr lang="en-US" sz="2400" dirty="0">
                <a:latin typeface="Times New Roman" panose="02020603050405020304" pitchFamily="18" charset="0"/>
                <a:cs typeface="Times New Roman" panose="02020603050405020304" pitchFamily="18" charset="0"/>
              </a:rPr>
              <a:t>, enabling past and present students to stay engaged through structured communication channels.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term </a:t>
            </a:r>
            <a:r>
              <a:rPr lang="en-US" sz="2400" b="1" dirty="0">
                <a:latin typeface="Times New Roman" panose="02020603050405020304" pitchFamily="18" charset="0"/>
                <a:cs typeface="Times New Roman" panose="02020603050405020304" pitchFamily="18" charset="0"/>
              </a:rPr>
              <a:t>“Management System”</a:t>
            </a:r>
            <a:r>
              <a:rPr lang="en-US" sz="2400" dirty="0">
                <a:latin typeface="Times New Roman" panose="02020603050405020304" pitchFamily="18" charset="0"/>
                <a:cs typeface="Times New Roman" panose="02020603050405020304" pitchFamily="18" charset="0"/>
              </a:rPr>
              <a:t> signifies an organized platform that efficiently handles alumni data, event coordination, communication, contributions, and networking.</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system supports the college in maintaining long-term relationships, collecting feedback, organizing reunions, and enhancing career support for current students.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Overall, the title clearly conveys the purpose: </a:t>
            </a:r>
            <a:r>
              <a:rPr lang="en-US" sz="2400" b="1" dirty="0">
                <a:latin typeface="Times New Roman" panose="02020603050405020304" pitchFamily="18" charset="0"/>
                <a:cs typeface="Times New Roman" panose="02020603050405020304" pitchFamily="18" charset="0"/>
              </a:rPr>
              <a:t>a centralized platform for managing, connecting, and empowering the alumni community.</a:t>
            </a:r>
            <a:endParaRPr lang="en-US" sz="2400" dirty="0">
              <a:latin typeface="Times New Roman" panose="02020603050405020304" pitchFamily="18" charset="0"/>
              <a:cs typeface="Times New Roman" panose="02020603050405020304" pitchFamily="18" charset="0"/>
            </a:endParaRPr>
          </a:p>
          <a:p>
            <a:pPr marL="12700">
              <a:lnSpc>
                <a:spcPct val="150000"/>
              </a:lnSpc>
              <a:spcBef>
                <a:spcPts val="760"/>
              </a:spcBef>
              <a:tabLst>
                <a:tab pos="421005" algn="l"/>
              </a:tabLst>
            </a:pPr>
            <a:r>
              <a:rPr lang="en-US" sz="2400" dirty="0"/>
              <a:t>.</a:t>
            </a:r>
          </a:p>
          <a:p>
            <a:pPr marL="12700">
              <a:lnSpc>
                <a:spcPct val="150000"/>
              </a:lnSpc>
              <a:spcBef>
                <a:spcPts val="760"/>
              </a:spcBef>
              <a:tabLst>
                <a:tab pos="421005" algn="l"/>
              </a:tabLst>
            </a:pPr>
            <a:endParaRPr lang="en-US" sz="2400" dirty="0">
              <a:latin typeface="Times New Roman" panose="02020603050405020304" pitchFamily="18" charset="0"/>
              <a:cs typeface="Times New Roman" panose="02020603050405020304" pitchFamily="18" charset="0"/>
            </a:endParaRPr>
          </a:p>
          <a:p>
            <a:pPr marL="12700">
              <a:lnSpc>
                <a:spcPct val="150000"/>
              </a:lnSpc>
              <a:spcBef>
                <a:spcPts val="760"/>
              </a:spcBef>
              <a:tabLst>
                <a:tab pos="421005" algn="l"/>
              </a:tabLst>
            </a:pP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804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191000" y="-42477"/>
            <a:ext cx="59436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a:t>
            </a:r>
            <a:endParaRPr sz="1500" dirty="0">
              <a:latin typeface="Times New Roman"/>
              <a:cs typeface="Times New Roman"/>
            </a:endParaRPr>
          </a:p>
        </p:txBody>
      </p:sp>
      <p:grpSp>
        <p:nvGrpSpPr>
          <p:cNvPr id="3" name="object 3"/>
          <p:cNvGrpSpPr/>
          <p:nvPr/>
        </p:nvGrpSpPr>
        <p:grpSpPr>
          <a:xfrm>
            <a:off x="0" y="201179"/>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00099" y="201179"/>
            <a:ext cx="2032490" cy="689932"/>
          </a:xfrm>
          <a:prstGeom prst="rect">
            <a:avLst/>
          </a:prstGeom>
        </p:spPr>
        <p:txBody>
          <a:bodyPr vert="horz" wrap="square" lIns="0" tIns="12700" rIns="0" bIns="0" rtlCol="0">
            <a:spAutoFit/>
          </a:bodyPr>
          <a:lstStyle/>
          <a:p>
            <a:pPr marL="12700">
              <a:lnSpc>
                <a:spcPct val="100000"/>
              </a:lnSpc>
              <a:spcBef>
                <a:spcPts val="100"/>
              </a:spcBef>
            </a:pPr>
            <a:r>
              <a:rPr lang="en-IN" spc="-10" dirty="0"/>
              <a:t>Abstract</a:t>
            </a: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9" name="object 9"/>
          <p:cNvSpPr txBox="1">
            <a:spLocks noGrp="1"/>
          </p:cNvSpPr>
          <p:nvPr>
            <p:ph type="dt" sz="half" idx="6"/>
          </p:nvPr>
        </p:nvSpPr>
        <p:spPr>
          <a:xfrm>
            <a:off x="1247734" y="6641281"/>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9022" y="6605614"/>
            <a:ext cx="4235244" cy="23083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20" name="Rectangle 9">
            <a:extLst>
              <a:ext uri="{FF2B5EF4-FFF2-40B4-BE49-F238E27FC236}">
                <a16:creationId xmlns:a16="http://schemas.microsoft.com/office/drawing/2014/main" id="{97EC2A09-97B9-7C06-4919-FA993238B682}"/>
              </a:ext>
            </a:extLst>
          </p:cNvPr>
          <p:cNvSpPr>
            <a:spLocks noChangeArrowheads="1"/>
          </p:cNvSpPr>
          <p:nvPr/>
        </p:nvSpPr>
        <p:spPr bwMode="auto">
          <a:xfrm>
            <a:off x="149031" y="1135454"/>
            <a:ext cx="1179324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College Alumni Connect and Management System strengthens communication     between Students, Faculty, Staff, Alumni, and Administrators through a unified Student Portal   and Alumni Portal for efficient information sharing.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Alumni</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share feedback, update career details, mentor students, and participate in institutional activities, while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students and faculty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submit feedback, track alumni achievements, and seek academic or career guidance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Administrators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securely manage user data, feedback, and portal configurations through the Admin Panel, ensuring smooth system operation.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includes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Skill Matching Module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analyzes student skills and goals, identifies the most relevant alumni, and automatically sends notifications to help students connect with suitable mentors.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62400" y="-29319"/>
            <a:ext cx="4038600" cy="474489"/>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Problem</a:t>
            </a:r>
            <a:r>
              <a:rPr spc="-185" dirty="0"/>
              <a:t> </a:t>
            </a:r>
            <a:r>
              <a:rPr spc="-10" dirty="0"/>
              <a:t>Statement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9" name="object 9"/>
          <p:cNvSpPr txBox="1">
            <a:spLocks noGrp="1"/>
          </p:cNvSpPr>
          <p:nvPr>
            <p:ph type="dt" sz="half" idx="6"/>
          </p:nvPr>
        </p:nvSpPr>
        <p:spPr>
          <a:xfrm>
            <a:off x="1262974" y="6629197"/>
            <a:ext cx="4071026" cy="228803"/>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6705600" y="6607175"/>
            <a:ext cx="4223426"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7"/>
          <p:cNvSpPr txBox="1">
            <a:spLocks noGrp="1"/>
          </p:cNvSpPr>
          <p:nvPr>
            <p:ph type="body" idx="1"/>
          </p:nvPr>
        </p:nvSpPr>
        <p:spPr>
          <a:xfrm>
            <a:off x="149031" y="1166328"/>
            <a:ext cx="11346815" cy="3524042"/>
          </a:xfrm>
          <a:prstGeom prst="rect">
            <a:avLst/>
          </a:prstGeom>
        </p:spPr>
        <p:txBody>
          <a:bodyPr vert="horz" wrap="square" lIns="0" tIns="60960" rIns="0" bIns="0" rtlCol="0">
            <a:spAutoFit/>
          </a:bodyPr>
          <a:lstStyle/>
          <a:p>
            <a:pPr marL="12700" marR="5080">
              <a:lnSpc>
                <a:spcPts val="3020"/>
              </a:lnSpc>
              <a:spcBef>
                <a:spcPts val="480"/>
              </a:spcBef>
              <a:tabLst>
                <a:tab pos="505459" algn="l"/>
                <a:tab pos="2227580" algn="l"/>
                <a:tab pos="4404995" algn="l"/>
                <a:tab pos="4942840" algn="l"/>
                <a:tab pos="6308090" algn="l"/>
                <a:tab pos="7319645" algn="l"/>
                <a:tab pos="7838440" algn="l"/>
                <a:tab pos="9808210" algn="l"/>
                <a:tab pos="10503535" algn="l"/>
              </a:tabLst>
            </a:pPr>
            <a:r>
              <a:rPr lang="en-US" sz="2400" dirty="0"/>
              <a:t>Colleges lack a centralized platform where students, faculty, staff, alumni, and administrators can effectively communicate and share information. Alumni data is often unorganized, making it difficult for students and faculty to access career guidance, mentorship, and institutional updates. Additionally, there is no efficient system to collect, manage, and verify feedback from users across the institution. Due to the absence of real-time interaction tools and structured communication channels, maintaining active alumni engagement becomes challenging. Furthermore, the lack of an AI-based mechanism to analyze student skills and automatically match them with suitable alumni mentors leads to missed opportunities for academic and career development</a:t>
            </a:r>
            <a:r>
              <a:rPr lang="en-US" dirty="0"/>
              <a:t>.</a:t>
            </a:r>
            <a:endParaRPr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52800" y="-18836"/>
            <a:ext cx="449580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tabLst>
                <a:tab pos="3145790" algn="l"/>
              </a:tabLst>
            </a:pPr>
            <a:r>
              <a:rPr dirty="0"/>
              <a:t>Objectives</a:t>
            </a:r>
            <a:r>
              <a:rPr spc="-60" dirty="0"/>
              <a:t> </a:t>
            </a:r>
            <a:r>
              <a:rPr spc="-25" dirty="0"/>
              <a:t>of</a:t>
            </a:r>
            <a:r>
              <a:rPr dirty="0"/>
              <a:t>	</a:t>
            </a:r>
            <a:r>
              <a:rPr spc="-10" dirty="0"/>
              <a:t>Project</a:t>
            </a: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7" name="object 7"/>
          <p:cNvSpPr txBox="1"/>
          <p:nvPr/>
        </p:nvSpPr>
        <p:spPr>
          <a:xfrm>
            <a:off x="272465" y="1110318"/>
            <a:ext cx="11619230" cy="3824060"/>
          </a:xfrm>
          <a:prstGeom prst="rect">
            <a:avLst/>
          </a:prstGeom>
        </p:spPr>
        <p:txBody>
          <a:bodyPr vert="horz" wrap="square" lIns="0" tIns="12700" rIns="0" bIns="0"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Objective 1:</a:t>
            </a:r>
          </a:p>
          <a:p>
            <a:pPr>
              <a:lnSpc>
                <a:spcPct val="150000"/>
              </a:lnSpc>
            </a:pPr>
            <a:r>
              <a:rPr lang="en-US" sz="2400" dirty="0"/>
              <a:t>To develop a centralized digital platform that enables seamless communication and collaboration among students, faculty, alumni, and administrators</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Objective 2:</a:t>
            </a:r>
          </a:p>
          <a:p>
            <a:pPr>
              <a:lnSpc>
                <a:spcPct val="150000"/>
              </a:lnSpc>
            </a:pPr>
            <a:r>
              <a:rPr lang="en-US" sz="2400" dirty="0"/>
              <a:t>To organize and maintain a structured alumni database while providing tools for mentorship, feedback collection, and real-time engagement between alumni and the institution</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92794" y="-45123"/>
            <a:ext cx="6806310" cy="243656"/>
          </a:xfrm>
          <a:prstGeom prst="rect">
            <a:avLst/>
          </a:prstGeom>
        </p:spPr>
        <p:txBody>
          <a:bodyPr vert="horz" wrap="square" lIns="0" tIns="12700" rIns="0" bIns="0" rtlCol="0">
            <a:spAutoFit/>
          </a:bodyPr>
          <a:lstStyle/>
          <a:p>
            <a:pPr marL="12700">
              <a:lnSpc>
                <a:spcPct val="100000"/>
              </a:lnSpc>
              <a:spcBef>
                <a:spcPts val="100"/>
              </a:spcBef>
            </a:pPr>
            <a:r>
              <a:rPr lang="en-IN" sz="1500" b="1" i="1" spc="-10" dirty="0">
                <a:solidFill>
                  <a:srgbClr val="FFFFFF"/>
                </a:solidFill>
              </a:rPr>
              <a:t>                                    </a:t>
            </a:r>
            <a:r>
              <a:rPr lang="en-IN" sz="1500" b="1" i="1" dirty="0">
                <a:solidFill>
                  <a:srgbClr val="FFFFFF"/>
                </a:solidFill>
              </a:rPr>
              <a:t> College Alumni Connect &amp; Management System</a:t>
            </a:r>
            <a:endParaRPr sz="1500" dirty="0">
              <a:latin typeface="Times New Roman"/>
              <a:cs typeface="Times New Roman"/>
            </a:endParaRPr>
          </a:p>
        </p:txBody>
      </p:sp>
      <p:grpSp>
        <p:nvGrpSpPr>
          <p:cNvPr id="3" name="object 3"/>
          <p:cNvGrpSpPr/>
          <p:nvPr/>
        </p:nvGrpSpPr>
        <p:grpSpPr>
          <a:xfrm>
            <a:off x="0" y="232028"/>
            <a:ext cx="12192000" cy="787655"/>
            <a:chOff x="0" y="216408"/>
            <a:chExt cx="12192000" cy="803275"/>
          </a:xfrm>
        </p:grpSpPr>
        <p:pic>
          <p:nvPicPr>
            <p:cNvPr id="4" name="object 4"/>
            <p:cNvPicPr/>
            <p:nvPr/>
          </p:nvPicPr>
          <p:blipFill>
            <a:blip r:embed="rId3" cstate="print"/>
            <a:stretch>
              <a:fillRect/>
            </a:stretch>
          </p:blipFill>
          <p:spPr>
            <a:xfrm>
              <a:off x="0" y="216408"/>
              <a:ext cx="12192000" cy="803148"/>
            </a:xfrm>
            <a:prstGeom prst="rect">
              <a:avLst/>
            </a:prstGeom>
          </p:spPr>
        </p:pic>
        <p:sp>
          <p:nvSpPr>
            <p:cNvPr id="5" name="object 5"/>
            <p:cNvSpPr/>
            <p:nvPr/>
          </p:nvSpPr>
          <p:spPr>
            <a:xfrm>
              <a:off x="0" y="233159"/>
              <a:ext cx="12192000" cy="715010"/>
            </a:xfrm>
            <a:custGeom>
              <a:avLst/>
              <a:gdLst/>
              <a:ahLst/>
              <a:cxnLst/>
              <a:rect l="l" t="t" r="r" b="b"/>
              <a:pathLst>
                <a:path w="12192000" h="715010">
                  <a:moveTo>
                    <a:pt x="12192000" y="0"/>
                  </a:moveTo>
                  <a:lnTo>
                    <a:pt x="0" y="0"/>
                  </a:lnTo>
                  <a:lnTo>
                    <a:pt x="0" y="714387"/>
                  </a:lnTo>
                  <a:lnTo>
                    <a:pt x="12192000" y="714387"/>
                  </a:lnTo>
                  <a:lnTo>
                    <a:pt x="12192000" y="0"/>
                  </a:lnTo>
                  <a:close/>
                </a:path>
              </a:pathLst>
            </a:custGeom>
            <a:solidFill>
              <a:srgbClr val="FF6600"/>
            </a:solidFill>
          </p:spPr>
          <p:txBody>
            <a:bodyPr wrap="square" lIns="0" tIns="0" rIns="0" bIns="0" rtlCol="0"/>
            <a:lstStyle/>
            <a:p>
              <a:endParaRPr/>
            </a:p>
          </p:txBody>
        </p:sp>
      </p:grpSp>
      <p:sp>
        <p:nvSpPr>
          <p:cNvPr id="6" name="object 6"/>
          <p:cNvSpPr txBox="1"/>
          <p:nvPr/>
        </p:nvSpPr>
        <p:spPr>
          <a:xfrm>
            <a:off x="133908" y="232028"/>
            <a:ext cx="3936365" cy="696595"/>
          </a:xfrm>
          <a:prstGeom prst="rect">
            <a:avLst/>
          </a:prstGeom>
        </p:spPr>
        <p:txBody>
          <a:bodyPr vert="horz" wrap="square" lIns="0" tIns="12700" rIns="0" bIns="0" rtlCol="0">
            <a:spAutoFit/>
          </a:bodyPr>
          <a:lstStyle/>
          <a:p>
            <a:pPr marL="12700">
              <a:lnSpc>
                <a:spcPct val="100000"/>
              </a:lnSpc>
              <a:spcBef>
                <a:spcPts val="100"/>
              </a:spcBef>
            </a:pPr>
            <a:r>
              <a:rPr sz="4400" dirty="0">
                <a:solidFill>
                  <a:srgbClr val="FFFFFF"/>
                </a:solidFill>
                <a:latin typeface="Times New Roman"/>
                <a:cs typeface="Times New Roman"/>
              </a:rPr>
              <a:t>Literature</a:t>
            </a:r>
            <a:r>
              <a:rPr sz="4400" spc="-100" dirty="0">
                <a:solidFill>
                  <a:srgbClr val="FFFFFF"/>
                </a:solidFill>
                <a:latin typeface="Times New Roman"/>
                <a:cs typeface="Times New Roman"/>
              </a:rPr>
              <a:t> </a:t>
            </a:r>
            <a:r>
              <a:rPr sz="4400" spc="-10" dirty="0">
                <a:solidFill>
                  <a:srgbClr val="FFFFFF"/>
                </a:solidFill>
                <a:latin typeface="Times New Roman"/>
                <a:cs typeface="Times New Roman"/>
              </a:rPr>
              <a:t>Survey</a:t>
            </a:r>
            <a:endParaRPr sz="4400" dirty="0">
              <a:latin typeface="Times New Roman"/>
              <a:cs typeface="Times New Roman"/>
            </a:endParaRPr>
          </a:p>
        </p:txBody>
      </p:sp>
      <p:sp>
        <p:nvSpPr>
          <p:cNvPr id="8" name="object 8"/>
          <p:cNvSpPr txBox="1"/>
          <p:nvPr/>
        </p:nvSpPr>
        <p:spPr>
          <a:xfrm>
            <a:off x="140614" y="6608595"/>
            <a:ext cx="535305" cy="230832"/>
          </a:xfrm>
          <a:prstGeom prst="rect">
            <a:avLst/>
          </a:prstGeom>
        </p:spPr>
        <p:txBody>
          <a:bodyPr vert="horz" wrap="square" lIns="0" tIns="0" rIns="0" bIns="0" rtlCol="0">
            <a:spAutoFit/>
          </a:bodyPr>
          <a:lstStyle/>
          <a:p>
            <a:pPr marL="12700">
              <a:lnSpc>
                <a:spcPts val="1839"/>
              </a:lnSpc>
            </a:pPr>
            <a:r>
              <a:rPr lang="en-IN" sz="1600" dirty="0">
                <a:solidFill>
                  <a:srgbClr val="FFFFFF"/>
                </a:solidFill>
                <a:latin typeface="Times New Roman"/>
                <a:cs typeface="Times New Roman"/>
              </a:rPr>
              <a:t>B -09</a:t>
            </a:r>
            <a:endParaRPr sz="1600" dirty="0">
              <a:latin typeface="Times New Roman"/>
              <a:cs typeface="Times New Roman"/>
            </a:endParaRPr>
          </a:p>
        </p:txBody>
      </p:sp>
      <p:sp>
        <p:nvSpPr>
          <p:cNvPr id="9" name="object 9"/>
          <p:cNvSpPr txBox="1">
            <a:spLocks noGrp="1"/>
          </p:cNvSpPr>
          <p:nvPr>
            <p:ph type="ftr" sz="quarter" idx="5"/>
          </p:nvPr>
        </p:nvSpPr>
        <p:spPr>
          <a:xfrm>
            <a:off x="1121765" y="6607681"/>
            <a:ext cx="4474184" cy="230832"/>
          </a:xfrm>
          <a:prstGeom prst="rect">
            <a:avLst/>
          </a:prstGeom>
        </p:spPr>
        <p:txBody>
          <a:bodyPr vert="horz" wrap="square" lIns="0" tIns="0" rIns="0" bIns="0" rtlCol="0">
            <a:spAutoFit/>
          </a:bodyPr>
          <a:lstStyle/>
          <a:p>
            <a:pPr marL="12700">
              <a:lnSpc>
                <a:spcPts val="1839"/>
              </a:lnSpc>
            </a:pPr>
            <a:r>
              <a:rPr cap="small" spc="-70" dirty="0"/>
              <a:t>Dept.</a:t>
            </a:r>
            <a:r>
              <a:rPr cap="small" spc="-130" dirty="0"/>
              <a:t> </a:t>
            </a:r>
            <a:r>
              <a:rPr cap="small" dirty="0"/>
              <a:t>of</a:t>
            </a:r>
            <a:r>
              <a:rPr cap="small" spc="55" dirty="0"/>
              <a:t> </a:t>
            </a:r>
            <a:r>
              <a:rPr cap="small" spc="-95" dirty="0"/>
              <a:t>Computer</a:t>
            </a:r>
            <a:r>
              <a:rPr cap="small" spc="45" dirty="0"/>
              <a:t> </a:t>
            </a:r>
            <a:r>
              <a:rPr cap="small" spc="-75" dirty="0"/>
              <a:t>Science</a:t>
            </a:r>
            <a:r>
              <a:rPr cap="small" spc="15" dirty="0"/>
              <a:t> </a:t>
            </a:r>
            <a:r>
              <a:rPr cap="small" spc="-40" dirty="0"/>
              <a:t>and</a:t>
            </a:r>
            <a:r>
              <a:rPr cap="small" spc="45" dirty="0"/>
              <a:t> </a:t>
            </a:r>
            <a:r>
              <a:rPr cap="small" spc="-90" dirty="0"/>
              <a:t>Engineering</a:t>
            </a:r>
            <a:r>
              <a:rPr cap="small" spc="-50" dirty="0"/>
              <a:t> </a:t>
            </a:r>
            <a:endParaRPr cap="small" spc="-125" dirty="0"/>
          </a:p>
        </p:txBody>
      </p:sp>
      <p:sp>
        <p:nvSpPr>
          <p:cNvPr id="10" name="object 10"/>
          <p:cNvSpPr txBox="1">
            <a:spLocks noGrp="1"/>
          </p:cNvSpPr>
          <p:nvPr>
            <p:ph type="dt" sz="half" idx="6"/>
          </p:nvPr>
        </p:nvSpPr>
        <p:spPr>
          <a:xfrm>
            <a:off x="6249315" y="6611112"/>
            <a:ext cx="4800600" cy="235549"/>
          </a:xfrm>
          <a:prstGeom prst="rect">
            <a:avLst/>
          </a:prstGeom>
        </p:spPr>
        <p:txBody>
          <a:bodyPr vert="horz" wrap="square" lIns="0" tIns="0" rIns="0" bIns="0" rtlCol="0">
            <a:spAutoFit/>
          </a:bodyPr>
          <a:lstStyle/>
          <a:p>
            <a:pPr marL="509270">
              <a:lnSpc>
                <a:spcPts val="1839"/>
              </a:lnSpc>
            </a:pPr>
            <a:r>
              <a:rPr lang="en-IN" cap="small" spc="-85" dirty="0"/>
              <a:t>Srinivasa</a:t>
            </a:r>
            <a:r>
              <a:rPr lang="en-IN" cap="small" spc="-10" dirty="0"/>
              <a:t> </a:t>
            </a:r>
            <a:r>
              <a:rPr lang="en-IN" cap="small" spc="-95" dirty="0"/>
              <a:t>Ramanujan</a:t>
            </a:r>
            <a:r>
              <a:rPr lang="en-IN" cap="small" spc="-20" dirty="0"/>
              <a:t> </a:t>
            </a:r>
            <a:r>
              <a:rPr lang="en-IN" cap="small" spc="-95" dirty="0"/>
              <a:t>Institute</a:t>
            </a:r>
            <a:r>
              <a:rPr lang="en-IN" cap="small" spc="80" dirty="0"/>
              <a:t> </a:t>
            </a:r>
            <a:r>
              <a:rPr lang="en-IN" cap="small" dirty="0"/>
              <a:t>of</a:t>
            </a:r>
            <a:r>
              <a:rPr lang="en-IN" cap="small" spc="145" dirty="0"/>
              <a:t> </a:t>
            </a:r>
            <a:r>
              <a:rPr lang="en-IN" cap="small" spc="-155" dirty="0"/>
              <a:t>Technology</a:t>
            </a:r>
            <a:endParaRPr cap="small" spc="-155" dirty="0"/>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38100">
              <a:lnSpc>
                <a:spcPts val="1839"/>
              </a:lnSpc>
            </a:pPr>
            <a:fld id="{81D60167-4931-47E6-BA6A-407CBD079E47}" type="slidenum">
              <a:rPr spc="-25" dirty="0"/>
              <a:t>7</a:t>
            </a:fld>
            <a:endParaRPr spc="-25" dirty="0"/>
          </a:p>
        </p:txBody>
      </p:sp>
      <p:graphicFrame>
        <p:nvGraphicFramePr>
          <p:cNvPr id="7" name="object 7"/>
          <p:cNvGraphicFramePr>
            <a:graphicFrameLocks noGrp="1"/>
          </p:cNvGraphicFramePr>
          <p:nvPr>
            <p:extLst>
              <p:ext uri="{D42A27DB-BD31-4B8C-83A1-F6EECF244321}">
                <p14:modId xmlns:p14="http://schemas.microsoft.com/office/powerpoint/2010/main" val="2262218023"/>
              </p:ext>
            </p:extLst>
          </p:nvPr>
        </p:nvGraphicFramePr>
        <p:xfrm>
          <a:off x="228601" y="1035983"/>
          <a:ext cx="11277597" cy="5475288"/>
        </p:xfrm>
        <a:graphic>
          <a:graphicData uri="http://schemas.openxmlformats.org/drawingml/2006/table">
            <a:tbl>
              <a:tblPr firstRow="1" bandRow="1">
                <a:tableStyleId>{2D5ABB26-0587-4C30-8999-92F81FD0307C}</a:tableStyleId>
              </a:tblPr>
              <a:tblGrid>
                <a:gridCol w="317299">
                  <a:extLst>
                    <a:ext uri="{9D8B030D-6E8A-4147-A177-3AD203B41FA5}">
                      <a16:colId xmlns:a16="http://schemas.microsoft.com/office/drawing/2014/main" val="20000"/>
                    </a:ext>
                  </a:extLst>
                </a:gridCol>
                <a:gridCol w="1567082">
                  <a:extLst>
                    <a:ext uri="{9D8B030D-6E8A-4147-A177-3AD203B41FA5}">
                      <a16:colId xmlns:a16="http://schemas.microsoft.com/office/drawing/2014/main" val="20002"/>
                    </a:ext>
                  </a:extLst>
                </a:gridCol>
                <a:gridCol w="1567082">
                  <a:extLst>
                    <a:ext uri="{9D8B030D-6E8A-4147-A177-3AD203B41FA5}">
                      <a16:colId xmlns:a16="http://schemas.microsoft.com/office/drawing/2014/main" val="3933858423"/>
                    </a:ext>
                  </a:extLst>
                </a:gridCol>
                <a:gridCol w="1588255">
                  <a:extLst>
                    <a:ext uri="{9D8B030D-6E8A-4147-A177-3AD203B41FA5}">
                      <a16:colId xmlns:a16="http://schemas.microsoft.com/office/drawing/2014/main" val="20003"/>
                    </a:ext>
                  </a:extLst>
                </a:gridCol>
                <a:gridCol w="1879760">
                  <a:extLst>
                    <a:ext uri="{9D8B030D-6E8A-4147-A177-3AD203B41FA5}">
                      <a16:colId xmlns:a16="http://schemas.microsoft.com/office/drawing/2014/main" val="20004"/>
                    </a:ext>
                  </a:extLst>
                </a:gridCol>
                <a:gridCol w="2346328">
                  <a:extLst>
                    <a:ext uri="{9D8B030D-6E8A-4147-A177-3AD203B41FA5}">
                      <a16:colId xmlns:a16="http://schemas.microsoft.com/office/drawing/2014/main" val="20005"/>
                    </a:ext>
                  </a:extLst>
                </a:gridCol>
                <a:gridCol w="2011791">
                  <a:extLst>
                    <a:ext uri="{9D8B030D-6E8A-4147-A177-3AD203B41FA5}">
                      <a16:colId xmlns:a16="http://schemas.microsoft.com/office/drawing/2014/main" val="20006"/>
                    </a:ext>
                  </a:extLst>
                </a:gridCol>
              </a:tblGrid>
              <a:tr h="546888">
                <a:tc>
                  <a:txBody>
                    <a:bodyPr/>
                    <a:lstStyle/>
                    <a:p>
                      <a:pPr marL="85090">
                        <a:lnSpc>
                          <a:spcPts val="2150"/>
                        </a:lnSpc>
                      </a:pPr>
                      <a:r>
                        <a:rPr lang="en-IN" sz="1700" b="1" spc="-25" dirty="0">
                          <a:solidFill>
                            <a:srgbClr val="FFFFFF"/>
                          </a:solidFill>
                          <a:latin typeface="Calibri"/>
                          <a:cs typeface="Calibri"/>
                        </a:rPr>
                        <a:t>No</a:t>
                      </a:r>
                      <a:endParaRPr lang="en-IN" sz="17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lang="en-IN" sz="1700" b="1" spc="-10" dirty="0">
                          <a:solidFill>
                            <a:srgbClr val="FFFFFF"/>
                          </a:solidFill>
                          <a:latin typeface="Calibri"/>
                          <a:cs typeface="Calibri"/>
                        </a:rPr>
                        <a:t>Author</a:t>
                      </a:r>
                      <a:endParaRPr lang="en-IN" sz="1700" dirty="0">
                        <a:latin typeface="Calibri"/>
                        <a:cs typeface="Calibri"/>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5090">
                        <a:lnSpc>
                          <a:spcPts val="2150"/>
                        </a:lnSpc>
                      </a:pPr>
                      <a:endParaRPr lang="en-IN" sz="1700" dirty="0">
                        <a:latin typeface="Calibri"/>
                        <a:cs typeface="Calibri"/>
                      </a:endParaRP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5725" marR="137795">
                        <a:lnSpc>
                          <a:spcPts val="2160"/>
                        </a:lnSpc>
                        <a:spcBef>
                          <a:spcPts val="60"/>
                        </a:spcBef>
                      </a:pPr>
                      <a:r>
                        <a:rPr lang="en-IN" sz="1700" b="1">
                          <a:solidFill>
                            <a:srgbClr val="FFFFFF"/>
                          </a:solidFill>
                          <a:latin typeface="Calibri"/>
                          <a:cs typeface="Calibri"/>
                        </a:rPr>
                        <a:t>Journal</a:t>
                      </a:r>
                      <a:r>
                        <a:rPr lang="en-IN" sz="1700" b="1" spc="-75">
                          <a:solidFill>
                            <a:srgbClr val="FFFFFF"/>
                          </a:solidFill>
                          <a:latin typeface="Calibri"/>
                          <a:cs typeface="Calibri"/>
                        </a:rPr>
                        <a:t> </a:t>
                      </a:r>
                      <a:r>
                        <a:rPr lang="en-IN" sz="1700" b="1" spc="-30">
                          <a:solidFill>
                            <a:srgbClr val="FFFFFF"/>
                          </a:solidFill>
                          <a:latin typeface="Calibri"/>
                          <a:cs typeface="Calibri"/>
                        </a:rPr>
                        <a:t>Name </a:t>
                      </a:r>
                      <a:r>
                        <a:rPr lang="en-IN" sz="1700" b="1">
                          <a:solidFill>
                            <a:srgbClr val="FFFFFF"/>
                          </a:solidFill>
                          <a:latin typeface="Calibri"/>
                          <a:cs typeface="Calibri"/>
                        </a:rPr>
                        <a:t>&amp;</a:t>
                      </a:r>
                      <a:r>
                        <a:rPr lang="en-IN" sz="1700" b="1" spc="-10">
                          <a:solidFill>
                            <a:srgbClr val="FFFFFF"/>
                          </a:solidFill>
                          <a:latin typeface="Calibri"/>
                          <a:cs typeface="Calibri"/>
                        </a:rPr>
                        <a:t> </a:t>
                      </a:r>
                      <a:r>
                        <a:rPr lang="en-IN" sz="1700" b="1" spc="-20">
                          <a:solidFill>
                            <a:srgbClr val="FFFFFF"/>
                          </a:solidFill>
                          <a:latin typeface="Calibri"/>
                          <a:cs typeface="Calibri"/>
                        </a:rPr>
                        <a:t>Year</a:t>
                      </a:r>
                      <a:endParaRPr lang="en-IN" sz="1700">
                        <a:latin typeface="Calibri"/>
                        <a:cs typeface="Calibri"/>
                      </a:endParaRPr>
                    </a:p>
                  </a:txBody>
                  <a:tcPr marL="0" marR="0" marT="678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5725" marR="513715">
                        <a:lnSpc>
                          <a:spcPts val="2160"/>
                        </a:lnSpc>
                        <a:spcBef>
                          <a:spcPts val="60"/>
                        </a:spcBef>
                      </a:pPr>
                      <a:r>
                        <a:rPr lang="en-IN" sz="1700" b="1" spc="-10">
                          <a:solidFill>
                            <a:srgbClr val="FFFFFF"/>
                          </a:solidFill>
                          <a:latin typeface="Calibri"/>
                          <a:cs typeface="Calibri"/>
                        </a:rPr>
                        <a:t>Methodology Adapted</a:t>
                      </a:r>
                      <a:endParaRPr lang="en-IN" sz="1700">
                        <a:latin typeface="Calibri"/>
                        <a:cs typeface="Calibri"/>
                      </a:endParaRPr>
                    </a:p>
                  </a:txBody>
                  <a:tcPr marL="0" marR="0" marT="678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5725">
                        <a:lnSpc>
                          <a:spcPts val="2150"/>
                        </a:lnSpc>
                      </a:pPr>
                      <a:r>
                        <a:rPr lang="en-IN" sz="1700" b="1">
                          <a:solidFill>
                            <a:srgbClr val="FFFFFF"/>
                          </a:solidFill>
                          <a:latin typeface="Calibri"/>
                          <a:cs typeface="Calibri"/>
                        </a:rPr>
                        <a:t>Key</a:t>
                      </a:r>
                      <a:r>
                        <a:rPr lang="en-IN" sz="1700" b="1" spc="-40">
                          <a:solidFill>
                            <a:srgbClr val="FFFFFF"/>
                          </a:solidFill>
                          <a:latin typeface="Calibri"/>
                          <a:cs typeface="Calibri"/>
                        </a:rPr>
                        <a:t> </a:t>
                      </a:r>
                      <a:r>
                        <a:rPr lang="en-IN" sz="1700" b="1" spc="-10">
                          <a:solidFill>
                            <a:srgbClr val="FFFFFF"/>
                          </a:solidFill>
                          <a:latin typeface="Calibri"/>
                          <a:cs typeface="Calibri"/>
                        </a:rPr>
                        <a:t>Findings</a:t>
                      </a:r>
                      <a:endParaRPr lang="en-IN" sz="17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tc>
                  <a:txBody>
                    <a:bodyPr/>
                    <a:lstStyle/>
                    <a:p>
                      <a:pPr marL="87630">
                        <a:lnSpc>
                          <a:spcPts val="2150"/>
                        </a:lnSpc>
                      </a:pPr>
                      <a:r>
                        <a:rPr lang="en-IN" sz="1700" b="1" spc="-20">
                          <a:solidFill>
                            <a:srgbClr val="FFFFFF"/>
                          </a:solidFill>
                          <a:latin typeface="Calibri"/>
                          <a:cs typeface="Calibri"/>
                        </a:rPr>
                        <a:t>Gaps</a:t>
                      </a:r>
                      <a:endParaRPr lang="en-IN" sz="17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5B9BD2"/>
                    </a:solidFill>
                  </a:tcPr>
                </a:tc>
                <a:extLst>
                  <a:ext uri="{0D108BD9-81ED-4DB2-BD59-A6C34878D82A}">
                    <a16:rowId xmlns:a16="http://schemas.microsoft.com/office/drawing/2014/main" val="10000"/>
                  </a:ext>
                </a:extLst>
              </a:tr>
              <a:tr h="1567242">
                <a:tc>
                  <a:txBody>
                    <a:bodyPr/>
                    <a:lstStyle/>
                    <a:p>
                      <a:pPr marL="85090">
                        <a:lnSpc>
                          <a:spcPts val="2155"/>
                        </a:lnSpc>
                      </a:pPr>
                      <a:r>
                        <a:rPr lang="en-IN" sz="1700" spc="-25">
                          <a:latin typeface="Calibri"/>
                          <a:cs typeface="Calibri"/>
                        </a:rPr>
                        <a:t>1.</a:t>
                      </a:r>
                      <a:endParaRPr lang="en-IN" sz="17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a:solidFill>
                        <a:srgbClr val="FFFFFF"/>
                      </a:solidFill>
                      <a:prstDash val="solid"/>
                    </a:lnB>
                    <a:solidFill>
                      <a:srgbClr val="D0DEEC"/>
                    </a:solidFill>
                  </a:tcPr>
                </a:tc>
                <a:tc>
                  <a:txBody>
                    <a:bodyPr/>
                    <a:lstStyle/>
                    <a:p>
                      <a:pPr>
                        <a:buNone/>
                      </a:pPr>
                      <a:r>
                        <a:rPr lang="en-US" sz="1400" dirty="0">
                          <a:latin typeface="Times New Roman" panose="02020603050405020304" pitchFamily="18" charset="0"/>
                          <a:cs typeface="Times New Roman" panose="02020603050405020304" pitchFamily="18" charset="0"/>
                        </a:rPr>
                        <a:t>A Web-Based Alumni Tracking and Engagement System</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IN" sz="1400" dirty="0">
                          <a:latin typeface="Times New Roman" panose="02020603050405020304" pitchFamily="18" charset="0"/>
                          <a:cs typeface="Times New Roman" panose="02020603050405020304" pitchFamily="18" charset="0"/>
                        </a:rPr>
                        <a:t>M. Rahman, S. Gupta</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IN" sz="1400">
                          <a:latin typeface="Times New Roman" panose="02020603050405020304" pitchFamily="18" charset="0"/>
                          <a:cs typeface="Times New Roman" panose="02020603050405020304" pitchFamily="18" charset="0"/>
                        </a:rPr>
                        <a:t>International Journal of Computer Applications (IJCA), 2021</a:t>
                      </a:r>
                    </a:p>
                  </a:txBody>
                  <a:tcPr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US" sz="1400">
                          <a:latin typeface="Times New Roman" panose="02020603050405020304" pitchFamily="18" charset="0"/>
                          <a:cs typeface="Times New Roman" panose="02020603050405020304" pitchFamily="18" charset="0"/>
                        </a:rPr>
                        <a:t>Web application using PHP–MySQL, role-based login system</a:t>
                      </a:r>
                    </a:p>
                  </a:txBody>
                  <a:tcPr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US" sz="1400">
                          <a:latin typeface="Times New Roman" panose="02020603050405020304" pitchFamily="18" charset="0"/>
                          <a:cs typeface="Times New Roman" panose="02020603050405020304" pitchFamily="18" charset="0"/>
                        </a:rPr>
                        <a:t>Improved data organization, enabled alumni interaction and verified profiles</a:t>
                      </a:r>
                    </a:p>
                  </a:txBody>
                  <a:tcPr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US" sz="1400" dirty="0">
                          <a:latin typeface="Times New Roman" panose="02020603050405020304" pitchFamily="18" charset="0"/>
                          <a:cs typeface="Times New Roman" panose="02020603050405020304" pitchFamily="18" charset="0"/>
                        </a:rPr>
                        <a:t>No AI features, no real-time notifications or mentor matching</a:t>
                      </a:r>
                    </a:p>
                  </a:txBody>
                  <a:tcPr anchor="ctr">
                    <a:lnL w="12700">
                      <a:solidFill>
                        <a:srgbClr val="FFFFFF"/>
                      </a:solidFill>
                      <a:prstDash val="soli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extLst>
                  <a:ext uri="{0D108BD9-81ED-4DB2-BD59-A6C34878D82A}">
                    <a16:rowId xmlns:a16="http://schemas.microsoft.com/office/drawing/2014/main" val="10001"/>
                  </a:ext>
                </a:extLst>
              </a:tr>
              <a:tr h="1114599">
                <a:tc>
                  <a:txBody>
                    <a:bodyPr/>
                    <a:lstStyle/>
                    <a:p>
                      <a:pPr marL="85090">
                        <a:lnSpc>
                          <a:spcPts val="2155"/>
                        </a:lnSpc>
                      </a:pPr>
                      <a:r>
                        <a:rPr lang="en-IN" sz="1700" spc="-50">
                          <a:latin typeface="Calibri"/>
                          <a:cs typeface="Calibri"/>
                        </a:rPr>
                        <a:t>2</a:t>
                      </a:r>
                      <a:endParaRPr lang="en-IN" sz="17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CF6"/>
                    </a:solidFill>
                  </a:tcPr>
                </a:tc>
                <a:tc>
                  <a:txBody>
                    <a:bodyPr/>
                    <a:lstStyle/>
                    <a:p>
                      <a:pPr>
                        <a:buNone/>
                      </a:pPr>
                      <a:r>
                        <a:rPr lang="en-US" sz="1400" dirty="0">
                          <a:latin typeface="Times New Roman" panose="02020603050405020304" pitchFamily="18" charset="0"/>
                          <a:cs typeface="Times New Roman" panose="02020603050405020304" pitchFamily="18" charset="0"/>
                        </a:rPr>
                        <a:t>Machine Learning–Based Career Recommendation System for Students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IN" sz="1400">
                          <a:latin typeface="Times New Roman" panose="02020603050405020304" pitchFamily="18" charset="0"/>
                          <a:cs typeface="Times New Roman" panose="02020603050405020304" pitchFamily="18" charset="0"/>
                        </a:rPr>
                        <a:t>A. Sharma, R. Rao</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IN" sz="1400">
                          <a:latin typeface="Times New Roman" panose="02020603050405020304" pitchFamily="18" charset="0"/>
                          <a:cs typeface="Times New Roman" panose="02020603050405020304" pitchFamily="18" charset="0"/>
                        </a:rPr>
                        <a:t>IEEE Access, 2022</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US" sz="1400" dirty="0">
                          <a:latin typeface="Times New Roman" panose="02020603050405020304" pitchFamily="18" charset="0"/>
                          <a:cs typeface="Times New Roman" panose="02020603050405020304" pitchFamily="18" charset="0"/>
                        </a:rPr>
                        <a:t>Decision tree + NLP-based skill analysis and prediction</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US" sz="1400">
                          <a:latin typeface="Times New Roman" panose="02020603050405020304" pitchFamily="18" charset="0"/>
                          <a:cs typeface="Times New Roman" panose="02020603050405020304" pitchFamily="18" charset="0"/>
                        </a:rPr>
                        <a:t>Provided accurate career recommendations based on student skills</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tc>
                  <a:txBody>
                    <a:bodyPr/>
                    <a:lstStyle/>
                    <a:p>
                      <a:pPr>
                        <a:buNone/>
                      </a:pPr>
                      <a:r>
                        <a:rPr lang="en-US" sz="1400" dirty="0">
                          <a:latin typeface="Times New Roman" panose="02020603050405020304" pitchFamily="18" charset="0"/>
                          <a:cs typeface="Times New Roman" panose="02020603050405020304" pitchFamily="18" charset="0"/>
                        </a:rPr>
                        <a:t>No alumni integration, no mentorship module, not a complete institutional system</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CF6"/>
                    </a:solidFill>
                  </a:tcPr>
                </a:tc>
                <a:extLst>
                  <a:ext uri="{0D108BD9-81ED-4DB2-BD59-A6C34878D82A}">
                    <a16:rowId xmlns:a16="http://schemas.microsoft.com/office/drawing/2014/main" val="10002"/>
                  </a:ext>
                </a:extLst>
              </a:tr>
              <a:tr h="991520">
                <a:tc>
                  <a:txBody>
                    <a:bodyPr/>
                    <a:lstStyle/>
                    <a:p>
                      <a:pPr marL="85090">
                        <a:lnSpc>
                          <a:spcPts val="2150"/>
                        </a:lnSpc>
                      </a:pPr>
                      <a:r>
                        <a:rPr lang="en-IN" sz="1700" spc="-50">
                          <a:latin typeface="Calibri"/>
                          <a:cs typeface="Calibri"/>
                        </a:rPr>
                        <a:t>3</a:t>
                      </a:r>
                      <a:endParaRPr lang="en-IN" sz="170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D0DEEC"/>
                    </a:solidFill>
                  </a:tcPr>
                </a:tc>
                <a:tc>
                  <a:txBody>
                    <a:bodyPr/>
                    <a:lstStyle/>
                    <a:p>
                      <a:pPr>
                        <a:buNone/>
                      </a:pPr>
                      <a:r>
                        <a:rPr lang="en-US" sz="1400" dirty="0">
                          <a:latin typeface="Times New Roman" panose="02020603050405020304" pitchFamily="18" charset="0"/>
                          <a:cs typeface="Times New Roman" panose="02020603050405020304" pitchFamily="18" charset="0"/>
                        </a:rPr>
                        <a:t>Social Networking Platform for Educational Institutions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IN" sz="1400">
                          <a:latin typeface="Times New Roman" panose="02020603050405020304" pitchFamily="18" charset="0"/>
                          <a:cs typeface="Times New Roman" panose="02020603050405020304" pitchFamily="18" charset="0"/>
                        </a:rPr>
                        <a:t>K. Priya, D. Mahesh</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tc>
                  <a:txBody>
                    <a:bodyPr/>
                    <a:lstStyle/>
                    <a:p>
                      <a:pPr>
                        <a:buNone/>
                      </a:pPr>
                      <a:r>
                        <a:rPr lang="en-IN" sz="1400">
                          <a:latin typeface="Times New Roman" panose="02020603050405020304" pitchFamily="18" charset="0"/>
                          <a:cs typeface="Times New Roman" panose="02020603050405020304" pitchFamily="18" charset="0"/>
                        </a:rPr>
                        <a:t>IJARCS, 2020</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0DEEC"/>
                    </a:solidFill>
                  </a:tcPr>
                </a:tc>
                <a:tc>
                  <a:txBody>
                    <a:bodyPr/>
                    <a:lstStyle/>
                    <a:p>
                      <a:pPr>
                        <a:buNone/>
                      </a:pPr>
                      <a:r>
                        <a:rPr lang="en-US" sz="1400">
                          <a:latin typeface="Times New Roman" panose="02020603050405020304" pitchFamily="18" charset="0"/>
                          <a:cs typeface="Times New Roman" panose="02020603050405020304" pitchFamily="18" charset="0"/>
                        </a:rPr>
                        <a:t>Social network design with authentication, posting &amp; messaging</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0DEEC"/>
                    </a:solidFill>
                  </a:tcPr>
                </a:tc>
                <a:tc>
                  <a:txBody>
                    <a:bodyPr/>
                    <a:lstStyle/>
                    <a:p>
                      <a:pPr>
                        <a:buNone/>
                      </a:pPr>
                      <a:r>
                        <a:rPr lang="en-US" sz="1400" dirty="0">
                          <a:latin typeface="Times New Roman" panose="02020603050405020304" pitchFamily="18" charset="0"/>
                          <a:cs typeface="Times New Roman" panose="02020603050405020304" pitchFamily="18" charset="0"/>
                        </a:rPr>
                        <a:t>Enabled better community communication and information sharing</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D0DEEC"/>
                    </a:solidFill>
                  </a:tcPr>
                </a:tc>
                <a:tc>
                  <a:txBody>
                    <a:bodyPr/>
                    <a:lstStyle/>
                    <a:p>
                      <a:pPr>
                        <a:buNone/>
                      </a:pPr>
                      <a:r>
                        <a:rPr lang="en-US" sz="1400" dirty="0">
                          <a:latin typeface="Times New Roman" panose="02020603050405020304" pitchFamily="18" charset="0"/>
                          <a:cs typeface="Times New Roman" panose="02020603050405020304" pitchFamily="18" charset="0"/>
                        </a:rPr>
                        <a:t>No alumni-focused features, no job updates or event management</a:t>
                      </a:r>
                    </a:p>
                  </a:txBody>
                  <a:tcPr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EEC"/>
                    </a:solidFill>
                  </a:tcPr>
                </a:tc>
                <a:extLst>
                  <a:ext uri="{0D108BD9-81ED-4DB2-BD59-A6C34878D82A}">
                    <a16:rowId xmlns:a16="http://schemas.microsoft.com/office/drawing/2014/main" val="10003"/>
                  </a:ext>
                </a:extLst>
              </a:tr>
              <a:tr h="992168">
                <a:tc>
                  <a:txBody>
                    <a:bodyPr/>
                    <a:lstStyle/>
                    <a:p>
                      <a:pPr marL="85090">
                        <a:lnSpc>
                          <a:spcPts val="2160"/>
                        </a:lnSpc>
                      </a:pPr>
                      <a:r>
                        <a:rPr lang="en-IN" sz="1700" spc="-50" dirty="0">
                          <a:latin typeface="Calibri"/>
                          <a:cs typeface="Calibri"/>
                        </a:rPr>
                        <a:t>4</a:t>
                      </a:r>
                      <a:endParaRPr lang="en-IN" sz="1700" dirty="0">
                        <a:latin typeface="Calibri"/>
                        <a:cs typeface="Calibri"/>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a:solidFill>
                        <a:srgbClr val="FFFFFF"/>
                      </a:solidFill>
                      <a:prstDash val="solid"/>
                    </a:lnT>
                    <a:lnB w="12700">
                      <a:solidFill>
                        <a:srgbClr val="FFFFFF"/>
                      </a:solidFill>
                      <a:prstDash val="solid"/>
                    </a:lnB>
                    <a:solidFill>
                      <a:srgbClr val="E9ECF6"/>
                    </a:solidFill>
                  </a:tcPr>
                </a:tc>
                <a:tc>
                  <a:txBody>
                    <a:bodyPr/>
                    <a:lstStyle/>
                    <a:p>
                      <a:pPr>
                        <a:buNone/>
                      </a:pPr>
                      <a:r>
                        <a:rPr lang="en-US" sz="1400" dirty="0">
                          <a:latin typeface="Times New Roman" panose="02020603050405020304" pitchFamily="18" charset="0"/>
                          <a:cs typeface="Times New Roman" panose="02020603050405020304" pitchFamily="18" charset="0"/>
                        </a:rPr>
                        <a:t>Feedback Management System for Universities</a:t>
                      </a:r>
                    </a:p>
                  </a:txBody>
                  <a:tcPr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51435">
                        <a:lnSpc>
                          <a:spcPts val="2050"/>
                        </a:lnSpc>
                      </a:pPr>
                      <a:r>
                        <a:rPr lang="en-IN" sz="1400" dirty="0">
                          <a:latin typeface="Times New Roman" panose="02020603050405020304" pitchFamily="18" charset="0"/>
                          <a:cs typeface="Times New Roman" panose="02020603050405020304" pitchFamily="18" charset="0"/>
                        </a:rPr>
                        <a:t>L. Nadim, R. Satish</a:t>
                      </a:r>
                    </a:p>
                  </a:txBody>
                  <a:tcPr marL="0" marR="0" marT="0"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52069">
                        <a:lnSpc>
                          <a:spcPts val="2050"/>
                        </a:lnSpc>
                      </a:pPr>
                      <a:r>
                        <a:rPr lang="fr-FR" sz="1400" dirty="0">
                          <a:latin typeface="Times New Roman" panose="02020603050405020304" pitchFamily="18" charset="0"/>
                          <a:cs typeface="Times New Roman" panose="02020603050405020304" pitchFamily="18" charset="0"/>
                        </a:rPr>
                        <a:t>Springer – Education &amp; Information Technologies, 2023</a:t>
                      </a:r>
                      <a:endParaRPr lang="en-IN"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635">
                        <a:lnSpc>
                          <a:spcPts val="2050"/>
                        </a:lnSpc>
                      </a:pP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Online feedback system with sentiment analysis</a:t>
                      </a:r>
                      <a:endParaRPr lang="en-IN"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marL="635">
                        <a:lnSpc>
                          <a:spcPts val="2050"/>
                        </a:lnSpc>
                      </a:pP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Automated feedback collection and improved review transparency</a:t>
                      </a:r>
                      <a:endParaRPr lang="en-IN" sz="1400" dirty="0">
                        <a:latin typeface="Times New Roman" panose="02020603050405020304" pitchFamily="18" charset="0"/>
                        <a:cs typeface="Times New Roman" panose="02020603050405020304" pitchFamily="18" charset="0"/>
                      </a:endParaRPr>
                    </a:p>
                  </a:txBody>
                  <a:tcPr marL="0" marR="0" marT="0"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tc>
                  <a:txBody>
                    <a:bodyPr/>
                    <a:lstStyle/>
                    <a:p>
                      <a:pPr>
                        <a:buNone/>
                      </a:pPr>
                      <a:r>
                        <a:rPr lang="it-IT" sz="1400" dirty="0">
                          <a:latin typeface="Times New Roman" panose="02020603050405020304" pitchFamily="18" charset="0"/>
                          <a:cs typeface="Times New Roman" panose="02020603050405020304" pitchFamily="18" charset="0"/>
                        </a:rPr>
                        <a:t>Lacks multi-role support, no alumni data management, no AI automation</a:t>
                      </a:r>
                      <a:endParaRPr lang="en-US" sz="1400" dirty="0">
                        <a:latin typeface="Times New Roman" panose="02020603050405020304" pitchFamily="18" charset="0"/>
                        <a:cs typeface="Times New Roman" panose="02020603050405020304" pitchFamily="18" charset="0"/>
                      </a:endParaRPr>
                    </a:p>
                  </a:txBody>
                  <a:tcPr marL="81427" marR="81427" marT="40712" marB="40712" anchor="ctr">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9EC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57595" y="-45133"/>
            <a:ext cx="4171920" cy="243656"/>
          </a:xfrm>
          <a:prstGeom prst="rect">
            <a:avLst/>
          </a:prstGeom>
        </p:spPr>
        <p:txBody>
          <a:bodyPr vert="horz" wrap="square" lIns="0" tIns="12700" rIns="0" bIns="0" rtlCol="0">
            <a:spAutoFit/>
          </a:bodyPr>
          <a:lstStyle/>
          <a:p>
            <a:pPr marL="12700">
              <a:lnSpc>
                <a:spcPct val="100000"/>
              </a:lnSpc>
              <a:spcBef>
                <a:spcPts val="100"/>
              </a:spcBef>
            </a:pPr>
            <a:r>
              <a:rPr lang="en-IN" sz="1500" b="1" i="1" dirty="0">
                <a:solidFill>
                  <a:srgbClr val="FFFFFF"/>
                </a:solidFill>
                <a:latin typeface="Times New Roman"/>
                <a:cs typeface="Times New Roman"/>
              </a:rPr>
              <a:t>    College Alumni Connect &amp; Management System</a:t>
            </a:r>
            <a:endParaRPr sz="1500" dirty="0">
              <a:latin typeface="Times New Roman"/>
              <a:cs typeface="Times New Roman"/>
            </a:endParaRPr>
          </a:p>
        </p:txBody>
      </p:sp>
      <p:sp>
        <p:nvSpPr>
          <p:cNvPr id="3" name="object 3"/>
          <p:cNvSpPr txBox="1"/>
          <p:nvPr/>
        </p:nvSpPr>
        <p:spPr>
          <a:xfrm>
            <a:off x="188609" y="937746"/>
            <a:ext cx="11164570" cy="5601533"/>
          </a:xfrm>
          <a:prstGeom prst="rect">
            <a:avLst/>
          </a:prstGeom>
        </p:spPr>
        <p:txBody>
          <a:bodyPr vert="horz" wrap="square" lIns="0" tIns="6096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proposed system is</a:t>
            </a:r>
            <a:r>
              <a:rPr lang="en-US" sz="2400"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AlumniConnect</a:t>
            </a:r>
            <a:r>
              <a:rPr lang="en-US" sz="2400" dirty="0">
                <a:latin typeface="Times New Roman" panose="02020603050405020304" pitchFamily="18" charset="0"/>
                <a:cs typeface="Times New Roman" panose="02020603050405020304" pitchFamily="18" charset="0"/>
              </a:rPr>
              <a:t>, a centralized college alumni communication and management platform designed to streamline interactions between students, alumni, faculty, and administrators.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providing a single unified interface for managing profiles, sharing updates, accessing career guidance, and collecting verified feedback</a:t>
            </a:r>
            <a:r>
              <a:rPr lang="en-US" sz="2400" dirty="0"/>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platform is a </a:t>
            </a:r>
            <a:r>
              <a:rPr lang="en-US" sz="2400" b="1" dirty="0">
                <a:latin typeface="Times New Roman" panose="02020603050405020304" pitchFamily="18" charset="0"/>
                <a:cs typeface="Times New Roman" panose="02020603050405020304" pitchFamily="18" charset="0"/>
              </a:rPr>
              <a:t>web application</a:t>
            </a:r>
            <a:r>
              <a:rPr lang="en-US" sz="2400" dirty="0">
                <a:latin typeface="Times New Roman" panose="02020603050405020304" pitchFamily="18" charset="0"/>
                <a:cs typeface="Times New Roman" panose="02020603050405020304" pitchFamily="18" charset="0"/>
              </a:rPr>
              <a:t> developed using </a:t>
            </a:r>
            <a:r>
              <a:rPr lang="en-US" sz="2400" b="1" dirty="0">
                <a:latin typeface="Times New Roman" panose="02020603050405020304" pitchFamily="18" charset="0"/>
                <a:cs typeface="Times New Roman" panose="02020603050405020304" pitchFamily="18" charset="0"/>
              </a:rPr>
              <a:t>Django (Python)</a:t>
            </a:r>
            <a:r>
              <a:rPr lang="en-US" sz="2400" dirty="0">
                <a:latin typeface="Times New Roman" panose="02020603050405020304" pitchFamily="18" charset="0"/>
                <a:cs typeface="Times New Roman" panose="02020603050405020304" pitchFamily="18" charset="0"/>
              </a:rPr>
              <a:t> for the backend,    </a:t>
            </a:r>
            <a:r>
              <a:rPr lang="en-US" sz="2400" b="1" dirty="0">
                <a:latin typeface="Times New Roman" panose="02020603050405020304" pitchFamily="18" charset="0"/>
                <a:cs typeface="Times New Roman" panose="02020603050405020304" pitchFamily="18" charset="0"/>
              </a:rPr>
              <a:t>HTML and CSS</a:t>
            </a:r>
            <a:r>
              <a:rPr lang="en-US" sz="2400" dirty="0">
                <a:latin typeface="Times New Roman" panose="02020603050405020304" pitchFamily="18" charset="0"/>
                <a:cs typeface="Times New Roman" panose="02020603050405020304" pitchFamily="18" charset="0"/>
              </a:rPr>
              <a:t> for frontend design, and </a:t>
            </a:r>
            <a:r>
              <a:rPr lang="en-US" sz="2400" b="1" dirty="0">
                <a:latin typeface="Times New Roman" panose="02020603050405020304" pitchFamily="18" charset="0"/>
                <a:cs typeface="Times New Roman" panose="02020603050405020304" pitchFamily="18" charset="0"/>
              </a:rPr>
              <a:t>PostgreSQL</a:t>
            </a:r>
            <a:r>
              <a:rPr lang="en-US" sz="2400" dirty="0">
                <a:latin typeface="Times New Roman" panose="02020603050405020304" pitchFamily="18" charset="0"/>
                <a:cs typeface="Times New Roman" panose="02020603050405020304" pitchFamily="18" charset="0"/>
              </a:rPr>
              <a:t> for secure, structured data   storage. Key features include:</a:t>
            </a:r>
          </a:p>
          <a:p>
            <a:r>
              <a:rPr lang="en-US" sz="2400" b="1" dirty="0">
                <a:latin typeface="Times New Roman" panose="02020603050405020304" pitchFamily="18" charset="0"/>
                <a:cs typeface="Times New Roman" panose="02020603050405020304" pitchFamily="18" charset="0"/>
              </a:rPr>
              <a:t>                  User registration and profile management</a:t>
            </a:r>
            <a:r>
              <a:rPr lang="en-US" sz="2400" dirty="0">
                <a:latin typeface="Times New Roman" panose="02020603050405020304" pitchFamily="18" charset="0"/>
                <a:cs typeface="Times New Roman" panose="02020603050405020304" pitchFamily="18" charset="0"/>
              </a:rPr>
              <a:t> for students, alumni, faculty, and</a:t>
            </a:r>
          </a:p>
          <a:p>
            <a:r>
              <a:rPr lang="en-US" sz="2400" dirty="0">
                <a:latin typeface="Times New Roman" panose="02020603050405020304" pitchFamily="18" charset="0"/>
                <a:cs typeface="Times New Roman" panose="02020603050405020304" pitchFamily="18" charset="0"/>
              </a:rPr>
              <a:t>                  administrators.                        </a:t>
            </a:r>
          </a:p>
          <a:p>
            <a:r>
              <a:rPr lang="en-US" sz="2400" b="1" dirty="0">
                <a:latin typeface="Times New Roman" panose="02020603050405020304" pitchFamily="18" charset="0"/>
                <a:cs typeface="Times New Roman" panose="02020603050405020304" pitchFamily="18" charset="0"/>
              </a:rPr>
              <a:t>                  Career guidance, mentorship programs, and event updates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Feedback collection and verification system</a:t>
            </a:r>
            <a:r>
              <a:rPr lang="en-US" sz="2400" dirty="0">
                <a:latin typeface="Times New Roman" panose="02020603050405020304" pitchFamily="18" charset="0"/>
                <a:cs typeface="Times New Roman" panose="02020603050405020304" pitchFamily="18" charset="0"/>
              </a:rPr>
              <a:t> for students and alumni</a:t>
            </a:r>
          </a:p>
          <a:p>
            <a:r>
              <a:rPr lang="en-US" sz="2400" b="1" dirty="0">
                <a:latin typeface="Times New Roman" panose="02020603050405020304" pitchFamily="18" charset="0"/>
                <a:cs typeface="Times New Roman" panose="02020603050405020304" pitchFamily="18" charset="0"/>
              </a:rPr>
              <a:t>                  Admin dashboard</a:t>
            </a:r>
            <a:r>
              <a:rPr lang="en-US" sz="2400" dirty="0">
                <a:latin typeface="Times New Roman" panose="02020603050405020304" pitchFamily="18" charset="0"/>
                <a:cs typeface="Times New Roman" panose="02020603050405020304" pitchFamily="18" charset="0"/>
              </a:rPr>
              <a:t> for managing users, events, and communications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is </a:t>
            </a:r>
            <a:r>
              <a:rPr lang="en-US" sz="2400" b="1" dirty="0">
                <a:latin typeface="Times New Roman" panose="02020603050405020304" pitchFamily="18" charset="0"/>
                <a:cs typeface="Times New Roman" panose="02020603050405020304" pitchFamily="18" charset="0"/>
              </a:rPr>
              <a:t>responsive, secure, and provides a smooth, interactive experience on both desktop and mobile</a:t>
            </a:r>
            <a:r>
              <a:rPr lang="en-US" sz="2400" dirty="0"/>
              <a:t>.</a:t>
            </a:r>
            <a:endParaRPr lang="en-US" sz="24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0" y="182323"/>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9031" y="6629427"/>
            <a:ext cx="635000" cy="461665"/>
          </a:xfrm>
          <a:prstGeom prst="rect">
            <a:avLst/>
          </a:prstGeom>
        </p:spPr>
        <p:txBody>
          <a:bodyPr vert="horz" wrap="square" lIns="0" tIns="0" rIns="0" bIns="0" rtlCol="0">
            <a:spAutoFit/>
          </a:bodyPr>
          <a:lstStyle/>
          <a:p>
            <a:pPr marL="12700">
              <a:lnSpc>
                <a:spcPts val="1845"/>
              </a:lnSpc>
            </a:pPr>
            <a:r>
              <a:rPr lang="en-US" spc="-10" dirty="0"/>
              <a:t>B</a:t>
            </a:r>
            <a:r>
              <a:rPr spc="-10" dirty="0"/>
              <a:t> </a:t>
            </a:r>
            <a:r>
              <a:rPr lang="en-IN" dirty="0"/>
              <a:t>–</a:t>
            </a:r>
            <a:r>
              <a:rPr spc="-5" dirty="0"/>
              <a:t> </a:t>
            </a:r>
            <a:r>
              <a:rPr lang="en-IN" spc="-25" dirty="0"/>
              <a:t>09</a:t>
            </a:r>
          </a:p>
          <a:p>
            <a:pPr marL="12700">
              <a:lnSpc>
                <a:spcPts val="1845"/>
              </a:lnSpc>
            </a:pPr>
            <a:endParaRPr spc="-25" dirty="0"/>
          </a:p>
        </p:txBody>
      </p:sp>
      <p:sp>
        <p:nvSpPr>
          <p:cNvPr id="9" name="object 9"/>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93451"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81400" y="-18836"/>
            <a:ext cx="394592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College Alumni Connect &amp; Management System</a:t>
            </a:r>
            <a:endParaRPr sz="1500" dirty="0">
              <a:latin typeface="Times New Roman"/>
              <a:cs typeface="Times New Roman"/>
            </a:endParaRPr>
          </a:p>
        </p:txBody>
      </p:sp>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pPr marL="152400">
              <a:lnSpc>
                <a:spcPct val="100000"/>
              </a:lnSpc>
              <a:spcBef>
                <a:spcPts val="100"/>
              </a:spcBef>
            </a:pPr>
            <a:r>
              <a:rPr spc="-10" dirty="0"/>
              <a:t>References</a:t>
            </a: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10" name="object 10"/>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8" name="TextBox 7">
            <a:extLst>
              <a:ext uri="{FF2B5EF4-FFF2-40B4-BE49-F238E27FC236}">
                <a16:creationId xmlns:a16="http://schemas.microsoft.com/office/drawing/2014/main" id="{1D845A5C-1300-ED24-5A1B-3230B375BE8C}"/>
              </a:ext>
            </a:extLst>
          </p:cNvPr>
          <p:cNvSpPr txBox="1"/>
          <p:nvPr/>
        </p:nvSpPr>
        <p:spPr>
          <a:xfrm>
            <a:off x="563287" y="1203910"/>
            <a:ext cx="10820400" cy="5262979"/>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[1] S. Gul and M. Ahmad, “Evaluating the Effectiveness of Online Platforms for Collaborative Learning,” </a:t>
            </a:r>
            <a:r>
              <a:rPr lang="en-IN" sz="2400" i="1" dirty="0">
                <a:latin typeface="Times New Roman" panose="02020603050405020304" pitchFamily="18" charset="0"/>
                <a:cs typeface="Times New Roman" panose="02020603050405020304" pitchFamily="18" charset="0"/>
              </a:rPr>
              <a:t>Int. J. Educ. Dev. Using ICT</a:t>
            </a:r>
            <a:r>
              <a:rPr lang="en-IN" sz="2400" dirty="0">
                <a:latin typeface="Times New Roman" panose="02020603050405020304" pitchFamily="18" charset="0"/>
                <a:cs typeface="Times New Roman" panose="02020603050405020304" pitchFamily="18" charset="0"/>
              </a:rPr>
              <a:t>, vol. 17, no. 2, pp. 46–58, 2021.</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[2] S. Kumar and R. Sharma, “Use of Web-Based Systems in Higher Education for Student and Alumni Management,” </a:t>
            </a:r>
            <a:r>
              <a:rPr lang="en-IN" sz="2400" i="1" dirty="0">
                <a:latin typeface="Times New Roman" panose="02020603050405020304" pitchFamily="18" charset="0"/>
                <a:cs typeface="Times New Roman" panose="02020603050405020304" pitchFamily="18" charset="0"/>
              </a:rPr>
              <a:t>J. Eng. Educ. Transform.</a:t>
            </a:r>
            <a:r>
              <a:rPr lang="en-IN" sz="2400" dirty="0">
                <a:latin typeface="Times New Roman" panose="02020603050405020304" pitchFamily="18" charset="0"/>
                <a:cs typeface="Times New Roman" panose="02020603050405020304" pitchFamily="18" charset="0"/>
              </a:rPr>
              <a:t>, vol. 33, pp. 188–194, 2020.</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[3] D. C. Nguyen, M. Ding, and D. Lopez, “A Survey on WebSocket Protocol for Real-Time Web Applications,” </a:t>
            </a:r>
            <a:r>
              <a:rPr lang="en-IN" sz="2400" i="1" dirty="0">
                <a:latin typeface="Times New Roman" panose="02020603050405020304" pitchFamily="18" charset="0"/>
                <a:cs typeface="Times New Roman" panose="02020603050405020304" pitchFamily="18" charset="0"/>
              </a:rPr>
              <a:t>IEEE Communications Standards Magazine</a:t>
            </a:r>
            <a:r>
              <a:rPr lang="en-IN" sz="2400" dirty="0">
                <a:latin typeface="Times New Roman" panose="02020603050405020304" pitchFamily="18" charset="0"/>
                <a:cs typeface="Times New Roman" panose="02020603050405020304" pitchFamily="18" charset="0"/>
              </a:rPr>
              <a:t>, vol. 3, no. 4, pp. 54–61, 2019.</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[4] Django Software Foundation, “Django Official Documentation,” 2023. </a:t>
            </a:r>
          </a:p>
          <a:p>
            <a:pPr>
              <a:buNone/>
            </a:pPr>
            <a:r>
              <a:rPr lang="en-IN" sz="2400" dirty="0">
                <a:latin typeface="Times New Roman" panose="02020603050405020304" pitchFamily="18" charset="0"/>
                <a:cs typeface="Times New Roman" panose="02020603050405020304" pitchFamily="18" charset="0"/>
              </a:rPr>
              <a:t>[5] PostgreSQL Global Development Group, “PostgreSQL: Documentation and Best Practices,” 2023.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4" name="object 4"/>
          <p:cNvSpPr txBox="1"/>
          <p:nvPr/>
        </p:nvSpPr>
        <p:spPr>
          <a:xfrm>
            <a:off x="3884688" y="-44134"/>
            <a:ext cx="41148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College Alumni Connect &amp; Management System</a:t>
            </a:r>
            <a:endParaRPr sz="1500" dirty="0">
              <a:latin typeface="Times New Roman"/>
              <a:cs typeface="Times New Roman"/>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tabLst>
                <a:tab pos="1966595" algn="l"/>
                <a:tab pos="5348605" algn="l"/>
                <a:tab pos="6511925" algn="l"/>
              </a:tabLst>
            </a:pPr>
            <a:r>
              <a:rPr dirty="0"/>
              <a:t>Git</a:t>
            </a:r>
            <a:r>
              <a:rPr spc="-75" dirty="0"/>
              <a:t> </a:t>
            </a:r>
            <a:r>
              <a:rPr spc="-25" dirty="0"/>
              <a:t>Hub</a:t>
            </a:r>
            <a:r>
              <a:rPr dirty="0"/>
              <a:t>	Dashboards</a:t>
            </a:r>
            <a:r>
              <a:rPr spc="-60" dirty="0"/>
              <a:t> </a:t>
            </a:r>
            <a:r>
              <a:rPr spc="-25" dirty="0"/>
              <a:t>of</a:t>
            </a:r>
            <a:r>
              <a:rPr dirty="0"/>
              <a:t>	</a:t>
            </a:r>
            <a:r>
              <a:rPr spc="-20" dirty="0"/>
              <a:t>each</a:t>
            </a:r>
            <a:r>
              <a:rPr dirty="0"/>
              <a:t>	</a:t>
            </a:r>
            <a:r>
              <a:rPr spc="-10" dirty="0"/>
              <a:t>student</a:t>
            </a:r>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11" name="object 11"/>
          <p:cNvSpPr txBox="1">
            <a:spLocks noGrp="1"/>
          </p:cNvSpPr>
          <p:nvPr>
            <p:ph type="dt" sz="half" idx="6"/>
          </p:nvPr>
        </p:nvSpPr>
        <p:spPr>
          <a:xfrm>
            <a:off x="1773948" y="6629559"/>
            <a:ext cx="40934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206259" cy="228803"/>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15" name="TextBox 14">
            <a:extLst>
              <a:ext uri="{FF2B5EF4-FFF2-40B4-BE49-F238E27FC236}">
                <a16:creationId xmlns:a16="http://schemas.microsoft.com/office/drawing/2014/main" id="{A36DFF5F-E73C-9BC3-DBFD-3FFFCA75FAC8}"/>
              </a:ext>
            </a:extLst>
          </p:cNvPr>
          <p:cNvSpPr txBox="1"/>
          <p:nvPr/>
        </p:nvSpPr>
        <p:spPr>
          <a:xfrm>
            <a:off x="1985794" y="6214624"/>
            <a:ext cx="10323493"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link</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of</a:t>
            </a:r>
            <a:r>
              <a:rPr lang="en-US" sz="1800" spc="-1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a:t>
            </a:r>
            <a:r>
              <a:rPr lang="en-US" sz="1800" spc="-10" dirty="0">
                <a:latin typeface="Times New Roman" panose="02020603050405020304" pitchFamily="18" charset="0"/>
                <a:cs typeface="Times New Roman" panose="02020603050405020304" pitchFamily="18" charset="0"/>
              </a:rPr>
              <a:t> </a:t>
            </a:r>
            <a:r>
              <a:rPr lang="en-US" sz="1800" spc="-10" dirty="0" err="1">
                <a:latin typeface="Times New Roman" panose="02020603050405020304" pitchFamily="18" charset="0"/>
                <a:cs typeface="Times New Roman" panose="02020603050405020304" pitchFamily="18" charset="0"/>
              </a:rPr>
              <a:t>Github</a:t>
            </a:r>
            <a:r>
              <a:rPr lang="en-US" sz="1800" spc="-10" dirty="0">
                <a:latin typeface="Times New Roman" panose="02020603050405020304" pitchFamily="18" charset="0"/>
                <a:cs typeface="Times New Roman" panose="02020603050405020304" pitchFamily="18" charset="0"/>
              </a:rPr>
              <a:t>:   https://github.com/RAJAKASUPRAJA/CSE-2022-2026-Batch-B09</a:t>
            </a:r>
            <a:endParaRPr lang="en-IN" dirty="0"/>
          </a:p>
        </p:txBody>
      </p:sp>
      <p:pic>
        <p:nvPicPr>
          <p:cNvPr id="17" name="Picture 16">
            <a:extLst>
              <a:ext uri="{FF2B5EF4-FFF2-40B4-BE49-F238E27FC236}">
                <a16:creationId xmlns:a16="http://schemas.microsoft.com/office/drawing/2014/main" id="{BFFA1797-F19E-014D-798C-6AD495053147}"/>
              </a:ext>
            </a:extLst>
          </p:cNvPr>
          <p:cNvPicPr>
            <a:picLocks noChangeAspect="1"/>
          </p:cNvPicPr>
          <p:nvPr/>
        </p:nvPicPr>
        <p:blipFill>
          <a:blip r:embed="rId4"/>
          <a:stretch>
            <a:fillRect/>
          </a:stretch>
        </p:blipFill>
        <p:spPr>
          <a:xfrm>
            <a:off x="849214" y="1036080"/>
            <a:ext cx="10036369" cy="50574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3" name="object 3"/>
          <p:cNvSpPr txBox="1"/>
          <p:nvPr/>
        </p:nvSpPr>
        <p:spPr>
          <a:xfrm>
            <a:off x="3887839" y="-20823"/>
            <a:ext cx="3871897"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College Alumni Connect &amp; Management System</a:t>
            </a:r>
            <a:endParaRPr sz="1500" dirty="0">
              <a:latin typeface="Times New Roman"/>
              <a:cs typeface="Times New Roman"/>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lang="en-US" spc="-10" dirty="0"/>
              <a:t>B</a:t>
            </a:r>
            <a:r>
              <a:rPr spc="-10" dirty="0"/>
              <a:t> </a:t>
            </a:r>
            <a:r>
              <a:rPr dirty="0"/>
              <a:t>-</a:t>
            </a:r>
            <a:r>
              <a:rPr spc="-5" dirty="0"/>
              <a:t> </a:t>
            </a:r>
            <a:r>
              <a:rPr lang="en-IN" spc="-25" dirty="0"/>
              <a:t>09</a:t>
            </a:r>
            <a:endParaRPr spc="-25" dirty="0"/>
          </a:p>
        </p:txBody>
      </p:sp>
      <p:sp>
        <p:nvSpPr>
          <p:cNvPr id="6" name="object 6"/>
          <p:cNvSpPr txBox="1">
            <a:spLocks noGrp="1"/>
          </p:cNvSpPr>
          <p:nvPr>
            <p:ph type="dt" sz="half" idx="6"/>
          </p:nvPr>
        </p:nvSpPr>
        <p:spPr>
          <a:xfrm>
            <a:off x="1773948" y="6629559"/>
            <a:ext cx="41696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440</TotalTime>
  <Words>1321</Words>
  <Application>Microsoft Office PowerPoint</Application>
  <PresentationFormat>Widescreen</PresentationFormat>
  <Paragraphs>161</Paragraphs>
  <Slides>11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COLLEGE ALUMNI CONNECT &amp; MANAGEMENT SYSTEM </vt:lpstr>
      <vt:lpstr>Contents</vt:lpstr>
      <vt:lpstr>Title Justification</vt:lpstr>
      <vt:lpstr>Abstract</vt:lpstr>
      <vt:lpstr>Problem Statement</vt:lpstr>
      <vt:lpstr>Objectives of Project</vt:lpstr>
      <vt:lpstr>                                     College Alumni Connect &amp; Management System</vt:lpstr>
      <vt:lpstr>Proposed System</vt:lpstr>
      <vt:lpstr>References</vt:lpstr>
      <vt:lpstr>Git Hub Dashboards of each student</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pranathi</dc:creator>
  <cp:lastModifiedBy>Rajaka Lalitha</cp:lastModifiedBy>
  <cp:revision>19</cp:revision>
  <dcterms:created xsi:type="dcterms:W3CDTF">2025-12-02T11:29:58Z</dcterms:created>
  <dcterms:modified xsi:type="dcterms:W3CDTF">2025-12-12T02:16:20Z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Google</vt:lpwstr>
  </property>
  <property fmtid="{D5CDD505-2E9C-101B-9397-08002B2CF9AE}" pid="4" name="LastSaved">
    <vt:filetime>2025-12-02T00:00:00Z</vt:filetime>
  </property>
</Properties>
</file>