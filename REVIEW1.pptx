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71" r:id="rId11"/>
    <p:sldId id="272" r:id="rId12"/>
    <p:sldId id="264" r:id="rId13"/>
    <p:sldId id="273" r:id="rId14"/>
    <p:sldId id="274" r:id="rId15"/>
    <p:sldId id="265" r:id="rId16"/>
    <p:sldId id="266" r:id="rId17"/>
    <p:sldId id="267" r:id="rId18"/>
    <p:sldId id="268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25" autoAdjust="0"/>
    <p:restoredTop sz="86473" autoAdjust="0"/>
  </p:normalViewPr>
  <p:slideViewPr>
    <p:cSldViewPr>
      <p:cViewPr varScale="1">
        <p:scale>
          <a:sx n="85" d="100"/>
          <a:sy n="85" d="100"/>
        </p:scale>
        <p:origin x="1042" y="6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0D3E96-DF03-4D20-A091-969AEE254DB2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A0DCA7-337A-4AF1-AA88-C50E8CECE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950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C257F-7C75-44DD-AC1C-7150640DC7D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426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A0DCA7-337A-4AF1-AA88-C50E8CECEE0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097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A0DCA7-337A-4AF1-AA88-C50E8CECEE0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520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EC6D5-84ED-95A6-A43E-A78331155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8D690-864B-EA5B-99D8-42BC20EC39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C1AD67-D43C-7B08-A002-05421E09BE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FC1DA-4F81-211B-AC18-A76F2C3CB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A0DCA7-337A-4AF1-AA88-C50E8CECEE0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548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2C7DF-BBDD-6ACC-8ED2-BC72E68B1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67EEF6-831D-0382-98CA-7BC05ABB5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54E60-A34D-890E-527D-BFAA1FBD3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8CB1C-1E86-BC12-7899-A17727300C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A0DCA7-337A-4AF1-AA88-C50E8CECEE0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0286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A0DCA7-337A-4AF1-AA88-C50E8CECEE07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970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65" dirty="0"/>
              <a:t>BAtch</a:t>
            </a:r>
            <a:r>
              <a:rPr cap="small" spc="5" dirty="0"/>
              <a:t> </a:t>
            </a:r>
            <a:r>
              <a:rPr cap="small" spc="-190" dirty="0"/>
              <a:t>no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65" dirty="0"/>
              <a:t>BAtch</a:t>
            </a:r>
            <a:r>
              <a:rPr cap="small" spc="5" dirty="0"/>
              <a:t> </a:t>
            </a:r>
            <a:r>
              <a:rPr cap="small" spc="-190" dirty="0"/>
              <a:t>no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65" dirty="0"/>
              <a:t>BAtch</a:t>
            </a:r>
            <a:r>
              <a:rPr cap="small" spc="5" dirty="0"/>
              <a:t> </a:t>
            </a:r>
            <a:r>
              <a:rPr cap="small" spc="-190" dirty="0"/>
              <a:t>no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65" dirty="0"/>
              <a:t>BAtch</a:t>
            </a:r>
            <a:r>
              <a:rPr cap="small" spc="5" dirty="0"/>
              <a:t> </a:t>
            </a:r>
            <a:r>
              <a:rPr cap="small" spc="-190" dirty="0"/>
              <a:t>no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65" dirty="0"/>
              <a:t>BAtch</a:t>
            </a:r>
            <a:r>
              <a:rPr cap="small" spc="5" dirty="0"/>
              <a:t> </a:t>
            </a:r>
            <a:r>
              <a:rPr cap="small" spc="-190" dirty="0"/>
              <a:t>no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59510" y="6642827"/>
            <a:ext cx="5271770" cy="215265"/>
          </a:xfrm>
          <a:custGeom>
            <a:avLst/>
            <a:gdLst/>
            <a:ahLst/>
            <a:cxnLst/>
            <a:rect l="l" t="t" r="r" b="b"/>
            <a:pathLst>
              <a:path w="5271770" h="215265">
                <a:moveTo>
                  <a:pt x="0" y="215171"/>
                </a:moveTo>
                <a:lnTo>
                  <a:pt x="5271767" y="215171"/>
                </a:lnTo>
                <a:lnTo>
                  <a:pt x="5271767" y="0"/>
                </a:lnTo>
                <a:lnTo>
                  <a:pt x="0" y="0"/>
                </a:lnTo>
                <a:lnTo>
                  <a:pt x="0" y="215171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277" y="6641865"/>
            <a:ext cx="5323205" cy="216535"/>
          </a:xfrm>
          <a:custGeom>
            <a:avLst/>
            <a:gdLst/>
            <a:ahLst/>
            <a:cxnLst/>
            <a:rect l="l" t="t" r="r" b="b"/>
            <a:pathLst>
              <a:path w="5323205" h="216534">
                <a:moveTo>
                  <a:pt x="5322916" y="216133"/>
                </a:moveTo>
                <a:lnTo>
                  <a:pt x="0" y="216133"/>
                </a:lnTo>
                <a:lnTo>
                  <a:pt x="0" y="0"/>
                </a:lnTo>
                <a:lnTo>
                  <a:pt x="5322916" y="0"/>
                </a:lnTo>
                <a:lnTo>
                  <a:pt x="5322916" y="216133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754195" y="6641864"/>
            <a:ext cx="438150" cy="216535"/>
          </a:xfrm>
          <a:custGeom>
            <a:avLst/>
            <a:gdLst/>
            <a:ahLst/>
            <a:cxnLst/>
            <a:rect l="l" t="t" r="r" b="b"/>
            <a:pathLst>
              <a:path w="438150" h="216534">
                <a:moveTo>
                  <a:pt x="437803" y="216132"/>
                </a:moveTo>
                <a:lnTo>
                  <a:pt x="0" y="216132"/>
                </a:lnTo>
                <a:lnTo>
                  <a:pt x="0" y="0"/>
                </a:lnTo>
                <a:lnTo>
                  <a:pt x="437803" y="0"/>
                </a:lnTo>
                <a:lnTo>
                  <a:pt x="437803" y="216132"/>
                </a:lnTo>
                <a:close/>
              </a:path>
            </a:pathLst>
          </a:custGeom>
          <a:solidFill>
            <a:srgbClr val="38639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06200" y="5956065"/>
            <a:ext cx="685799" cy="681643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1159510" cy="215265"/>
          </a:xfrm>
          <a:custGeom>
            <a:avLst/>
            <a:gdLst/>
            <a:ahLst/>
            <a:cxnLst/>
            <a:rect l="l" t="t" r="r" b="b"/>
            <a:pathLst>
              <a:path w="1159510" h="215265">
                <a:moveTo>
                  <a:pt x="1159509" y="215264"/>
                </a:moveTo>
                <a:lnTo>
                  <a:pt x="0" y="215264"/>
                </a:lnTo>
                <a:lnTo>
                  <a:pt x="0" y="0"/>
                </a:lnTo>
                <a:lnTo>
                  <a:pt x="1159509" y="0"/>
                </a:lnTo>
                <a:lnTo>
                  <a:pt x="1159509" y="215264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-1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998" y="232758"/>
                </a:moveTo>
                <a:lnTo>
                  <a:pt x="0" y="232758"/>
                </a:lnTo>
                <a:lnTo>
                  <a:pt x="0" y="0"/>
                </a:lnTo>
                <a:lnTo>
                  <a:pt x="12191998" y="0"/>
                </a:lnTo>
                <a:lnTo>
                  <a:pt x="12191998" y="232758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025" y="-50596"/>
            <a:ext cx="528129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81189" y="6629745"/>
            <a:ext cx="84836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65" dirty="0"/>
              <a:t>BAtch</a:t>
            </a:r>
            <a:r>
              <a:rPr cap="small" spc="5" dirty="0"/>
              <a:t> </a:t>
            </a:r>
            <a:r>
              <a:rPr cap="small" spc="-190" dirty="0"/>
              <a:t>no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774067" y="6629792"/>
            <a:ext cx="366141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58823" y="6629309"/>
            <a:ext cx="22860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7240" y="6634440"/>
            <a:ext cx="11414760" cy="223520"/>
            <a:chOff x="777240" y="6634440"/>
            <a:chExt cx="11414760" cy="223520"/>
          </a:xfrm>
        </p:grpSpPr>
        <p:sp>
          <p:nvSpPr>
            <p:cNvPr id="3" name="object 3"/>
            <p:cNvSpPr/>
            <p:nvPr/>
          </p:nvSpPr>
          <p:spPr>
            <a:xfrm>
              <a:off x="777240" y="6634440"/>
              <a:ext cx="5781675" cy="220979"/>
            </a:xfrm>
            <a:custGeom>
              <a:avLst/>
              <a:gdLst/>
              <a:ahLst/>
              <a:cxnLst/>
              <a:rect l="l" t="t" r="r" b="b"/>
              <a:pathLst>
                <a:path w="5781675" h="220979">
                  <a:moveTo>
                    <a:pt x="57815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5781599" y="0"/>
                  </a:lnTo>
                  <a:lnTo>
                    <a:pt x="5781599" y="220679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559199" y="6634440"/>
              <a:ext cx="5194935" cy="220979"/>
            </a:xfrm>
            <a:custGeom>
              <a:avLst/>
              <a:gdLst/>
              <a:ahLst/>
              <a:cxnLst/>
              <a:rect l="l" t="t" r="r" b="b"/>
              <a:pathLst>
                <a:path w="5194934" h="220979">
                  <a:moveTo>
                    <a:pt x="51947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5194799" y="0"/>
                  </a:lnTo>
                  <a:lnTo>
                    <a:pt x="5194799" y="220679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754359" y="6636960"/>
              <a:ext cx="437515" cy="220979"/>
            </a:xfrm>
            <a:custGeom>
              <a:avLst/>
              <a:gdLst/>
              <a:ahLst/>
              <a:cxnLst/>
              <a:rect l="l" t="t" r="r" b="b"/>
              <a:pathLst>
                <a:path w="437515" h="220979">
                  <a:moveTo>
                    <a:pt x="4373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437399" y="0"/>
                  </a:lnTo>
                  <a:lnTo>
                    <a:pt x="437399" y="22067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634440"/>
            <a:ext cx="777240" cy="221615"/>
          </a:xfrm>
          <a:custGeom>
            <a:avLst/>
            <a:gdLst/>
            <a:ahLst/>
            <a:cxnLst/>
            <a:rect l="l" t="t" r="r" b="b"/>
            <a:pathLst>
              <a:path w="777240" h="221615">
                <a:moveTo>
                  <a:pt x="776879" y="221039"/>
                </a:moveTo>
                <a:lnTo>
                  <a:pt x="0" y="221039"/>
                </a:lnTo>
                <a:lnTo>
                  <a:pt x="0" y="0"/>
                </a:lnTo>
                <a:lnTo>
                  <a:pt x="776879" y="0"/>
                </a:lnTo>
                <a:lnTo>
                  <a:pt x="776879" y="22103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46600" y="1701167"/>
            <a:ext cx="3452892" cy="5246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080"/>
              </a:lnSpc>
              <a:spcBef>
                <a:spcPts val="105"/>
              </a:spcBef>
            </a:pPr>
            <a:r>
              <a:rPr lang="en-IN" sz="1750" spc="-10" dirty="0">
                <a:latin typeface="Times New Roman"/>
                <a:cs typeface="Times New Roman"/>
              </a:rPr>
              <a:t>C.V.RAJASEKHAR REDDY</a:t>
            </a:r>
          </a:p>
          <a:p>
            <a:pPr algn="ctr">
              <a:lnSpc>
                <a:spcPts val="2080"/>
              </a:lnSpc>
              <a:spcBef>
                <a:spcPts val="105"/>
              </a:spcBef>
            </a:pPr>
            <a:r>
              <a:rPr sz="900" dirty="0">
                <a:latin typeface="Times New Roman"/>
                <a:cs typeface="Times New Roman"/>
              </a:rPr>
              <a:t>Roll</a:t>
            </a:r>
            <a:r>
              <a:rPr sz="900" spc="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No.</a:t>
            </a:r>
            <a:r>
              <a:rPr sz="900" spc="5" dirty="0">
                <a:latin typeface="Times New Roman"/>
                <a:cs typeface="Times New Roman"/>
              </a:rPr>
              <a:t> </a:t>
            </a:r>
            <a:r>
              <a:rPr lang="en-IN" sz="900" spc="-10" dirty="0">
                <a:latin typeface="Times New Roman"/>
                <a:cs typeface="Times New Roman"/>
              </a:rPr>
              <a:t>224G1A05C2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510846" y="2468136"/>
            <a:ext cx="4724400" cy="13208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ts val="1630"/>
              </a:lnSpc>
              <a:spcBef>
                <a:spcPts val="100"/>
              </a:spcBef>
            </a:pPr>
            <a:r>
              <a:rPr lang="en-IN" sz="1400" i="1" dirty="0">
                <a:latin typeface="Times New Roman"/>
                <a:cs typeface="Times New Roman"/>
              </a:rPr>
              <a:t>U</a:t>
            </a:r>
            <a:r>
              <a:rPr sz="1400" i="1" dirty="0" err="1">
                <a:latin typeface="Times New Roman"/>
                <a:cs typeface="Times New Roman"/>
              </a:rPr>
              <a:t>nder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the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spc="-10" dirty="0">
                <a:latin typeface="Times New Roman"/>
                <a:cs typeface="Times New Roman"/>
              </a:rPr>
              <a:t>guidance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spc="-25" dirty="0">
                <a:latin typeface="Times New Roman"/>
                <a:cs typeface="Times New Roman"/>
              </a:rPr>
              <a:t>of</a:t>
            </a:r>
            <a:endParaRPr sz="1400" dirty="0">
              <a:latin typeface="Times New Roman"/>
              <a:cs typeface="Times New Roman"/>
            </a:endParaRPr>
          </a:p>
          <a:p>
            <a:pPr marL="12065" marR="5080" algn="ctr">
              <a:lnSpc>
                <a:spcPts val="2790"/>
              </a:lnSpc>
              <a:spcBef>
                <a:spcPts val="114"/>
              </a:spcBef>
            </a:pPr>
            <a:r>
              <a:rPr lang="en-IN" sz="2400" spc="-10" dirty="0">
                <a:latin typeface="Times New Roman"/>
                <a:cs typeface="Times New Roman"/>
              </a:rPr>
              <a:t>Dr. M.RANJIT REDDY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r>
              <a:rPr lang="en-IN" sz="2400" spc="-10" dirty="0">
                <a:latin typeface="Times New Roman"/>
                <a:cs typeface="Times New Roman"/>
              </a:rPr>
              <a:t> </a:t>
            </a:r>
            <a:r>
              <a:rPr lang="en-IN" sz="1400" spc="-10" dirty="0" err="1">
                <a:latin typeface="Times New Roman"/>
                <a:cs typeface="Times New Roman"/>
              </a:rPr>
              <a:t>M.Tech</a:t>
            </a:r>
            <a:r>
              <a:rPr lang="en-IN" sz="1400" spc="-10" dirty="0">
                <a:latin typeface="Times New Roman"/>
                <a:cs typeface="Times New Roman"/>
              </a:rPr>
              <a:t>., </a:t>
            </a:r>
            <a:r>
              <a:rPr lang="en-IN" sz="1400" spc="-10" dirty="0" err="1">
                <a:latin typeface="Times New Roman"/>
                <a:cs typeface="Times New Roman"/>
              </a:rPr>
              <a:t>ph.D.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endParaRPr lang="en-IN" sz="1400" spc="-10" dirty="0">
              <a:latin typeface="Times New Roman"/>
              <a:cs typeface="Times New Roman"/>
            </a:endParaRPr>
          </a:p>
          <a:p>
            <a:pPr marL="12065" marR="5080" algn="ctr">
              <a:lnSpc>
                <a:spcPts val="2790"/>
              </a:lnSpc>
              <a:spcBef>
                <a:spcPts val="114"/>
              </a:spcBef>
            </a:pPr>
            <a:r>
              <a:rPr lang="en-IN" sz="1400" spc="-10" dirty="0">
                <a:latin typeface="Times New Roman"/>
                <a:cs typeface="Times New Roman"/>
              </a:rPr>
              <a:t>Professor</a:t>
            </a:r>
            <a:endParaRPr lang="en-IN" sz="1400" dirty="0">
              <a:latin typeface="Times New Roman"/>
              <a:cs typeface="Times New Roman"/>
            </a:endParaRPr>
          </a:p>
          <a:p>
            <a:pPr marL="12065" marR="5080" algn="ctr">
              <a:lnSpc>
                <a:spcPts val="2790"/>
              </a:lnSpc>
              <a:spcBef>
                <a:spcPts val="114"/>
              </a:spcBef>
            </a:pP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47578" y="5096081"/>
            <a:ext cx="7890509" cy="144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45" algn="ctr">
              <a:lnSpc>
                <a:spcPts val="2300"/>
              </a:lnSpc>
              <a:spcBef>
                <a:spcPts val="105"/>
              </a:spcBef>
            </a:pPr>
            <a:r>
              <a:rPr sz="2200" dirty="0">
                <a:latin typeface="Times New Roman"/>
                <a:cs typeface="Times New Roman"/>
              </a:rPr>
              <a:t>Department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Computer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Science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Engineering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endParaRPr sz="2200" dirty="0">
              <a:latin typeface="Times New Roman"/>
              <a:cs typeface="Times New Roman"/>
            </a:endParaRPr>
          </a:p>
          <a:p>
            <a:pPr algn="ctr">
              <a:lnSpc>
                <a:spcPts val="3565"/>
              </a:lnSpc>
            </a:pP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Srinivasa</a:t>
            </a:r>
            <a:r>
              <a:rPr sz="3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Ramanujan</a:t>
            </a:r>
            <a:r>
              <a:rPr sz="3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Institute</a:t>
            </a:r>
            <a:r>
              <a:rPr sz="3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FF0000"/>
                </a:solidFill>
                <a:latin typeface="Times New Roman"/>
                <a:cs typeface="Times New Roman"/>
              </a:rPr>
              <a:t>Technology</a:t>
            </a:r>
            <a:endParaRPr sz="3400" dirty="0">
              <a:latin typeface="Times New Roman"/>
              <a:cs typeface="Times New Roman"/>
            </a:endParaRPr>
          </a:p>
          <a:p>
            <a:pPr marL="6350" algn="ctr">
              <a:lnSpc>
                <a:spcPts val="1850"/>
              </a:lnSpc>
            </a:pPr>
            <a:r>
              <a:rPr sz="1750" b="1" spc="-10" dirty="0">
                <a:latin typeface="Times New Roman"/>
                <a:cs typeface="Times New Roman"/>
              </a:rPr>
              <a:t>Autonomous</a:t>
            </a:r>
            <a:endParaRPr sz="1750" dirty="0">
              <a:latin typeface="Times New Roman"/>
              <a:cs typeface="Times New Roman"/>
            </a:endParaRPr>
          </a:p>
          <a:p>
            <a:pPr marL="7620" algn="ctr">
              <a:lnSpc>
                <a:spcPts val="1370"/>
              </a:lnSpc>
            </a:pPr>
            <a:r>
              <a:rPr sz="1200" b="1" dirty="0">
                <a:latin typeface="Times New Roman"/>
                <a:cs typeface="Times New Roman"/>
              </a:rPr>
              <a:t>Rotarypuram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Village,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Samudram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Mandal,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Ananthapuramu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–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515701.</a:t>
            </a:r>
            <a:endParaRPr sz="1200" dirty="0">
              <a:latin typeface="Times New Roman"/>
              <a:cs typeface="Times New Roman"/>
            </a:endParaRPr>
          </a:p>
          <a:p>
            <a:pPr marL="6985" algn="ctr">
              <a:lnSpc>
                <a:spcPct val="100000"/>
              </a:lnSpc>
              <a:spcBef>
                <a:spcPts val="545"/>
              </a:spcBef>
            </a:pPr>
            <a:r>
              <a:rPr sz="1300" b="1" dirty="0">
                <a:solidFill>
                  <a:srgbClr val="1E4E78"/>
                </a:solidFill>
                <a:latin typeface="Times New Roman"/>
                <a:cs typeface="Times New Roman"/>
              </a:rPr>
              <a:t>202</a:t>
            </a:r>
            <a:r>
              <a:rPr lang="en-IN" sz="1300" b="1" dirty="0">
                <a:solidFill>
                  <a:srgbClr val="1E4E78"/>
                </a:solidFill>
                <a:latin typeface="Times New Roman"/>
                <a:cs typeface="Times New Roman"/>
              </a:rPr>
              <a:t>5-</a:t>
            </a:r>
            <a:r>
              <a:rPr sz="1300" b="1" spc="-20" dirty="0">
                <a:solidFill>
                  <a:srgbClr val="1E4E78"/>
                </a:solidFill>
                <a:latin typeface="Times New Roman"/>
                <a:cs typeface="Times New Roman"/>
              </a:rPr>
              <a:t>202</a:t>
            </a:r>
            <a:r>
              <a:rPr lang="en-IN" sz="1300" b="1" spc="-20" dirty="0">
                <a:solidFill>
                  <a:srgbClr val="1E4E78"/>
                </a:solidFill>
                <a:latin typeface="Times New Roman"/>
                <a:cs typeface="Times New Roman"/>
              </a:rPr>
              <a:t>6</a:t>
            </a:r>
            <a:endParaRPr sz="13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9132" y="1735791"/>
            <a:ext cx="2624412" cy="5932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algn="ctr">
              <a:lnSpc>
                <a:spcPts val="2380"/>
              </a:lnSpc>
              <a:spcBef>
                <a:spcPts val="115"/>
              </a:spcBef>
            </a:pPr>
            <a:r>
              <a:rPr lang="en-IN" sz="2000" dirty="0">
                <a:latin typeface="Times New Roman"/>
                <a:cs typeface="Times New Roman"/>
              </a:rPr>
              <a:t>R.SUPRAJA </a:t>
            </a:r>
          </a:p>
          <a:p>
            <a:pPr algn="ctr">
              <a:lnSpc>
                <a:spcPts val="2380"/>
              </a:lnSpc>
              <a:spcBef>
                <a:spcPts val="115"/>
              </a:spcBef>
            </a:pPr>
            <a:r>
              <a:rPr sz="900" dirty="0">
                <a:latin typeface="Times New Roman"/>
                <a:cs typeface="Times New Roman"/>
              </a:rPr>
              <a:t>Roll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No.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lang="en-IN" sz="900" spc="-10" dirty="0">
                <a:latin typeface="Times New Roman"/>
                <a:cs typeface="Times New Roman"/>
              </a:rPr>
              <a:t>224G1A05B1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48833" y="1735791"/>
            <a:ext cx="3371116" cy="4802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09"/>
              </a:spcBef>
            </a:pPr>
            <a:r>
              <a:rPr lang="en-IN" sz="1800" spc="-10" dirty="0">
                <a:latin typeface="Times New Roman"/>
                <a:cs typeface="Times New Roman"/>
              </a:rPr>
              <a:t>         </a:t>
            </a:r>
            <a:r>
              <a:rPr lang="en-IN" spc="-10" dirty="0">
                <a:latin typeface="Times New Roman"/>
                <a:cs typeface="Times New Roman"/>
              </a:rPr>
              <a:t>C.NARASIMHULU </a:t>
            </a:r>
          </a:p>
          <a:p>
            <a:pPr marL="42545">
              <a:lnSpc>
                <a:spcPct val="100000"/>
              </a:lnSpc>
              <a:spcBef>
                <a:spcPts val="409"/>
              </a:spcBef>
            </a:pPr>
            <a:r>
              <a:rPr lang="en-IN" sz="900" spc="-10" dirty="0">
                <a:latin typeface="Times New Roman"/>
                <a:cs typeface="Times New Roman"/>
              </a:rPr>
              <a:t>                                   </a:t>
            </a:r>
            <a:r>
              <a:rPr sz="900" dirty="0">
                <a:latin typeface="Times New Roman"/>
                <a:cs typeface="Times New Roman"/>
              </a:rPr>
              <a:t>Roll</a:t>
            </a:r>
            <a:r>
              <a:rPr sz="900" spc="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No.</a:t>
            </a:r>
            <a:r>
              <a:rPr sz="900" spc="5" dirty="0">
                <a:latin typeface="Times New Roman"/>
                <a:cs typeface="Times New Roman"/>
              </a:rPr>
              <a:t> </a:t>
            </a:r>
            <a:r>
              <a:rPr lang="en-IN" sz="900" spc="-10" dirty="0">
                <a:latin typeface="Times New Roman"/>
                <a:cs typeface="Times New Roman"/>
              </a:rPr>
              <a:t>224G1A0558</a:t>
            </a:r>
            <a:endParaRPr sz="900" dirty="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04800" y="318271"/>
            <a:ext cx="11582400" cy="937894"/>
            <a:chOff x="715009" y="318271"/>
            <a:chExt cx="10608310" cy="937894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5009" y="318271"/>
              <a:ext cx="10608182" cy="93786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55008" y="335270"/>
              <a:ext cx="10528300" cy="857885"/>
            </a:xfrm>
            <a:custGeom>
              <a:avLst/>
              <a:gdLst/>
              <a:ahLst/>
              <a:cxnLst/>
              <a:rect l="l" t="t" r="r" b="b"/>
              <a:pathLst>
                <a:path w="10528300" h="857885">
                  <a:moveTo>
                    <a:pt x="10385202" y="857863"/>
                  </a:moveTo>
                  <a:lnTo>
                    <a:pt x="142980" y="857863"/>
                  </a:lnTo>
                  <a:lnTo>
                    <a:pt x="97787" y="850574"/>
                  </a:lnTo>
                  <a:lnTo>
                    <a:pt x="58537" y="830277"/>
                  </a:lnTo>
                  <a:lnTo>
                    <a:pt x="27586" y="799326"/>
                  </a:lnTo>
                  <a:lnTo>
                    <a:pt x="7289" y="760076"/>
                  </a:lnTo>
                  <a:lnTo>
                    <a:pt x="0" y="714883"/>
                  </a:lnTo>
                  <a:lnTo>
                    <a:pt x="0" y="142980"/>
                  </a:lnTo>
                  <a:lnTo>
                    <a:pt x="7289" y="97787"/>
                  </a:lnTo>
                  <a:lnTo>
                    <a:pt x="27586" y="58537"/>
                  </a:lnTo>
                  <a:lnTo>
                    <a:pt x="58537" y="27586"/>
                  </a:lnTo>
                  <a:lnTo>
                    <a:pt x="97787" y="7289"/>
                  </a:lnTo>
                  <a:lnTo>
                    <a:pt x="142980" y="0"/>
                  </a:lnTo>
                  <a:lnTo>
                    <a:pt x="10385202" y="0"/>
                  </a:lnTo>
                  <a:lnTo>
                    <a:pt x="10439918" y="10883"/>
                  </a:lnTo>
                  <a:lnTo>
                    <a:pt x="10486304" y="41877"/>
                  </a:lnTo>
                  <a:lnTo>
                    <a:pt x="10517299" y="88264"/>
                  </a:lnTo>
                  <a:lnTo>
                    <a:pt x="10528183" y="142980"/>
                  </a:lnTo>
                  <a:lnTo>
                    <a:pt x="10528183" y="714883"/>
                  </a:lnTo>
                  <a:lnTo>
                    <a:pt x="10520894" y="760076"/>
                  </a:lnTo>
                  <a:lnTo>
                    <a:pt x="10500596" y="799326"/>
                  </a:lnTo>
                  <a:lnTo>
                    <a:pt x="10469645" y="830277"/>
                  </a:lnTo>
                  <a:lnTo>
                    <a:pt x="10430395" y="850574"/>
                  </a:lnTo>
                  <a:lnTo>
                    <a:pt x="10385202" y="857863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20296" y="497459"/>
            <a:ext cx="112014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C</a:t>
            </a:r>
            <a:r>
              <a:rPr lang="en-US" sz="3200" dirty="0"/>
              <a:t>OLLEGE ALUMNI CONNECT &amp; MANAGEMENT SYSTEM </a:t>
            </a:r>
            <a:endParaRPr sz="3200" dirty="0"/>
          </a:p>
        </p:txBody>
      </p:sp>
      <p:sp>
        <p:nvSpPr>
          <p:cNvPr id="18" name="object 18"/>
          <p:cNvSpPr txBox="1"/>
          <p:nvPr/>
        </p:nvSpPr>
        <p:spPr>
          <a:xfrm>
            <a:off x="5764461" y="1277653"/>
            <a:ext cx="2171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25" dirty="0">
                <a:latin typeface="Times New Roman"/>
                <a:cs typeface="Times New Roman"/>
              </a:rPr>
              <a:t>by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09357" y="3429000"/>
            <a:ext cx="1527378" cy="16854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 flipH="1">
            <a:off x="3276600" y="-28129"/>
            <a:ext cx="54864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OLLEGE ALUMNI CONNECT &amp; MANAGEMENT SYSTEM </a:t>
            </a:r>
            <a:endParaRPr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2" y="216249"/>
            <a:ext cx="12192000" cy="803910"/>
            <a:chOff x="-2" y="216249"/>
            <a:chExt cx="12192000" cy="8039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249"/>
              <a:ext cx="12192000" cy="8037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-2" y="23275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999" y="714891"/>
                  </a:moveTo>
                  <a:lnTo>
                    <a:pt x="0" y="714891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14891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1000" y="160505"/>
            <a:ext cx="40735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Title</a:t>
            </a:r>
            <a:r>
              <a:rPr spc="-110" dirty="0"/>
              <a:t> </a:t>
            </a:r>
            <a:r>
              <a:rPr spc="-10" dirty="0"/>
              <a:t>Explaination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65" dirty="0"/>
              <a:t>BAtch</a:t>
            </a:r>
            <a:r>
              <a:rPr cap="small" spc="5" dirty="0"/>
              <a:t> </a:t>
            </a:r>
            <a:r>
              <a:rPr cap="small" spc="-190" dirty="0"/>
              <a:t>no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774067" y="6629793"/>
            <a:ext cx="3891278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47577" y="6629311"/>
            <a:ext cx="4130023" cy="228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76FA45F9-CCDC-DBF1-7EC5-955DC2FA7BF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81000" y="1447800"/>
            <a:ext cx="105156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title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“College Alumni Connect &amp; Management System”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represents a centralized digital platform for alumni engagement.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“Connect”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indicates structured communication between students, alumni, faculty, and administrators.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“Management System”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highlights organized handling of alumni data, feedback, mentoring, and events.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bridges the gap between alumni and the institution.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supports long-term collaboration, career guidance, and institutional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52800" y="-19152"/>
            <a:ext cx="5221750" cy="4873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ALUMNI CONNECT &amp; MANAGEMENT SYSTEM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2" y="216249"/>
            <a:ext cx="12192000" cy="803910"/>
            <a:chOff x="-2" y="216249"/>
            <a:chExt cx="12192000" cy="8039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249"/>
              <a:ext cx="12192000" cy="8037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-2" y="23275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999" y="714891"/>
                  </a:moveTo>
                  <a:lnTo>
                    <a:pt x="0" y="714891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14891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4182" y="160487"/>
            <a:ext cx="52812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65" dirty="0"/>
              <a:t>BAtch</a:t>
            </a:r>
            <a:r>
              <a:rPr cap="small" spc="5" dirty="0"/>
              <a:t> </a:t>
            </a:r>
            <a:r>
              <a:rPr cap="small" spc="-190" dirty="0"/>
              <a:t>no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774067" y="6629793"/>
            <a:ext cx="377952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47577" y="6629311"/>
            <a:ext cx="397762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25852" y="989989"/>
            <a:ext cx="3779520" cy="411416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421005" indent="-408305">
              <a:lnSpc>
                <a:spcPct val="100000"/>
              </a:lnSpc>
              <a:spcBef>
                <a:spcPts val="760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Abstract</a:t>
            </a:r>
            <a:endParaRPr sz="280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Introduction</a:t>
            </a:r>
            <a:endParaRPr sz="280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Software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Requirements</a:t>
            </a:r>
            <a:endParaRPr sz="280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Datasets/Modules</a:t>
            </a:r>
            <a:endParaRPr sz="280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Implementation</a:t>
            </a:r>
            <a:endParaRPr sz="280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0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Outputs</a:t>
            </a:r>
            <a:endParaRPr sz="280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Conclusion</a:t>
            </a:r>
            <a:endParaRPr sz="280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References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68187" y="-29543"/>
            <a:ext cx="5145550" cy="4873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ALUMNI CONNECT &amp; MANAGEMENT SYSTEM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2" y="216249"/>
            <a:ext cx="12192000" cy="803910"/>
            <a:chOff x="-2" y="216249"/>
            <a:chExt cx="12192000" cy="8039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16249"/>
              <a:ext cx="12192000" cy="8037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-2" y="23275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999" y="714891"/>
                  </a:moveTo>
                  <a:lnTo>
                    <a:pt x="0" y="714891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14891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4182" y="160487"/>
            <a:ext cx="52812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65" dirty="0"/>
              <a:t>BAtch</a:t>
            </a:r>
            <a:r>
              <a:rPr cap="small" spc="5" dirty="0"/>
              <a:t> </a:t>
            </a:r>
            <a:r>
              <a:rPr cap="small" spc="-190" dirty="0"/>
              <a:t>no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774066" y="6629793"/>
            <a:ext cx="378853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47577" y="6629310"/>
            <a:ext cx="420622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E8E4EB80-E145-835B-E52E-96F2B6634D4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04655" y="935186"/>
            <a:ext cx="11582400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A web-based system designed to connect students, alumni, faculty, and administrators                 through dedicated portals.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Existing alumni systems lack intelligent mentor matching and centralized interaction platforms.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Developed using web technologies with an AI-based skill matching module for mentor recommendation.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Improved student–alumni interaction, efficient data management, and faster mentor identification.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The system enhances alumni engagement and provides effective academic and career support.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55350" y="-27408"/>
            <a:ext cx="5281295" cy="4873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ALUMNI CONNECT &amp; MANAGEMENT SYSTEM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2" y="216249"/>
            <a:ext cx="12192000" cy="803910"/>
            <a:chOff x="-2" y="216249"/>
            <a:chExt cx="12192000" cy="8039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249"/>
              <a:ext cx="12192000" cy="8037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-2" y="23275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999" y="714891"/>
                  </a:moveTo>
                  <a:lnTo>
                    <a:pt x="0" y="714891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14891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81189" y="187982"/>
            <a:ext cx="52812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65" dirty="0"/>
              <a:t>BAtch</a:t>
            </a:r>
            <a:r>
              <a:rPr cap="small" spc="5" dirty="0"/>
              <a:t> </a:t>
            </a:r>
            <a:r>
              <a:rPr cap="small" spc="-190" dirty="0"/>
              <a:t>no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774067" y="6629793"/>
            <a:ext cx="3891278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47577" y="6629311"/>
            <a:ext cx="405382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87764" y="989988"/>
            <a:ext cx="10304036" cy="518603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Alumni Connect and Management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web-based application designed to connect alumni, students, faculty, and administrators.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platform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store, manage, and update alumni and student information securely.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chose this project because many institutions still use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or outdated alumni management methods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lack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interaction and structured data management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addresses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institutional problem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provides a practical solution.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offers hands-on experience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development, database management, and system design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practical relevance, future scope, and academic value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the best choice among available projects.</a:t>
            </a:r>
          </a:p>
          <a:p>
            <a:pPr marL="184150" indent="-171450">
              <a:lnSpc>
                <a:spcPct val="100000"/>
              </a:lnSpc>
              <a:spcBef>
                <a:spcPts val="760"/>
              </a:spcBef>
              <a:buFont typeface="Arial" panose="020B0604020202020204" pitchFamily="34" charset="0"/>
              <a:buChar char="•"/>
              <a:tabLst>
                <a:tab pos="454025" algn="l"/>
              </a:tabLst>
            </a:pPr>
            <a:endParaRPr lang="en-US"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58975" y="-9985"/>
            <a:ext cx="5221750" cy="4873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ALUMNI CONNECT &amp; MANAGEMENT SYSTEM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25416"/>
            <a:ext cx="12192000" cy="803910"/>
            <a:chOff x="-2" y="216249"/>
            <a:chExt cx="12192000" cy="8039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249"/>
              <a:ext cx="12192000" cy="8037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-2" y="23275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999" y="714891"/>
                  </a:moveTo>
                  <a:lnTo>
                    <a:pt x="0" y="714891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14891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1078" y="160487"/>
            <a:ext cx="52812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40" dirty="0"/>
              <a:t> </a:t>
            </a:r>
            <a:r>
              <a:rPr spc="-10" dirty="0"/>
              <a:t>Requirements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65" dirty="0"/>
              <a:t>BAtch</a:t>
            </a:r>
            <a:r>
              <a:rPr cap="small" spc="5" dirty="0"/>
              <a:t> </a:t>
            </a:r>
            <a:r>
              <a:rPr cap="small" spc="-190" dirty="0"/>
              <a:t>no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774067" y="6629793"/>
            <a:ext cx="381830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47577" y="6629311"/>
            <a:ext cx="420622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AE6B67C5-58CB-9600-5C15-6A84D5BB2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459" y="1720840"/>
            <a:ext cx="556434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JavaScript, React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 (Django /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PostgreSQL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VS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Windows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98770" y="-34288"/>
            <a:ext cx="5281294" cy="4873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ALUMNI CONNECT &amp; MANAGEMENT SYSTEM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24245" y="190722"/>
            <a:ext cx="12192000" cy="803910"/>
            <a:chOff x="-2" y="216249"/>
            <a:chExt cx="12192000" cy="8039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249"/>
              <a:ext cx="12192000" cy="8037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-2" y="23275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999" y="714891"/>
                  </a:moveTo>
                  <a:lnTo>
                    <a:pt x="0" y="714891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14891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1078" y="190723"/>
            <a:ext cx="52812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Datasets/Modules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65" dirty="0"/>
              <a:t>BAtch</a:t>
            </a:r>
            <a:r>
              <a:rPr cap="small" spc="5" dirty="0"/>
              <a:t> </a:t>
            </a:r>
            <a:r>
              <a:rPr cap="small" spc="-190" dirty="0"/>
              <a:t>no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774067" y="6629793"/>
            <a:ext cx="381830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47577" y="6629311"/>
            <a:ext cx="405382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457200" y="1676400"/>
            <a:ext cx="9525000" cy="40882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Module: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Profile creation, skill entry, mentor requests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Alumni Module: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Career updates, mentoring, job postings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Module: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Monitoring interactions and feedback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management, reports, system control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Skill Matching Module: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Matches students with relevant alumni mentors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454025" algn="l"/>
              </a:tabLst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92739" y="-19152"/>
            <a:ext cx="5242657" cy="4873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ALUMNI CONNECT &amp; MANAGEMENT SYSTEM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2" y="216249"/>
            <a:ext cx="12192000" cy="803910"/>
            <a:chOff x="-2" y="216249"/>
            <a:chExt cx="12192000" cy="8039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249"/>
              <a:ext cx="12192000" cy="8037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-2" y="23275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999" y="714891"/>
                  </a:moveTo>
                  <a:lnTo>
                    <a:pt x="0" y="714891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14891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7764" y="147918"/>
            <a:ext cx="52812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UML DIAGRAMS</a:t>
            </a: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65" dirty="0"/>
              <a:t>BAtch</a:t>
            </a:r>
            <a:r>
              <a:rPr cap="small" spc="5" dirty="0"/>
              <a:t> </a:t>
            </a:r>
            <a:r>
              <a:rPr cap="small" spc="-190" dirty="0"/>
              <a:t>no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774066" y="6629793"/>
            <a:ext cx="424573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47577" y="6629310"/>
            <a:ext cx="413002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4DF1F55-125A-6BB5-F46B-05F0AC1D5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89" y="1407777"/>
            <a:ext cx="5420659" cy="44814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FAF432-B48E-AE13-6DBE-83ACB00BE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5448" y="1255443"/>
            <a:ext cx="6019897" cy="47643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4DA5A-5AD9-7BDB-19A7-65C311188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0ABAB0D-6B9C-8CA4-39C2-B467D05D5C80}"/>
              </a:ext>
            </a:extLst>
          </p:cNvPr>
          <p:cNvSpPr txBox="1"/>
          <p:nvPr/>
        </p:nvSpPr>
        <p:spPr>
          <a:xfrm>
            <a:off x="3492739" y="-19152"/>
            <a:ext cx="5242657" cy="4873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ALUMNI CONNECT &amp; MANAGEMENT SYSTEM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A62C9EB-2462-66F0-C663-F10206FBEBCE}"/>
              </a:ext>
            </a:extLst>
          </p:cNvPr>
          <p:cNvGrpSpPr/>
          <p:nvPr/>
        </p:nvGrpSpPr>
        <p:grpSpPr>
          <a:xfrm>
            <a:off x="-2" y="216249"/>
            <a:ext cx="12192002" cy="803792"/>
            <a:chOff x="-2" y="216249"/>
            <a:chExt cx="12192002" cy="80379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88CFAB1-B338-A5A3-B265-4A8103964F6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249"/>
              <a:ext cx="12192000" cy="80379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65F9609-0726-2979-9D6A-BE359D90F065}"/>
                </a:ext>
              </a:extLst>
            </p:cNvPr>
            <p:cNvSpPr/>
            <p:nvPr/>
          </p:nvSpPr>
          <p:spPr>
            <a:xfrm>
              <a:off x="-2" y="23275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999" y="714891"/>
                  </a:moveTo>
                  <a:lnTo>
                    <a:pt x="0" y="714891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14891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E781B0D-5CE2-EC51-E330-DDBAA062D4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7764" y="147918"/>
            <a:ext cx="52812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UML DIAGRAMS</a:t>
            </a:r>
            <a:endParaRPr spc="-10"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915BAA3-2C21-2A66-55D3-8B6B20F28B8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65" dirty="0"/>
              <a:t>BAtch</a:t>
            </a:r>
            <a:r>
              <a:rPr cap="small" spc="5" dirty="0"/>
              <a:t> </a:t>
            </a:r>
            <a:r>
              <a:rPr cap="small" spc="-190" dirty="0"/>
              <a:t>no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1A7AEBF-F838-0B12-A87C-A6D3FBE5A595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774066" y="6629793"/>
            <a:ext cx="424573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022D4284-2C87-2894-2238-4E96AC4A0FB9}"/>
              </a:ext>
            </a:extLst>
          </p:cNvPr>
          <p:cNvSpPr txBox="1"/>
          <p:nvPr/>
        </p:nvSpPr>
        <p:spPr>
          <a:xfrm>
            <a:off x="7147577" y="6629310"/>
            <a:ext cx="413002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B48AF7C7-7C4C-EE34-0092-96520ABAE7C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B788D-DB73-8262-5425-0A71E6D6457A}"/>
              </a:ext>
            </a:extLst>
          </p:cNvPr>
          <p:cNvSpPr txBox="1"/>
          <p:nvPr/>
        </p:nvSpPr>
        <p:spPr>
          <a:xfrm>
            <a:off x="287764" y="1239352"/>
            <a:ext cx="612384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registers or logs into the system using secure authentication.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creates or updates the personal profile with skills, interests, and career goals.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requests mentorship through the AI-based Skill Matching Module.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analyzes student data and matches the student with suitable alumni mentors.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displays recommended alumni profiles and sends mentorship notifications.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interacts with alumni and submits feedback after receiving guidance.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ADA9554-9796-F7E7-3339-9E427FFAA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255442"/>
            <a:ext cx="529010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767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7FA16-2DAE-B549-DA22-9B33C35C7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E26A197-947F-5E13-AEBB-D8FA7B651DBE}"/>
              </a:ext>
            </a:extLst>
          </p:cNvPr>
          <p:cNvSpPr txBox="1"/>
          <p:nvPr/>
        </p:nvSpPr>
        <p:spPr>
          <a:xfrm>
            <a:off x="3492739" y="-19152"/>
            <a:ext cx="5242657" cy="4873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ALUMNI CONNECT &amp; MANAGEMENT SYSTEM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F72E319-D548-9F97-5289-0F0C3ECAFC5A}"/>
              </a:ext>
            </a:extLst>
          </p:cNvPr>
          <p:cNvGrpSpPr/>
          <p:nvPr/>
        </p:nvGrpSpPr>
        <p:grpSpPr>
          <a:xfrm>
            <a:off x="-2" y="216249"/>
            <a:ext cx="12192002" cy="803792"/>
            <a:chOff x="-2" y="216249"/>
            <a:chExt cx="12192002" cy="80379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D19C06A-4466-C267-A483-4B2F1505B99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249"/>
              <a:ext cx="12192000" cy="80379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8C01D1C-CC11-4C17-11EA-327E90FB4171}"/>
                </a:ext>
              </a:extLst>
            </p:cNvPr>
            <p:cNvSpPr/>
            <p:nvPr/>
          </p:nvSpPr>
          <p:spPr>
            <a:xfrm>
              <a:off x="-2" y="23275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999" y="714891"/>
                  </a:moveTo>
                  <a:lnTo>
                    <a:pt x="0" y="714891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14891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1BB5EAE-F2F4-0C57-4BA3-3698137FC4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7764" y="147918"/>
            <a:ext cx="52812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UML DIAGRAMS</a:t>
            </a:r>
            <a:endParaRPr spc="-10"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7806704-4D37-6D78-87F7-5929C62F70B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65" dirty="0"/>
              <a:t>BAtch</a:t>
            </a:r>
            <a:r>
              <a:rPr cap="small" spc="5" dirty="0"/>
              <a:t> </a:t>
            </a:r>
            <a:r>
              <a:rPr cap="small" spc="-190" dirty="0"/>
              <a:t>no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0931FAC-909E-2321-EF21-FA0491DB70D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774066" y="6629793"/>
            <a:ext cx="424573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F11312B-C2E2-A32D-9CBA-3260EE9B6909}"/>
              </a:ext>
            </a:extLst>
          </p:cNvPr>
          <p:cNvSpPr txBox="1"/>
          <p:nvPr/>
        </p:nvSpPr>
        <p:spPr>
          <a:xfrm>
            <a:off x="7147577" y="6629310"/>
            <a:ext cx="413002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6E2DC08A-1476-1655-14A8-7C6389FB387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0D26EF-E728-A687-45E8-E50378DEF477}"/>
              </a:ext>
            </a:extLst>
          </p:cNvPr>
          <p:cNvSpPr txBox="1"/>
          <p:nvPr/>
        </p:nvSpPr>
        <p:spPr>
          <a:xfrm>
            <a:off x="287765" y="1239352"/>
            <a:ext cx="58844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952DF16-9BF2-7C8B-8BE5-2A573E6CD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256" y="1672202"/>
            <a:ext cx="5691086" cy="3881820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C66C9A94-5648-5856-F741-00282D649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1" y="1329279"/>
            <a:ext cx="6857999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Alumni actor enters login credentials, and the system validates them before granting access.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Alumni can update their career information, which is processed and stored by the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displays mentorship requests to the alumni, who can then accept or reject them.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Alumni can view student profiles, enabling them to provide guidance and feedback.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Alumni mentor students and share resources, contributing to student development.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provided by alumni is stored in the system, and records are updated for future reference.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394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68346-9941-F697-CFAD-887238897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BDC14D7-7D80-0FAF-1A43-450E0E8A7F9F}"/>
              </a:ext>
            </a:extLst>
          </p:cNvPr>
          <p:cNvSpPr txBox="1"/>
          <p:nvPr/>
        </p:nvSpPr>
        <p:spPr>
          <a:xfrm>
            <a:off x="3492739" y="-19152"/>
            <a:ext cx="5242657" cy="4873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ALUMNI CONNECT &amp; MANAGEMENT SYSTEM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949A398-9387-CF22-06E6-F55C14354C21}"/>
              </a:ext>
            </a:extLst>
          </p:cNvPr>
          <p:cNvGrpSpPr/>
          <p:nvPr/>
        </p:nvGrpSpPr>
        <p:grpSpPr>
          <a:xfrm>
            <a:off x="-2" y="216249"/>
            <a:ext cx="12192002" cy="803792"/>
            <a:chOff x="-2" y="216249"/>
            <a:chExt cx="12192002" cy="80379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DA92A9A-C9DA-D410-FFCF-18533D20044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249"/>
              <a:ext cx="12192000" cy="80379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3722914-1FF6-8548-A1D0-5B0EBA75F3B6}"/>
                </a:ext>
              </a:extLst>
            </p:cNvPr>
            <p:cNvSpPr/>
            <p:nvPr/>
          </p:nvSpPr>
          <p:spPr>
            <a:xfrm>
              <a:off x="-2" y="23275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999" y="714891"/>
                  </a:moveTo>
                  <a:lnTo>
                    <a:pt x="0" y="714891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14891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70FFED5-8897-2C2C-43CC-DCC9955BDC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7764" y="147918"/>
            <a:ext cx="52812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CODE SNIPPETS</a:t>
            </a:r>
            <a:endParaRPr spc="-10"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3667B79-F489-BFB5-C33A-6868AB81A4A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65" dirty="0"/>
              <a:t>BAtch</a:t>
            </a:r>
            <a:r>
              <a:rPr cap="small" spc="5" dirty="0"/>
              <a:t> </a:t>
            </a:r>
            <a:r>
              <a:rPr cap="small" spc="-190" dirty="0"/>
              <a:t>no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0F3C780-42A3-44C6-4784-2D5EEB8DE931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774066" y="6629793"/>
            <a:ext cx="424573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FE5D92A-C1B2-A2C9-489E-505E4F6DC84A}"/>
              </a:ext>
            </a:extLst>
          </p:cNvPr>
          <p:cNvSpPr txBox="1"/>
          <p:nvPr/>
        </p:nvSpPr>
        <p:spPr>
          <a:xfrm>
            <a:off x="7147577" y="6629310"/>
            <a:ext cx="413002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94F267A-FD59-3E6A-92F7-AC69A46A714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A2DA1B-BD78-7B0D-5A82-4434C0B75674}"/>
              </a:ext>
            </a:extLst>
          </p:cNvPr>
          <p:cNvSpPr txBox="1"/>
          <p:nvPr/>
        </p:nvSpPr>
        <p:spPr>
          <a:xfrm>
            <a:off x="287765" y="1239352"/>
            <a:ext cx="58844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17B9B4F-9575-DB9B-1CC5-17A7363B6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78" y="1010948"/>
            <a:ext cx="5229010" cy="272090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9298C3C-F069-8411-9E65-D812DEEE6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717" y="1024272"/>
            <a:ext cx="4874668" cy="26333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E577679-F3F9-49CF-9987-DCEC41D8B4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69" y="3772170"/>
            <a:ext cx="5387870" cy="281721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791EFDB-10CC-EB8B-D8A0-A44873C1DD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8717" y="3731856"/>
            <a:ext cx="4874667" cy="281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056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12256" y="-28175"/>
            <a:ext cx="5221750" cy="4873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ALUMNI CONNECT &amp; MANAGEMENT SYSTEM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1" y="207226"/>
            <a:ext cx="12192000" cy="803910"/>
            <a:chOff x="-2" y="216249"/>
            <a:chExt cx="12192000" cy="8039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16249"/>
              <a:ext cx="12192000" cy="8037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-2" y="23275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999" y="714891"/>
                  </a:moveTo>
                  <a:lnTo>
                    <a:pt x="0" y="714891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14891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51009" y="160487"/>
            <a:ext cx="52812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Outputs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65" dirty="0"/>
              <a:t>BAtch</a:t>
            </a:r>
            <a:r>
              <a:rPr cap="small" spc="5" dirty="0"/>
              <a:t> </a:t>
            </a:r>
            <a:r>
              <a:rPr cap="small" spc="-190" dirty="0"/>
              <a:t>no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774066" y="6629793"/>
            <a:ext cx="432193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47577" y="6629400"/>
            <a:ext cx="432193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7FD3AC6-8A5D-D4AB-9101-F20254AAE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072003"/>
            <a:ext cx="4916159" cy="282355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B748DCA-89BA-721A-37BB-1FE667D3DE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7206" y="1090982"/>
            <a:ext cx="5532304" cy="46760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7D75D88-98B0-D0AF-4570-2CFACFA27C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490" y="4038600"/>
            <a:ext cx="4419600" cy="251887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128B2-FCED-0E00-16EB-08442F060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5D3DBBE-4D5E-D469-FBC0-A3E4794F5255}"/>
              </a:ext>
            </a:extLst>
          </p:cNvPr>
          <p:cNvSpPr txBox="1"/>
          <p:nvPr/>
        </p:nvSpPr>
        <p:spPr>
          <a:xfrm>
            <a:off x="3212256" y="-28175"/>
            <a:ext cx="5221750" cy="4873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ALUMNI CONNECT &amp; MANAGEMENT SYSTEM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6DBE337-E387-C083-D1A7-EB3E0D65A200}"/>
              </a:ext>
            </a:extLst>
          </p:cNvPr>
          <p:cNvGrpSpPr/>
          <p:nvPr/>
        </p:nvGrpSpPr>
        <p:grpSpPr>
          <a:xfrm>
            <a:off x="-1" y="207226"/>
            <a:ext cx="12192000" cy="803910"/>
            <a:chOff x="-2" y="216249"/>
            <a:chExt cx="12192000" cy="80391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555B387-A0E9-0C5F-72D5-CBCC7B1DCA5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16249"/>
              <a:ext cx="12192000" cy="80379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23C5BB2-1A61-AF5C-E245-6E4D3B765BD7}"/>
                </a:ext>
              </a:extLst>
            </p:cNvPr>
            <p:cNvSpPr/>
            <p:nvPr/>
          </p:nvSpPr>
          <p:spPr>
            <a:xfrm>
              <a:off x="-2" y="23275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999" y="714891"/>
                  </a:moveTo>
                  <a:lnTo>
                    <a:pt x="0" y="714891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14891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060AD29-1905-F56A-3262-9D927E9B2F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1009" y="160487"/>
            <a:ext cx="52812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Outputs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27AFC9B-243B-64B1-A928-6A47BFBDA59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65" dirty="0"/>
              <a:t>BAtch</a:t>
            </a:r>
            <a:r>
              <a:rPr cap="small" spc="5" dirty="0"/>
              <a:t> </a:t>
            </a:r>
            <a:r>
              <a:rPr cap="small" spc="-190" dirty="0"/>
              <a:t>no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B495AE08-A983-4484-6688-421FD21FA45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774066" y="6629793"/>
            <a:ext cx="432193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A60C1FB-AB03-DEF3-7D48-AAE4BB1C2570}"/>
              </a:ext>
            </a:extLst>
          </p:cNvPr>
          <p:cNvSpPr txBox="1"/>
          <p:nvPr/>
        </p:nvSpPr>
        <p:spPr>
          <a:xfrm>
            <a:off x="7147577" y="6629400"/>
            <a:ext cx="432193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E56847C-2FE6-2C9E-0933-AC6D49F2661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D5A428-85B5-6B3D-25CC-61CFCD384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189" y="955256"/>
            <a:ext cx="4747941" cy="34682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F63C36-18C0-45BD-7E48-CA2BA29D89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7023" y="1091848"/>
            <a:ext cx="7010400" cy="48920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C7749A0-18B6-EEB4-540C-5106F2F900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77" y="4504358"/>
            <a:ext cx="5077021" cy="193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29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4D505-3460-DB23-813D-FE6411DD7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35DED18-78C2-867D-BB93-B16A85B006E4}"/>
              </a:ext>
            </a:extLst>
          </p:cNvPr>
          <p:cNvSpPr txBox="1"/>
          <p:nvPr/>
        </p:nvSpPr>
        <p:spPr>
          <a:xfrm>
            <a:off x="3212256" y="-28175"/>
            <a:ext cx="5221750" cy="4873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ALUMNI CONNECT &amp; MANAGEMENT SYSTEM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489586F-4A17-0D27-A999-01A6F835C983}"/>
              </a:ext>
            </a:extLst>
          </p:cNvPr>
          <p:cNvGrpSpPr/>
          <p:nvPr/>
        </p:nvGrpSpPr>
        <p:grpSpPr>
          <a:xfrm>
            <a:off x="-1" y="207226"/>
            <a:ext cx="12192000" cy="803910"/>
            <a:chOff x="-2" y="216249"/>
            <a:chExt cx="12192000" cy="80391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A489C2F-D51B-5454-8754-ABF35766F2C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16249"/>
              <a:ext cx="12192000" cy="80379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AD6FC3A-AC08-BEEB-20D5-EE34D09DAFF0}"/>
                </a:ext>
              </a:extLst>
            </p:cNvPr>
            <p:cNvSpPr/>
            <p:nvPr/>
          </p:nvSpPr>
          <p:spPr>
            <a:xfrm>
              <a:off x="-2" y="23275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999" y="714891"/>
                  </a:moveTo>
                  <a:lnTo>
                    <a:pt x="0" y="714891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14891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887990A-BA44-3572-6718-61C2C8F47B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1009" y="160487"/>
            <a:ext cx="52812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Outputs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45CB9D0-99C7-1FEE-DBA2-21AA53B2F31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65" dirty="0"/>
              <a:t>BAtch</a:t>
            </a:r>
            <a:r>
              <a:rPr cap="small" spc="5" dirty="0"/>
              <a:t> </a:t>
            </a:r>
            <a:r>
              <a:rPr cap="small" spc="-190" dirty="0"/>
              <a:t>no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FDE84DB2-3266-0D99-F67F-B818F1B5AAE7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774066" y="6629793"/>
            <a:ext cx="432193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1B633E2-C872-4FBD-EBF3-D24AD0A9F2A1}"/>
              </a:ext>
            </a:extLst>
          </p:cNvPr>
          <p:cNvSpPr txBox="1"/>
          <p:nvPr/>
        </p:nvSpPr>
        <p:spPr>
          <a:xfrm>
            <a:off x="7147577" y="6629400"/>
            <a:ext cx="432193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227AAE72-4187-79EC-7467-1B66FF1E49E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023AA25-581C-F653-A957-8D796F9DD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56" y="1045109"/>
            <a:ext cx="5714999" cy="53345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6450EC4-2103-CA56-3452-B92770E582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6188" y="964221"/>
            <a:ext cx="6172200" cy="539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114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55350" y="-27408"/>
            <a:ext cx="5281295" cy="4873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ALUMNI CONNECT &amp; MANAGEMENT SYSTEM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2" y="216249"/>
            <a:ext cx="12192000" cy="803910"/>
            <a:chOff x="-2" y="216249"/>
            <a:chExt cx="12192000" cy="8039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249"/>
              <a:ext cx="12192000" cy="8037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-2" y="23275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999" y="714891"/>
                  </a:moveTo>
                  <a:lnTo>
                    <a:pt x="0" y="714891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14891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3115" y="160487"/>
            <a:ext cx="52812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65" dirty="0"/>
              <a:t>BAtch</a:t>
            </a:r>
            <a:r>
              <a:rPr cap="small" spc="5" dirty="0"/>
              <a:t> </a:t>
            </a:r>
            <a:r>
              <a:rPr cap="small" spc="-190" dirty="0"/>
              <a:t>no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47577" y="6629310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87764" y="989989"/>
            <a:ext cx="11066036" cy="5801588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College Alumni Connect and Management System provides a centralized and efficient platform for managing alumni and institutional interactions.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system improves communication, mentoring, and career guidance between alumni and students.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AI-based skill matching module enhances mentor identification and student support.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project reduces manual effort, improves data accuracy, and ensures secure system operation.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Future enhancements include mobile application development, advanced AI analytics, job portals, event management, and real-time notifications.</a:t>
            </a:r>
          </a:p>
          <a:p>
            <a:pPr marL="469900" indent="-457200">
              <a:lnSpc>
                <a:spcPct val="100000"/>
              </a:lnSpc>
              <a:spcBef>
                <a:spcPts val="760"/>
              </a:spcBef>
              <a:buFont typeface="Arial" panose="020B0604020202020204" pitchFamily="34" charset="0"/>
              <a:buChar char="•"/>
              <a:tabLst>
                <a:tab pos="454025" algn="l"/>
              </a:tabLst>
            </a:pP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5947" y="-27408"/>
            <a:ext cx="5281294" cy="4873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ALUMNI CONNECT &amp; MANAGEMENT SYSTEM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2" y="216249"/>
            <a:ext cx="12192000" cy="803910"/>
            <a:chOff x="-2" y="216249"/>
            <a:chExt cx="12192000" cy="8039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16249"/>
              <a:ext cx="12192000" cy="8037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-2" y="23275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999" y="714891"/>
                  </a:moveTo>
                  <a:lnTo>
                    <a:pt x="0" y="714891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14891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81189" y="138141"/>
            <a:ext cx="52812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65" dirty="0"/>
              <a:t>BAtch</a:t>
            </a:r>
            <a:r>
              <a:rPr cap="small" spc="5" dirty="0"/>
              <a:t> </a:t>
            </a:r>
            <a:r>
              <a:rPr cap="small" spc="-190" dirty="0"/>
              <a:t>no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774066" y="6629792"/>
            <a:ext cx="394093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47577" y="6629311"/>
            <a:ext cx="428242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472CCC-534F-FC1B-2576-F0DCB67556CF}"/>
              </a:ext>
            </a:extLst>
          </p:cNvPr>
          <p:cNvSpPr txBox="1"/>
          <p:nvPr/>
        </p:nvSpPr>
        <p:spPr>
          <a:xfrm>
            <a:off x="485878" y="1360154"/>
            <a:ext cx="1094412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R. Pressman,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McGraw-Hill, 2014.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Article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K. G. Jagtap et al., “Alumni Connect: Bridging Past and Present,”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IJRPR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L. L.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Occiano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“Web-based Alumni Management System,”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IJRES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Newspaper Article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“Digital alumni platforms in universities,”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Hindu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Report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Software Engineering Practices for Web Systems, Technical Report, 2022.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68332" y="-10391"/>
            <a:ext cx="5297950" cy="4873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ALUMNI CONNECT &amp; MANAGEMENT SYSTEM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2" y="216249"/>
            <a:ext cx="12192000" cy="803910"/>
            <a:chOff x="-2" y="216249"/>
            <a:chExt cx="12192000" cy="8039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249"/>
              <a:ext cx="12192000" cy="8037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-2" y="23275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999" y="714891"/>
                  </a:moveTo>
                  <a:lnTo>
                    <a:pt x="0" y="714891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14891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821044" y="2113178"/>
            <a:ext cx="8589645" cy="197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800" i="1" dirty="0">
                <a:solidFill>
                  <a:srgbClr val="F68F06"/>
                </a:solidFill>
                <a:latin typeface="Verdana"/>
                <a:cs typeface="Verdana"/>
              </a:rPr>
              <a:t>Thank</a:t>
            </a:r>
            <a:r>
              <a:rPr sz="12800" i="1" spc="-80" dirty="0">
                <a:solidFill>
                  <a:srgbClr val="F68F06"/>
                </a:solidFill>
                <a:latin typeface="Verdana"/>
                <a:cs typeface="Verdana"/>
              </a:rPr>
              <a:t> </a:t>
            </a:r>
            <a:r>
              <a:rPr sz="12800" i="1" spc="-25" dirty="0">
                <a:solidFill>
                  <a:srgbClr val="F68F06"/>
                </a:solidFill>
                <a:latin typeface="Verdana"/>
                <a:cs typeface="Verdana"/>
              </a:rPr>
              <a:t>You</a:t>
            </a:r>
            <a:endParaRPr sz="128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65" dirty="0"/>
              <a:t>BAtch</a:t>
            </a:r>
            <a:r>
              <a:rPr cap="small" spc="5" dirty="0"/>
              <a:t> </a:t>
            </a:r>
            <a:r>
              <a:rPr cap="small" spc="-190" dirty="0"/>
              <a:t>no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1774066" y="6629793"/>
            <a:ext cx="378853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47577" y="6629311"/>
            <a:ext cx="428242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03450" y="-18240"/>
            <a:ext cx="3848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Title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2" y="216249"/>
            <a:ext cx="12192000" cy="803910"/>
            <a:chOff x="-2" y="216249"/>
            <a:chExt cx="12192000" cy="8039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249"/>
              <a:ext cx="12192000" cy="8037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-2" y="23275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999" y="714891"/>
                  </a:moveTo>
                  <a:lnTo>
                    <a:pt x="0" y="714891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14891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58304" y="2113178"/>
            <a:ext cx="9911715" cy="197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800" i="1" dirty="0">
                <a:solidFill>
                  <a:srgbClr val="F68F06"/>
                </a:solidFill>
                <a:latin typeface="Verdana"/>
                <a:cs typeface="Verdana"/>
              </a:rPr>
              <a:t>Any</a:t>
            </a:r>
            <a:r>
              <a:rPr sz="12800" i="1" spc="-50" dirty="0">
                <a:solidFill>
                  <a:srgbClr val="F68F06"/>
                </a:solidFill>
                <a:latin typeface="Verdana"/>
                <a:cs typeface="Verdana"/>
              </a:rPr>
              <a:t> </a:t>
            </a:r>
            <a:r>
              <a:rPr sz="12800" i="1" spc="-10" dirty="0">
                <a:solidFill>
                  <a:srgbClr val="F68F06"/>
                </a:solidFill>
                <a:latin typeface="Verdana"/>
                <a:cs typeface="Verdana"/>
              </a:rPr>
              <a:t>Queries</a:t>
            </a:r>
            <a:endParaRPr sz="128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65" dirty="0"/>
              <a:t>BAtch</a:t>
            </a:r>
            <a:r>
              <a:rPr cap="small" spc="5" dirty="0"/>
              <a:t> </a:t>
            </a:r>
            <a:r>
              <a:rPr cap="small" spc="-190" dirty="0"/>
              <a:t>no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47577" y="6629310"/>
            <a:ext cx="3891279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2824</TotalTime>
  <Words>1188</Words>
  <Application>Microsoft Office PowerPoint</Application>
  <PresentationFormat>Widescreen</PresentationFormat>
  <Paragraphs>210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Times New Roman</vt:lpstr>
      <vt:lpstr>Verdana</vt:lpstr>
      <vt:lpstr>Office Theme</vt:lpstr>
      <vt:lpstr>COLLEGE ALUMNI CONNECT &amp; MANAGEMENT SYSTEM </vt:lpstr>
      <vt:lpstr>Title Explaination</vt:lpstr>
      <vt:lpstr>Contents</vt:lpstr>
      <vt:lpstr>Abstract</vt:lpstr>
      <vt:lpstr>Introduction</vt:lpstr>
      <vt:lpstr>Software Requirements</vt:lpstr>
      <vt:lpstr>Datasets/Modules</vt:lpstr>
      <vt:lpstr>UML DIAGRAMS</vt:lpstr>
      <vt:lpstr>UML DIAGRAMS</vt:lpstr>
      <vt:lpstr>UML DIAGRAMS</vt:lpstr>
      <vt:lpstr>CODE SNIPPETS</vt:lpstr>
      <vt:lpstr>Outputs</vt:lpstr>
      <vt:lpstr>Outputs</vt:lpstr>
      <vt:lpstr>Outputs</vt:lpstr>
      <vt:lpstr>Conclusion</vt:lpstr>
      <vt:lpstr>References</vt:lpstr>
      <vt:lpstr>Thank You</vt:lpstr>
      <vt:lpstr>Any Queries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Rajaka Lalitha</cp:lastModifiedBy>
  <cp:revision>8</cp:revision>
  <dcterms:created xsi:type="dcterms:W3CDTF">2026-01-27T16:27:53Z</dcterms:created>
  <dcterms:modified xsi:type="dcterms:W3CDTF">2026-02-12T02:56:22Z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2026-01-27T00:00:00Z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2026-01-27T00:00:00Z</vt:filetime>
  </property>
</Properties>
</file>